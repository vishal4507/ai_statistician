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one-line question. Keep this short — the problem statement on the next slide does the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State the problem in one breath: fluent, correct arithmetic, often invalid. Then the three consequences. The key phrase is 'the data itself does not contain' — design facts live outside the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it as a story. The table looks perfect. Two standard methods fit. Both are invalid because of how the data was collected. The design card is how the system learns the fact the file cannot tell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H1 compares C against B, not against A. B has the same tools and the same output format as C, so B is the honest control — if C wins against B, it is the procedure that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no-code-execution decision is the one a professor may probe. The answer: a general tool would let the model skip the method policy, and then the three arms would not be doing comparable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do you know the comparison is fair?' before it is asked. All three import the same four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ordering. B can run all the same checks as C — nothing stops it. What it lacks is the requirement to validate the design first and the permission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objection: 'if fabrication is impossible, then 100% fidelity is not a result.' Agree — say it is a design property, and that the rejection rate is the empirical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the answer key avoids being opinion: 48 of 64 labels are derived from the generator and the realised sample, not judged by a person. The public-data audit found and fixed one mislabel.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per-case majority: McNemar assumes independent pairs, and two runs of the same case are not two cases. Counting both would inflate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numbers — 75, 67, 89 — then point at B. The version with tools and no procedure is the lowest of the three. That is the most surprising line 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and filled means significant; dashed and hollow means not. Read the second row aloud and say you report it as unresolved. Volunteering this is what makes the first row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safety result. B answering every hazard case means B fitted a real method to data whose design rules it out,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B scores 100% here: it has tools and uses them, so its numbers are real. Its failure is choosing the wrong method, not inventing figures. The two metrics measure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failures: A 24, B 32, C 11. The point is the design-validation segment — B has 20, C has 4. That is the mechanism behind every other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C just refuses more: no. Lower coverage came with higher accuracy on what it did answer, which is the signature of declining the right cases rather than declining at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supported, one unresolved. Keep the unresolved row on the slide — a findings table with no caveat reads as a sales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was hardest, this is the answer. The system worked; the measurement had two silent defects that would each have produced a wrong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calmly and without apology. Each limit is known, bounded and disclosed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findings on the one-line conclusion. Pause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first item as the natural next experiment, not as a weakness: the current design already tells you exactly how much larger the sample needs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open the live site and show the Seoul bike case: System C declines while A and B both fit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i-statistician.netlify.app" TargetMode="External"/><Relationship Id="rId2" Type="http://schemas.openxmlformats.org/officeDocument/2006/relationships/hyperlink" Target="https://github.com/Vishal4507/AI_statistician"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371600"/>
            <a:ext cx="7315200" cy="274320"/>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CAPSTONE PROJECT</a:t>
            </a:r>
            <a:endParaRPr lang="en-US" sz="1100" dirty="0"/>
          </a:p>
        </p:txBody>
      </p:sp>
      <p:sp>
        <p:nvSpPr>
          <p:cNvPr id="3" name="Text 1"/>
          <p:cNvSpPr txBox="1"/>
          <p:nvPr/>
        </p:nvSpPr>
        <p:spPr>
          <a:xfrm>
            <a:off x="640080" y="1737360"/>
            <a:ext cx="1005840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AI Statistician</a:t>
            </a:r>
            <a:endParaRPr lang="en-US" sz="5000" dirty="0"/>
          </a:p>
        </p:txBody>
      </p:sp>
      <p:sp>
        <p:nvSpPr>
          <p:cNvPr id="4" name="Text 2"/>
          <p:cNvSpPr txBox="1"/>
          <p:nvPr/>
        </p:nvSpPr>
        <p:spPr>
          <a:xfrm>
            <a:off x="640080" y="2651760"/>
            <a:ext cx="10515600" cy="548640"/>
          </a:xfrm>
          <a:prstGeom prst="rect">
            <a:avLst/>
          </a:prstGeom>
          <a:noFill/>
          <a:ln/>
        </p:spPr>
        <p:txBody>
          <a:bodyPr wrap="square" lIns="0" tIns="0" rIns="0" bIns="0" rtlCol="0" anchor="ctr"/>
          <a:lstStyle/>
          <a:p>
            <a:pPr indent="0" marL="0">
              <a:buNone/>
            </a:pPr>
            <a:r>
              <a:rPr lang="en-US" sz="2400" dirty="0">
                <a:solidFill>
                  <a:srgbClr val="129B68"/>
                </a:solidFill>
                <a:latin typeface="Cambria" pitchFamily="34" charset="0"/>
                <a:ea typeface="Cambria" pitchFamily="34" charset="-122"/>
                <a:cs typeface="Cambria" pitchFamily="34" charset="-120"/>
              </a:rPr>
              <a:t>Design-aware method selection for LLM statistical analysis</a:t>
            </a:r>
            <a:endParaRPr lang="en-US" sz="2400" dirty="0"/>
          </a:p>
        </p:txBody>
      </p:sp>
      <p:sp>
        <p:nvSpPr>
          <p:cNvPr id="5" name="Text 3"/>
          <p:cNvSpPr txBox="1"/>
          <p:nvPr/>
        </p:nvSpPr>
        <p:spPr>
          <a:xfrm>
            <a:off x="640080" y="3429000"/>
            <a:ext cx="9326880" cy="731520"/>
          </a:xfrm>
          <a:prstGeom prst="rect">
            <a:avLst/>
          </a:prstGeom>
          <a:noFill/>
          <a:ln/>
        </p:spPr>
        <p:txBody>
          <a:bodyPr wrap="square" lIns="0" tIns="0" rIns="0" bIns="0" rtlCol="0" anchor="ctr"/>
          <a:lstStyle/>
          <a:p>
            <a:pPr indent="0" marL="0">
              <a:lnSpc>
                <a:spcPts val="2500"/>
              </a:lnSpc>
              <a:buNone/>
            </a:pPr>
            <a:r>
              <a:rPr lang="en-US" sz="1700" dirty="0">
                <a:solidFill>
                  <a:srgbClr val="CFE0F2"/>
                </a:solidFill>
                <a:latin typeface="Calibri" pitchFamily="34" charset="0"/>
                <a:ea typeface="Calibri" pitchFamily="34" charset="-122"/>
                <a:cs typeface="Calibri" pitchFamily="34" charset="-120"/>
              </a:rPr>
              <a:t>Does an explicit decision protocol make an LLM agent choose valid statistical methods more reliably than tool access alone?</a:t>
            </a:r>
            <a:endParaRPr lang="en-US" sz="1700" dirty="0"/>
          </a:p>
        </p:txBody>
      </p:sp>
      <p:sp>
        <p:nvSpPr>
          <p:cNvPr id="6" name="Shape 4"/>
          <p:cNvSpPr/>
          <p:nvPr/>
        </p:nvSpPr>
        <p:spPr>
          <a:xfrm>
            <a:off x="640080" y="4434840"/>
            <a:ext cx="457200" cy="457200"/>
          </a:xfrm>
          <a:prstGeom prst="ellipse">
            <a:avLst/>
          </a:prstGeom>
          <a:solidFill>
            <a:srgbClr val="2F6FD0"/>
          </a:solidFill>
          <a:ln w="12700">
            <a:solidFill>
              <a:srgbClr val="2F6FD0"/>
            </a:solidFill>
            <a:prstDash val="solid"/>
          </a:ln>
        </p:spPr>
      </p:sp>
      <p:sp>
        <p:nvSpPr>
          <p:cNvPr id="7" name="Text 5"/>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8" name="Shape 6"/>
          <p:cNvSpPr/>
          <p:nvPr/>
        </p:nvSpPr>
        <p:spPr>
          <a:xfrm>
            <a:off x="1243584" y="4434840"/>
            <a:ext cx="457200" cy="457200"/>
          </a:xfrm>
          <a:prstGeom prst="ellipse">
            <a:avLst/>
          </a:prstGeom>
          <a:solidFill>
            <a:srgbClr val="DD6027"/>
          </a:solidFill>
          <a:ln w="12700">
            <a:solidFill>
              <a:srgbClr val="DD6027"/>
            </a:solidFill>
            <a:prstDash val="solid"/>
          </a:ln>
        </p:spPr>
      </p:sp>
      <p:sp>
        <p:nvSpPr>
          <p:cNvPr id="9" name="Text 7"/>
          <p:cNvSpPr txBox="1"/>
          <p:nvPr/>
        </p:nvSpPr>
        <p:spPr>
          <a:xfrm>
            <a:off x="1243584"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0" name="Shape 8"/>
          <p:cNvSpPr/>
          <p:nvPr/>
        </p:nvSpPr>
        <p:spPr>
          <a:xfrm>
            <a:off x="1847088" y="4434840"/>
            <a:ext cx="457200" cy="457200"/>
          </a:xfrm>
          <a:prstGeom prst="ellipse">
            <a:avLst/>
          </a:prstGeom>
          <a:solidFill>
            <a:srgbClr val="129B68"/>
          </a:solidFill>
          <a:ln w="12700">
            <a:solidFill>
              <a:srgbClr val="129B68"/>
            </a:solidFill>
            <a:prstDash val="solid"/>
          </a:ln>
        </p:spPr>
      </p:sp>
      <p:sp>
        <p:nvSpPr>
          <p:cNvPr id="11" name="Text 9"/>
          <p:cNvSpPr txBox="1"/>
          <p:nvPr/>
        </p:nvSpPr>
        <p:spPr>
          <a:xfrm>
            <a:off x="1847088"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2" name="Text 10"/>
          <p:cNvSpPr txBox="1"/>
          <p:nvPr/>
        </p:nvSpPr>
        <p:spPr>
          <a:xfrm>
            <a:off x="640080" y="5669280"/>
            <a:ext cx="7315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Vishal Dhinesh Kumar</a:t>
            </a:r>
            <a:endParaRPr lang="en-US" sz="1500" dirty="0"/>
          </a:p>
        </p:txBody>
      </p:sp>
      <p:sp>
        <p:nvSpPr>
          <p:cNvPr id="13" name="Text 11"/>
          <p:cNvSpPr txBox="1"/>
          <p:nvPr/>
        </p:nvSpPr>
        <p:spPr>
          <a:xfrm>
            <a:off x="640080" y="5989320"/>
            <a:ext cx="7315200" cy="274320"/>
          </a:xfrm>
          <a:prstGeom prst="rect">
            <a:avLst/>
          </a:prstGeom>
          <a:noFill/>
          <a:ln/>
        </p:spPr>
        <p:txBody>
          <a:bodyPr wrap="square" lIns="0" tIns="0" rIns="0" bIns="0" rtlCol="0" anchor="ctr"/>
          <a:lstStyle/>
          <a:p>
            <a:pPr indent="0" marL="0">
              <a:buNone/>
            </a:pPr>
            <a:r>
              <a:rPr lang="en-US" sz="1250" dirty="0">
                <a:solidFill>
                  <a:srgbClr val="8496A6"/>
                </a:solidFill>
                <a:latin typeface="Calibri" pitchFamily="34" charset="0"/>
                <a:ea typeface="Calibri" pitchFamily="34" charset="-122"/>
                <a:cs typeface="Calibri" pitchFamily="34" charset="-120"/>
              </a:rPr>
              <a:t>SP Jain School of Global Management</a:t>
            </a:r>
            <a:endParaRPr lang="en-US" sz="1250" dirty="0"/>
          </a:p>
        </p:txBody>
      </p:sp>
      <p:sp>
        <p:nvSpPr>
          <p:cNvPr id="14" name="Text 12"/>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5697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WHY THIS PROJECT EXISTS</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640080" y="1572768"/>
            <a:ext cx="10881360" cy="1499616"/>
          </a:xfrm>
          <a:prstGeom prst="roundRect">
            <a:avLst>
              <a:gd name="adj" fmla="val 3659"/>
            </a:avLst>
          </a:prstGeom>
          <a:solidFill>
            <a:srgbClr val="14202B"/>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1051560" y="1755648"/>
            <a:ext cx="10058400" cy="1170432"/>
          </a:xfrm>
          <a:prstGeom prst="rect">
            <a:avLst/>
          </a:prstGeom>
          <a:noFill/>
          <a:ln/>
        </p:spPr>
        <p:txBody>
          <a:bodyPr wrap="square" lIns="0" tIns="0" rIns="0" bIns="0" rtlCol="0" anchor="ctr"/>
          <a:lstStyle/>
          <a:p>
            <a:pPr indent="0" marL="0">
              <a:lnSpc>
                <a:spcPts val="2800"/>
              </a:lnSpc>
              <a:buNone/>
            </a:pPr>
            <a:r>
              <a:rPr lang="en-US" sz="1900" dirty="0">
                <a:solidFill>
                  <a:srgbClr val="FFFFFF"/>
                </a:solidFill>
                <a:latin typeface="Cambria" pitchFamily="34" charset="0"/>
                <a:ea typeface="Cambria" pitchFamily="34" charset="-122"/>
                <a:cs typeface="Cambria" pitchFamily="34" charset="-120"/>
              </a:rPr>
              <a:t>Large language models produce statistical analyses that are fluent, arithmetically correct, and frequently invalid — because validity depends on facts about how the data was collected, which the data itself does not contain.</a:t>
            </a:r>
            <a:endParaRPr lang="en-US" sz="1900" dirty="0"/>
          </a:p>
        </p:txBody>
      </p:sp>
      <p:sp>
        <p:nvSpPr>
          <p:cNvPr id="6" name="Shape 4"/>
          <p:cNvSpPr/>
          <p:nvPr/>
        </p:nvSpPr>
        <p:spPr>
          <a:xfrm>
            <a:off x="640080" y="3200400"/>
            <a:ext cx="3474720" cy="2606040"/>
          </a:xfrm>
          <a:prstGeom prst="roundRect">
            <a:avLst>
              <a:gd name="adj" fmla="val 210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Shape 5"/>
          <p:cNvSpPr/>
          <p:nvPr/>
        </p:nvSpPr>
        <p:spPr>
          <a:xfrm>
            <a:off x="960120" y="3493008"/>
            <a:ext cx="201168" cy="201168"/>
          </a:xfrm>
          <a:prstGeom prst="ellipse">
            <a:avLst/>
          </a:prstGeom>
          <a:solidFill>
            <a:srgbClr val="2F6FD0"/>
          </a:solidFill>
          <a:ln w="12700">
            <a:solidFill>
              <a:srgbClr val="2F6FD0"/>
            </a:solidFill>
            <a:prstDash val="solid"/>
          </a:ln>
        </p:spPr>
      </p:sp>
      <p:sp>
        <p:nvSpPr>
          <p:cNvPr id="8" name="Text 6"/>
          <p:cNvSpPr txBox="1"/>
          <p:nvPr/>
        </p:nvSpPr>
        <p:spPr>
          <a:xfrm>
            <a:off x="1298448" y="3419856"/>
            <a:ext cx="2606040" cy="566928"/>
          </a:xfrm>
          <a:prstGeom prst="rect">
            <a:avLst/>
          </a:prstGeom>
          <a:noFill/>
          <a:ln/>
        </p:spPr>
        <p:txBody>
          <a:bodyPr wrap="square" lIns="0" tIns="0" rIns="0" bIns="0" rtlCol="0" anchor="ctr"/>
          <a:lstStyle/>
          <a:p>
            <a:pPr indent="0" marL="0">
              <a:lnSpc>
                <a:spcPts val="1900"/>
              </a:lnSpc>
              <a:buNone/>
            </a:pPr>
            <a:r>
              <a:rPr lang="en-US" sz="1500" b="1" dirty="0">
                <a:solidFill>
                  <a:srgbClr val="16222E"/>
                </a:solidFill>
                <a:latin typeface="Calibri" pitchFamily="34" charset="0"/>
                <a:ea typeface="Calibri" pitchFamily="34" charset="-122"/>
                <a:cs typeface="Calibri" pitchFamily="34" charset="-120"/>
              </a:rPr>
              <a:t>Invalid method, correct arithmetic</a:t>
            </a:r>
            <a:endParaRPr lang="en-US" sz="1500" dirty="0"/>
          </a:p>
        </p:txBody>
      </p:sp>
      <p:sp>
        <p:nvSpPr>
          <p:cNvPr id="9" name="Text 7"/>
          <p:cNvSpPr txBox="1"/>
          <p:nvPr/>
        </p:nvSpPr>
        <p:spPr>
          <a:xfrm>
            <a:off x="960120" y="4114800"/>
            <a:ext cx="2880360" cy="1554480"/>
          </a:xfrm>
          <a:prstGeom prst="rect">
            <a:avLst/>
          </a:prstGeom>
          <a:noFill/>
          <a:ln/>
        </p:spPr>
        <p:txBody>
          <a:bodyPr wrap="square" lIns="0" tIns="0" rIns="0" bIns="0" rtlCol="0" anchor="ctr"/>
          <a:lstStyle/>
          <a:p>
            <a:pPr indent="0" marL="0">
              <a:lnSpc>
                <a:spcPts val="1850"/>
              </a:lnSpc>
              <a:buNone/>
            </a:pPr>
            <a:r>
              <a:rPr lang="en-US" sz="1300" dirty="0">
                <a:solidFill>
                  <a:srgbClr val="4A5A69"/>
                </a:solidFill>
                <a:latin typeface="Calibri" pitchFamily="34" charset="0"/>
                <a:ea typeface="Calibri" pitchFamily="34" charset="-122"/>
                <a:cs typeface="Calibri" pitchFamily="34" charset="-120"/>
              </a:rPr>
              <a:t>Independence, pairing, temporal order and clustering are properties of the study design. A method that assumes them can be applied to data that violates them, and every number will still add up.</a:t>
            </a:r>
            <a:endParaRPr lang="en-US" sz="1300" dirty="0"/>
          </a:p>
        </p:txBody>
      </p:sp>
      <p:sp>
        <p:nvSpPr>
          <p:cNvPr id="10" name="Shape 8"/>
          <p:cNvSpPr/>
          <p:nvPr/>
        </p:nvSpPr>
        <p:spPr>
          <a:xfrm>
            <a:off x="4297680" y="3200400"/>
            <a:ext cx="3474720" cy="2606040"/>
          </a:xfrm>
          <a:prstGeom prst="roundRect">
            <a:avLst>
              <a:gd name="adj" fmla="val 210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Shape 9"/>
          <p:cNvSpPr/>
          <p:nvPr/>
        </p:nvSpPr>
        <p:spPr>
          <a:xfrm>
            <a:off x="4617720" y="3493008"/>
            <a:ext cx="201168" cy="201168"/>
          </a:xfrm>
          <a:prstGeom prst="ellipse">
            <a:avLst/>
          </a:prstGeom>
          <a:solidFill>
            <a:srgbClr val="DD6027"/>
          </a:solidFill>
          <a:ln w="12700">
            <a:solidFill>
              <a:srgbClr val="DD6027"/>
            </a:solidFill>
            <a:prstDash val="solid"/>
          </a:ln>
        </p:spPr>
      </p:sp>
      <p:sp>
        <p:nvSpPr>
          <p:cNvPr id="12" name="Text 10"/>
          <p:cNvSpPr txBox="1"/>
          <p:nvPr/>
        </p:nvSpPr>
        <p:spPr>
          <a:xfrm>
            <a:off x="4956048" y="3419856"/>
            <a:ext cx="2606040" cy="566928"/>
          </a:xfrm>
          <a:prstGeom prst="rect">
            <a:avLst/>
          </a:prstGeom>
          <a:noFill/>
          <a:ln/>
        </p:spPr>
        <p:txBody>
          <a:bodyPr wrap="square" lIns="0" tIns="0" rIns="0" bIns="0" rtlCol="0" anchor="ctr"/>
          <a:lstStyle/>
          <a:p>
            <a:pPr indent="0" marL="0">
              <a:lnSpc>
                <a:spcPts val="1900"/>
              </a:lnSpc>
              <a:buNone/>
            </a:pPr>
            <a:r>
              <a:rPr lang="en-US" sz="1500" b="1" dirty="0">
                <a:solidFill>
                  <a:srgbClr val="16222E"/>
                </a:solidFill>
                <a:latin typeface="Calibri" pitchFamily="34" charset="0"/>
                <a:ea typeface="Calibri" pitchFamily="34" charset="-122"/>
                <a:cs typeface="Calibri" pitchFamily="34" charset="-120"/>
              </a:rPr>
              <a:t>Fabricated numerical detail</a:t>
            </a:r>
            <a:endParaRPr lang="en-US" sz="1500" dirty="0"/>
          </a:p>
        </p:txBody>
      </p:sp>
      <p:sp>
        <p:nvSpPr>
          <p:cNvPr id="13" name="Text 11"/>
          <p:cNvSpPr txBox="1"/>
          <p:nvPr/>
        </p:nvSpPr>
        <p:spPr>
          <a:xfrm>
            <a:off x="4617720" y="4114800"/>
            <a:ext cx="2880360" cy="1554480"/>
          </a:xfrm>
          <a:prstGeom prst="rect">
            <a:avLst/>
          </a:prstGeom>
          <a:noFill/>
          <a:ln/>
        </p:spPr>
        <p:txBody>
          <a:bodyPr wrap="square" lIns="0" tIns="0" rIns="0" bIns="0" rtlCol="0" anchor="ctr"/>
          <a:lstStyle/>
          <a:p>
            <a:pPr indent="0" marL="0">
              <a:lnSpc>
                <a:spcPts val="1850"/>
              </a:lnSpc>
              <a:buNone/>
            </a:pPr>
            <a:r>
              <a:rPr lang="en-US" sz="1300" dirty="0">
                <a:solidFill>
                  <a:srgbClr val="4A5A69"/>
                </a:solidFill>
                <a:latin typeface="Calibri" pitchFamily="34" charset="0"/>
                <a:ea typeface="Calibri" pitchFamily="34" charset="-122"/>
                <a:cs typeface="Calibri" pitchFamily="34" charset="-120"/>
              </a:rPr>
              <a:t>A model can write a plausible statistic that no calculation produced. The prose reads as a result; checking it means redoing the analysis.</a:t>
            </a:r>
            <a:endParaRPr lang="en-US" sz="1300" dirty="0"/>
          </a:p>
        </p:txBody>
      </p:sp>
      <p:sp>
        <p:nvSpPr>
          <p:cNvPr id="14" name="Shape 12"/>
          <p:cNvSpPr/>
          <p:nvPr/>
        </p:nvSpPr>
        <p:spPr>
          <a:xfrm>
            <a:off x="7955280" y="3200400"/>
            <a:ext cx="3474720" cy="2606040"/>
          </a:xfrm>
          <a:prstGeom prst="roundRect">
            <a:avLst>
              <a:gd name="adj" fmla="val 210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5" name="Shape 13"/>
          <p:cNvSpPr/>
          <p:nvPr/>
        </p:nvSpPr>
        <p:spPr>
          <a:xfrm>
            <a:off x="8275320" y="3493008"/>
            <a:ext cx="201168" cy="201168"/>
          </a:xfrm>
          <a:prstGeom prst="ellipse">
            <a:avLst/>
          </a:prstGeom>
          <a:solidFill>
            <a:srgbClr val="C8891B"/>
          </a:solidFill>
          <a:ln w="12700">
            <a:solidFill>
              <a:srgbClr val="C8891B"/>
            </a:solidFill>
            <a:prstDash val="solid"/>
          </a:ln>
        </p:spPr>
      </p:sp>
      <p:sp>
        <p:nvSpPr>
          <p:cNvPr id="16" name="Text 14"/>
          <p:cNvSpPr txBox="1"/>
          <p:nvPr/>
        </p:nvSpPr>
        <p:spPr>
          <a:xfrm>
            <a:off x="8613648" y="3419856"/>
            <a:ext cx="2606040" cy="566928"/>
          </a:xfrm>
          <a:prstGeom prst="rect">
            <a:avLst/>
          </a:prstGeom>
          <a:noFill/>
          <a:ln/>
        </p:spPr>
        <p:txBody>
          <a:bodyPr wrap="square" lIns="0" tIns="0" rIns="0" bIns="0" rtlCol="0" anchor="ctr"/>
          <a:lstStyle/>
          <a:p>
            <a:pPr indent="0" marL="0">
              <a:lnSpc>
                <a:spcPts val="1900"/>
              </a:lnSpc>
              <a:buNone/>
            </a:pPr>
            <a:r>
              <a:rPr lang="en-US" sz="1500" b="1" dirty="0">
                <a:solidFill>
                  <a:srgbClr val="16222E"/>
                </a:solidFill>
                <a:latin typeface="Calibri" pitchFamily="34" charset="0"/>
                <a:ea typeface="Calibri" pitchFamily="34" charset="-122"/>
                <a:cs typeface="Calibri" pitchFamily="34" charset="-120"/>
              </a:rPr>
              <a:t>No mechanism to decline</a:t>
            </a:r>
            <a:endParaRPr lang="en-US" sz="1500" dirty="0"/>
          </a:p>
        </p:txBody>
      </p:sp>
      <p:sp>
        <p:nvSpPr>
          <p:cNvPr id="17" name="Text 15"/>
          <p:cNvSpPr txBox="1"/>
          <p:nvPr/>
        </p:nvSpPr>
        <p:spPr>
          <a:xfrm>
            <a:off x="8275320" y="4114800"/>
            <a:ext cx="2880360" cy="1554480"/>
          </a:xfrm>
          <a:prstGeom prst="rect">
            <a:avLst/>
          </a:prstGeom>
          <a:noFill/>
          <a:ln/>
        </p:spPr>
        <p:txBody>
          <a:bodyPr wrap="square" lIns="0" tIns="0" rIns="0" bIns="0" rtlCol="0" anchor="ctr"/>
          <a:lstStyle/>
          <a:p>
            <a:pPr indent="0" marL="0">
              <a:lnSpc>
                <a:spcPts val="1850"/>
              </a:lnSpc>
              <a:buNone/>
            </a:pPr>
            <a:r>
              <a:rPr lang="en-US" sz="1300" dirty="0">
                <a:solidFill>
                  <a:srgbClr val="4A5A69"/>
                </a:solidFill>
                <a:latin typeface="Calibri" pitchFamily="34" charset="0"/>
                <a:ea typeface="Calibri" pitchFamily="34" charset="-122"/>
                <a:cs typeface="Calibri" pitchFamily="34" charset="-120"/>
              </a:rPr>
              <a:t>Tool use gives the model the ability to compute. Nothing obliges it to establish that computing is appropriate before it answers.</a:t>
            </a:r>
            <a:endParaRPr lang="en-US" sz="1300" dirty="0"/>
          </a:p>
        </p:txBody>
      </p:sp>
      <p:sp>
        <p:nvSpPr>
          <p:cNvPr id="18" name="Text 1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THE FAILURE, CONCRETELY</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A motivating case from the benchmark</a:t>
            </a:r>
            <a:endParaRPr lang="en-US" sz="3000" dirty="0"/>
          </a:p>
        </p:txBody>
      </p:sp>
      <p:sp>
        <p:nvSpPr>
          <p:cNvPr id="4" name="Shape 2"/>
          <p:cNvSpPr/>
          <p:nvPr/>
        </p:nvSpPr>
        <p:spPr>
          <a:xfrm>
            <a:off x="640080" y="1572768"/>
            <a:ext cx="5257800" cy="4160520"/>
          </a:xfrm>
          <a:prstGeom prst="roundRect">
            <a:avLst>
              <a:gd name="adj" fmla="val 1319"/>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1005840" y="1828800"/>
            <a:ext cx="4572000" cy="365760"/>
          </a:xfrm>
          <a:prstGeom prst="rect">
            <a:avLst/>
          </a:prstGeom>
          <a:noFill/>
          <a:ln/>
        </p:spPr>
        <p:txBody>
          <a:bodyPr wrap="square" lIns="0" tIns="0" rIns="0" bIns="0" rtlCol="0" anchor="ctr"/>
          <a:lstStyle/>
          <a:p>
            <a:pPr indent="0" marL="0">
              <a:buNone/>
            </a:pPr>
            <a:r>
              <a:rPr lang="en-US" sz="1900" b="1" dirty="0">
                <a:solidFill>
                  <a:srgbClr val="16222E"/>
                </a:solidFill>
                <a:latin typeface="Cambria" pitchFamily="34" charset="0"/>
                <a:ea typeface="Cambria" pitchFamily="34" charset="-122"/>
                <a:cs typeface="Cambria" pitchFamily="34" charset="-120"/>
              </a:rPr>
              <a:t>Seoul Bike Sharing  ·  UCI 560</a:t>
            </a:r>
            <a:endParaRPr lang="en-US" sz="1900" dirty="0"/>
          </a:p>
        </p:txBody>
      </p:sp>
      <p:sp>
        <p:nvSpPr>
          <p:cNvPr id="6" name="Text 4"/>
          <p:cNvSpPr txBox="1"/>
          <p:nvPr/>
        </p:nvSpPr>
        <p:spPr>
          <a:xfrm>
            <a:off x="1005840" y="2212848"/>
            <a:ext cx="4572000" cy="274320"/>
          </a:xfrm>
          <a:prstGeom prst="rect">
            <a:avLst/>
          </a:prstGeom>
          <a:noFill/>
          <a:ln/>
        </p:spPr>
        <p:txBody>
          <a:bodyPr wrap="square" lIns="0" tIns="0" rIns="0" bIns="0" rtlCol="0" anchor="ctr"/>
          <a:lstStyle/>
          <a:p>
            <a:pPr indent="0" marL="0">
              <a:buNone/>
            </a:pPr>
            <a:r>
              <a:rPr lang="en-US" sz="1350" dirty="0">
                <a:solidFill>
                  <a:srgbClr val="8496A6"/>
                </a:solidFill>
                <a:latin typeface="Calibri" pitchFamily="34" charset="0"/>
                <a:ea typeface="Calibri" pitchFamily="34" charset="-122"/>
                <a:cs typeface="Calibri" pitchFamily="34" charset="-120"/>
              </a:rPr>
              <a:t>8,760 rows — one per hour for a year</a:t>
            </a:r>
            <a:endParaRPr lang="en-US" sz="1350" dirty="0"/>
          </a:p>
        </p:txBody>
      </p:sp>
      <p:sp>
        <p:nvSpPr>
          <p:cNvPr id="7" name="Text 5"/>
          <p:cNvSpPr txBox="1"/>
          <p:nvPr/>
        </p:nvSpPr>
        <p:spPr>
          <a:xfrm>
            <a:off x="1005840" y="2697480"/>
            <a:ext cx="4572000" cy="1508760"/>
          </a:xfrm>
          <a:prstGeom prst="rect">
            <a:avLst/>
          </a:prstGeom>
          <a:noFill/>
          <a:ln/>
        </p:spPr>
        <p:txBody>
          <a:bodyPr wrap="square" lIns="0" tIns="0" rIns="0" bIns="0" rtlCol="0" anchor="ctr"/>
          <a:lstStyle/>
          <a:p>
            <a:pPr marL="342900" indent="-342900">
              <a:spcAft>
                <a:spcPts val="900"/>
              </a:spcAft>
              <a:buSzPct val="100000"/>
              <a:buChar char="•"/>
            </a:pPr>
            <a:r>
              <a:rPr lang="en-US" sz="1450" dirty="0">
                <a:solidFill>
                  <a:srgbClr val="4A5A69"/>
                </a:solidFill>
                <a:latin typeface="Calibri" pitchFamily="34" charset="0"/>
                <a:ea typeface="Calibri" pitchFamily="34" charset="-122"/>
                <a:cs typeface="Calibri" pitchFamily="34" charset="-120"/>
              </a:rPr>
              <a:t>Question: does temperature relate to rental demand?</a:t>
            </a:r>
            <a:endParaRPr lang="en-US" sz="1450" dirty="0"/>
          </a:p>
          <a:p>
            <a:pPr marL="342900" indent="-342900">
              <a:spcAft>
                <a:spcPts val="900"/>
              </a:spcAft>
              <a:buSzPct val="100000"/>
              <a:buChar char="•"/>
            </a:pPr>
            <a:r>
              <a:rPr lang="en-US" sz="1450" dirty="0">
                <a:solidFill>
                  <a:srgbClr val="4A5A69"/>
                </a:solidFill>
                <a:latin typeface="Calibri" pitchFamily="34" charset="0"/>
                <a:ea typeface="Calibri" pitchFamily="34" charset="-122"/>
                <a:cs typeface="Calibri" pitchFamily="34" charset="-120"/>
              </a:rPr>
              <a:t>The table is a textbook fit for correlation or Poisson regression.</a:t>
            </a:r>
            <a:endParaRPr lang="en-US" sz="1450" dirty="0"/>
          </a:p>
          <a:p>
            <a:pPr marL="342900" indent="-342900">
              <a:spcAft>
                <a:spcPts val="900"/>
              </a:spcAft>
              <a:buSzPct val="100000"/>
              <a:buChar char="•"/>
            </a:pPr>
            <a:r>
              <a:rPr lang="en-US" sz="1450" dirty="0">
                <a:solidFill>
                  <a:srgbClr val="4A5A69"/>
                </a:solidFill>
                <a:latin typeface="Calibri" pitchFamily="34" charset="0"/>
                <a:ea typeface="Calibri" pitchFamily="34" charset="-122"/>
                <a:cs typeface="Calibri" pitchFamily="34" charset="-120"/>
              </a:rPr>
              <a:t>Both assume observations are independent.</a:t>
            </a:r>
            <a:endParaRPr lang="en-US" sz="1450" dirty="0"/>
          </a:p>
        </p:txBody>
      </p:sp>
      <p:sp>
        <p:nvSpPr>
          <p:cNvPr id="8" name="Text 6"/>
          <p:cNvSpPr txBox="1"/>
          <p:nvPr/>
        </p:nvSpPr>
        <p:spPr>
          <a:xfrm>
            <a:off x="1005840" y="4343400"/>
            <a:ext cx="4572000" cy="411480"/>
          </a:xfrm>
          <a:prstGeom prst="rect">
            <a:avLst/>
          </a:prstGeom>
          <a:noFill/>
          <a:ln/>
        </p:spPr>
        <p:txBody>
          <a:bodyPr wrap="square" lIns="0" tIns="0" rIns="0" bIns="0" rtlCol="0" anchor="ctr"/>
          <a:lstStyle/>
          <a:p>
            <a:pPr indent="0" marL="0">
              <a:buNone/>
            </a:pPr>
            <a:r>
              <a:rPr lang="en-US" sz="2000" b="1" dirty="0">
                <a:solidFill>
                  <a:srgbClr val="DD6027"/>
                </a:solidFill>
                <a:latin typeface="Cambria" pitchFamily="34" charset="0"/>
                <a:ea typeface="Cambria" pitchFamily="34" charset="-122"/>
                <a:cs typeface="Cambria" pitchFamily="34" charset="-120"/>
              </a:rPr>
              <a:t>They are not.</a:t>
            </a:r>
            <a:endParaRPr lang="en-US" sz="2000" dirty="0"/>
          </a:p>
        </p:txBody>
      </p:sp>
      <p:sp>
        <p:nvSpPr>
          <p:cNvPr id="9" name="Text 7"/>
          <p:cNvSpPr txBox="1"/>
          <p:nvPr/>
        </p:nvSpPr>
        <p:spPr>
          <a:xfrm>
            <a:off x="1005840" y="4754880"/>
            <a:ext cx="4572000" cy="777240"/>
          </a:xfrm>
          <a:prstGeom prst="rect">
            <a:avLst/>
          </a:prstGeom>
          <a:noFill/>
          <a:ln/>
        </p:spPr>
        <p:txBody>
          <a:bodyPr wrap="square" lIns="0" tIns="0" rIns="0" bIns="0" rtlCol="0" anchor="ctr"/>
          <a:lstStyle/>
          <a:p>
            <a:pPr indent="0" marL="0">
              <a:lnSpc>
                <a:spcPts val="1900"/>
              </a:lnSpc>
              <a:buNone/>
            </a:pPr>
            <a:r>
              <a:rPr lang="en-US" sz="1350" dirty="0">
                <a:solidFill>
                  <a:srgbClr val="4A5A69"/>
                </a:solidFill>
                <a:latin typeface="Calibri" pitchFamily="34" charset="0"/>
                <a:ea typeface="Calibri" pitchFamily="34" charset="-122"/>
                <a:cs typeface="Calibri" pitchFamily="34" charset="-120"/>
              </a:rPr>
              <a:t>Adjacent hours share weather, commuter cycles and daylight — each row carries information about its neighbours.</a:t>
            </a:r>
            <a:endParaRPr lang="en-US" sz="1350" dirty="0"/>
          </a:p>
        </p:txBody>
      </p:sp>
      <p:sp>
        <p:nvSpPr>
          <p:cNvPr id="10" name="Shape 8"/>
          <p:cNvSpPr/>
          <p:nvPr/>
        </p:nvSpPr>
        <p:spPr>
          <a:xfrm>
            <a:off x="6263640" y="1572768"/>
            <a:ext cx="5257800" cy="4160520"/>
          </a:xfrm>
          <a:prstGeom prst="roundRect">
            <a:avLst>
              <a:gd name="adj" fmla="val 1319"/>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Text 9"/>
          <p:cNvSpPr txBox="1"/>
          <p:nvPr/>
        </p:nvSpPr>
        <p:spPr>
          <a:xfrm>
            <a:off x="6629400" y="1828800"/>
            <a:ext cx="4572000" cy="365760"/>
          </a:xfrm>
          <a:prstGeom prst="rect">
            <a:avLst/>
          </a:prstGeom>
          <a:noFill/>
          <a:ln/>
        </p:spPr>
        <p:txBody>
          <a:bodyPr wrap="square" lIns="0" tIns="0" rIns="0" bIns="0" rtlCol="0" anchor="ctr"/>
          <a:lstStyle/>
          <a:p>
            <a:pPr indent="0" marL="0">
              <a:buNone/>
            </a:pPr>
            <a:r>
              <a:rPr lang="en-US" sz="1900" b="1" dirty="0">
                <a:solidFill>
                  <a:srgbClr val="16222E"/>
                </a:solidFill>
                <a:latin typeface="Cambria" pitchFamily="34" charset="0"/>
                <a:ea typeface="Cambria" pitchFamily="34" charset="-122"/>
                <a:cs typeface="Cambria" pitchFamily="34" charset="-120"/>
              </a:rPr>
              <a:t>Why a data-only system cannot see it</a:t>
            </a:r>
            <a:endParaRPr lang="en-US" sz="1900" dirty="0"/>
          </a:p>
        </p:txBody>
      </p:sp>
      <p:sp>
        <p:nvSpPr>
          <p:cNvPr id="12" name="Text 10"/>
          <p:cNvSpPr txBox="1"/>
          <p:nvPr/>
        </p:nvSpPr>
        <p:spPr>
          <a:xfrm>
            <a:off x="6629400" y="2331720"/>
            <a:ext cx="4526280" cy="1371600"/>
          </a:xfrm>
          <a:prstGeom prst="rect">
            <a:avLst/>
          </a:prstGeom>
          <a:noFill/>
          <a:ln/>
        </p:spPr>
        <p:txBody>
          <a:bodyPr wrap="square" lIns="0" tIns="0" rIns="0" bIns="0" rtlCol="0" anchor="ctr"/>
          <a:lstStyle/>
          <a:p>
            <a:pPr indent="0" marL="0">
              <a:lnSpc>
                <a:spcPts val="2100"/>
              </a:lnSpc>
              <a:buNone/>
            </a:pPr>
            <a:r>
              <a:rPr lang="en-US" sz="1450" dirty="0">
                <a:solidFill>
                  <a:srgbClr val="4A5A69"/>
                </a:solidFill>
                <a:latin typeface="Calibri" pitchFamily="34" charset="0"/>
                <a:ea typeface="Calibri" pitchFamily="34" charset="-122"/>
                <a:cs typeface="Calibri" pitchFamily="34" charset="-120"/>
              </a:rPr>
              <a:t>Nothing in the matrix marks the rows as serially dependent. The dependence is a fact about the collection process — known to whoever gathered the data, invisible to anyone reading only the file.</a:t>
            </a:r>
            <a:endParaRPr lang="en-US" sz="1450" dirty="0"/>
          </a:p>
        </p:txBody>
      </p:sp>
      <p:sp>
        <p:nvSpPr>
          <p:cNvPr id="13" name="Text 11"/>
          <p:cNvSpPr txBox="1"/>
          <p:nvPr/>
        </p:nvSpPr>
        <p:spPr>
          <a:xfrm>
            <a:off x="6629400" y="3749040"/>
            <a:ext cx="4526280" cy="868680"/>
          </a:xfrm>
          <a:prstGeom prst="rect">
            <a:avLst/>
          </a:prstGeom>
          <a:noFill/>
          <a:ln/>
        </p:spPr>
        <p:txBody>
          <a:bodyPr wrap="square" lIns="0" tIns="0" rIns="0" bIns="0" rtlCol="0" anchor="ctr"/>
          <a:lstStyle/>
          <a:p>
            <a:pPr indent="0" marL="0">
              <a:lnSpc>
                <a:spcPts val="2100"/>
              </a:lnSpc>
              <a:buNone/>
            </a:pPr>
            <a:r>
              <a:rPr lang="en-US" sz="1450" dirty="0">
                <a:solidFill>
                  <a:srgbClr val="4A5A69"/>
                </a:solidFill>
                <a:latin typeface="Calibri" pitchFamily="34" charset="0"/>
                <a:ea typeface="Calibri" pitchFamily="34" charset="-122"/>
                <a:cs typeface="Calibri" pitchFamily="34" charset="-120"/>
              </a:rPr>
              <a:t>This project supplies that fact through a design card, and scores the system on whether it acts on it.</a:t>
            </a:r>
            <a:endParaRPr lang="en-US" sz="1450" dirty="0"/>
          </a:p>
        </p:txBody>
      </p:sp>
      <p:sp>
        <p:nvSpPr>
          <p:cNvPr id="14" name="Text 12"/>
          <p:cNvSpPr txBox="1"/>
          <p:nvPr/>
        </p:nvSpPr>
        <p:spPr>
          <a:xfrm>
            <a:off x="6629400" y="4892040"/>
            <a:ext cx="4572000" cy="411480"/>
          </a:xfrm>
          <a:prstGeom prst="rect">
            <a:avLst/>
          </a:prstGeom>
          <a:noFill/>
          <a:ln/>
        </p:spPr>
        <p:txBody>
          <a:bodyPr wrap="square" lIns="0" tIns="0" rIns="0" bIns="0" rtlCol="0" anchor="ctr"/>
          <a:lstStyle/>
          <a:p>
            <a:pPr indent="0" marL="0">
              <a:buNone/>
            </a:pPr>
            <a:r>
              <a:rPr lang="en-US" sz="1900" b="1" dirty="0">
                <a:solidFill>
                  <a:srgbClr val="129B68"/>
                </a:solidFill>
                <a:latin typeface="Cambria" pitchFamily="34" charset="0"/>
                <a:ea typeface="Cambria" pitchFamily="34" charset="-122"/>
                <a:cs typeface="Cambria" pitchFamily="34" charset="-120"/>
              </a:rPr>
              <a:t>Correct answer: decline to model.</a:t>
            </a:r>
            <a:endParaRPr lang="en-US" sz="1900" dirty="0"/>
          </a:p>
        </p:txBody>
      </p:sp>
      <p:sp>
        <p:nvSpPr>
          <p:cNvPr id="15" name="Text 13"/>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WHAT IS BEING TESTED</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Research question and hypotheses</a:t>
            </a:r>
            <a:endParaRPr lang="en-US" sz="3000" dirty="0"/>
          </a:p>
        </p:txBody>
      </p:sp>
      <p:sp>
        <p:nvSpPr>
          <p:cNvPr id="4" name="Shape 2"/>
          <p:cNvSpPr/>
          <p:nvPr/>
        </p:nvSpPr>
        <p:spPr>
          <a:xfrm>
            <a:off x="640080" y="1572768"/>
            <a:ext cx="10881360" cy="1051560"/>
          </a:xfrm>
          <a:prstGeom prst="roundRect">
            <a:avLst>
              <a:gd name="adj" fmla="val 5217"/>
            </a:avLst>
          </a:prstGeom>
          <a:solidFill>
            <a:srgbClr val="14202B"/>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1051560" y="1737360"/>
            <a:ext cx="10058400" cy="77724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mbria" pitchFamily="34" charset="0"/>
                <a:ea typeface="Cambria" pitchFamily="34" charset="-122"/>
                <a:cs typeface="Cambria" pitchFamily="34" charset="-120"/>
              </a:rPr>
              <a:t>Does an explicit statistical decision protocol improve an LLM agent's selection of valid methods, compared with direct LLM advice and with tool access that has no protocol governing its use?</a:t>
            </a:r>
            <a:endParaRPr lang="en-US" sz="1700" dirty="0"/>
          </a:p>
        </p:txBody>
      </p:sp>
      <p:sp>
        <p:nvSpPr>
          <p:cNvPr id="6" name="Shape 4"/>
          <p:cNvSpPr/>
          <p:nvPr/>
        </p:nvSpPr>
        <p:spPr>
          <a:xfrm>
            <a:off x="640080" y="2880360"/>
            <a:ext cx="10881360" cy="822960"/>
          </a:xfrm>
          <a:prstGeom prst="roundRect">
            <a:avLst>
              <a:gd name="adj" fmla="val 666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Text 5"/>
          <p:cNvSpPr txBox="1"/>
          <p:nvPr/>
        </p:nvSpPr>
        <p:spPr>
          <a:xfrm>
            <a:off x="960120" y="3063240"/>
            <a:ext cx="731520" cy="457200"/>
          </a:xfrm>
          <a:prstGeom prst="rect">
            <a:avLst/>
          </a:prstGeom>
          <a:noFill/>
          <a:ln/>
        </p:spPr>
        <p:txBody>
          <a:bodyPr wrap="square" lIns="0" tIns="0" rIns="0" bIns="0" rtlCol="0" anchor="ctr"/>
          <a:lstStyle/>
          <a:p>
            <a:pPr indent="0" marL="0">
              <a:buNone/>
            </a:pPr>
            <a:r>
              <a:rPr lang="en-US" sz="2400" b="1" dirty="0">
                <a:solidFill>
                  <a:srgbClr val="129B68"/>
                </a:solidFill>
                <a:latin typeface="Cambria" pitchFamily="34" charset="0"/>
                <a:ea typeface="Cambria" pitchFamily="34" charset="-122"/>
                <a:cs typeface="Cambria" pitchFamily="34" charset="-120"/>
              </a:rPr>
              <a:t>H1</a:t>
            </a:r>
            <a:endParaRPr lang="en-US" sz="2400" dirty="0"/>
          </a:p>
        </p:txBody>
      </p:sp>
      <p:sp>
        <p:nvSpPr>
          <p:cNvPr id="8" name="Text 6"/>
          <p:cNvSpPr txBox="1"/>
          <p:nvPr/>
        </p:nvSpPr>
        <p:spPr>
          <a:xfrm>
            <a:off x="1783080" y="3127248"/>
            <a:ext cx="1920240" cy="36576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Selection</a:t>
            </a:r>
            <a:endParaRPr lang="en-US" sz="1600" dirty="0"/>
          </a:p>
        </p:txBody>
      </p:sp>
      <p:sp>
        <p:nvSpPr>
          <p:cNvPr id="9" name="Text 7"/>
          <p:cNvSpPr txBox="1"/>
          <p:nvPr/>
        </p:nvSpPr>
        <p:spPr>
          <a:xfrm>
            <a:off x="3749040" y="3081528"/>
            <a:ext cx="7498080" cy="502920"/>
          </a:xfrm>
          <a:prstGeom prst="rect">
            <a:avLst/>
          </a:prstGeom>
          <a:noFill/>
          <a:ln/>
        </p:spPr>
        <p:txBody>
          <a:bodyPr wrap="square" lIns="0" tIns="0" rIns="0" bIns="0" rtlCol="0" anchor="ctr"/>
          <a:lstStyle/>
          <a:p>
            <a:pPr indent="0" marL="0">
              <a:lnSpc>
                <a:spcPts val="2000"/>
              </a:lnSpc>
              <a:buNone/>
            </a:pPr>
            <a:r>
              <a:rPr lang="en-US" sz="1450" dirty="0">
                <a:solidFill>
                  <a:srgbClr val="4A5A69"/>
                </a:solidFill>
                <a:latin typeface="Calibri" pitchFamily="34" charset="0"/>
                <a:ea typeface="Calibri" pitchFamily="34" charset="-122"/>
                <a:cs typeface="Calibri" pitchFamily="34" charset="-120"/>
              </a:rPr>
              <a:t>The protocol arm selects an admissible method more often than the tool-enabled baseline.</a:t>
            </a:r>
            <a:endParaRPr lang="en-US" sz="1450" dirty="0"/>
          </a:p>
        </p:txBody>
      </p:sp>
      <p:sp>
        <p:nvSpPr>
          <p:cNvPr id="10" name="Shape 8"/>
          <p:cNvSpPr/>
          <p:nvPr/>
        </p:nvSpPr>
        <p:spPr>
          <a:xfrm>
            <a:off x="640080" y="3867912"/>
            <a:ext cx="10881360" cy="822960"/>
          </a:xfrm>
          <a:prstGeom prst="roundRect">
            <a:avLst>
              <a:gd name="adj" fmla="val 666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Text 9"/>
          <p:cNvSpPr txBox="1"/>
          <p:nvPr/>
        </p:nvSpPr>
        <p:spPr>
          <a:xfrm>
            <a:off x="960120" y="4050792"/>
            <a:ext cx="731520" cy="457200"/>
          </a:xfrm>
          <a:prstGeom prst="rect">
            <a:avLst/>
          </a:prstGeom>
          <a:noFill/>
          <a:ln/>
        </p:spPr>
        <p:txBody>
          <a:bodyPr wrap="square" lIns="0" tIns="0" rIns="0" bIns="0" rtlCol="0" anchor="ctr"/>
          <a:lstStyle/>
          <a:p>
            <a:pPr indent="0" marL="0">
              <a:buNone/>
            </a:pPr>
            <a:r>
              <a:rPr lang="en-US" sz="2400" b="1" dirty="0">
                <a:solidFill>
                  <a:srgbClr val="129B68"/>
                </a:solidFill>
                <a:latin typeface="Cambria" pitchFamily="34" charset="0"/>
                <a:ea typeface="Cambria" pitchFamily="34" charset="-122"/>
                <a:cs typeface="Cambria" pitchFamily="34" charset="-120"/>
              </a:rPr>
              <a:t>H2</a:t>
            </a:r>
            <a:endParaRPr lang="en-US" sz="2400" dirty="0"/>
          </a:p>
        </p:txBody>
      </p:sp>
      <p:sp>
        <p:nvSpPr>
          <p:cNvPr id="12" name="Text 10"/>
          <p:cNvSpPr txBox="1"/>
          <p:nvPr/>
        </p:nvSpPr>
        <p:spPr>
          <a:xfrm>
            <a:off x="1783080" y="4114800"/>
            <a:ext cx="1920240" cy="36576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Abstention</a:t>
            </a:r>
            <a:endParaRPr lang="en-US" sz="1600" dirty="0"/>
          </a:p>
        </p:txBody>
      </p:sp>
      <p:sp>
        <p:nvSpPr>
          <p:cNvPr id="13" name="Text 11"/>
          <p:cNvSpPr txBox="1"/>
          <p:nvPr/>
        </p:nvSpPr>
        <p:spPr>
          <a:xfrm>
            <a:off x="3749040" y="4069080"/>
            <a:ext cx="7498080" cy="502920"/>
          </a:xfrm>
          <a:prstGeom prst="rect">
            <a:avLst/>
          </a:prstGeom>
          <a:noFill/>
          <a:ln/>
        </p:spPr>
        <p:txBody>
          <a:bodyPr wrap="square" lIns="0" tIns="0" rIns="0" bIns="0" rtlCol="0" anchor="ctr"/>
          <a:lstStyle/>
          <a:p>
            <a:pPr indent="0" marL="0">
              <a:lnSpc>
                <a:spcPts val="2000"/>
              </a:lnSpc>
              <a:buNone/>
            </a:pPr>
            <a:r>
              <a:rPr lang="en-US" sz="1450" dirty="0">
                <a:solidFill>
                  <a:srgbClr val="4A5A69"/>
                </a:solidFill>
                <a:latin typeface="Calibri" pitchFamily="34" charset="0"/>
                <a:ea typeface="Calibri" pitchFamily="34" charset="-122"/>
                <a:cs typeface="Calibri" pitchFamily="34" charset="-120"/>
              </a:rPr>
              <a:t>The protocol arm declines more reliably on designs that no supported method fits — the safety-critical case.</a:t>
            </a:r>
            <a:endParaRPr lang="en-US" sz="1450" dirty="0"/>
          </a:p>
        </p:txBody>
      </p:sp>
      <p:sp>
        <p:nvSpPr>
          <p:cNvPr id="14" name="Shape 12"/>
          <p:cNvSpPr/>
          <p:nvPr/>
        </p:nvSpPr>
        <p:spPr>
          <a:xfrm>
            <a:off x="640080" y="4855464"/>
            <a:ext cx="10881360" cy="822960"/>
          </a:xfrm>
          <a:prstGeom prst="roundRect">
            <a:avLst>
              <a:gd name="adj" fmla="val 666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5" name="Text 13"/>
          <p:cNvSpPr txBox="1"/>
          <p:nvPr/>
        </p:nvSpPr>
        <p:spPr>
          <a:xfrm>
            <a:off x="960120" y="5038344"/>
            <a:ext cx="731520" cy="457200"/>
          </a:xfrm>
          <a:prstGeom prst="rect">
            <a:avLst/>
          </a:prstGeom>
          <a:noFill/>
          <a:ln/>
        </p:spPr>
        <p:txBody>
          <a:bodyPr wrap="square" lIns="0" tIns="0" rIns="0" bIns="0" rtlCol="0" anchor="ctr"/>
          <a:lstStyle/>
          <a:p>
            <a:pPr indent="0" marL="0">
              <a:buNone/>
            </a:pPr>
            <a:r>
              <a:rPr lang="en-US" sz="2400" b="1" dirty="0">
                <a:solidFill>
                  <a:srgbClr val="129B68"/>
                </a:solidFill>
                <a:latin typeface="Cambria" pitchFamily="34" charset="0"/>
                <a:ea typeface="Cambria" pitchFamily="34" charset="-122"/>
                <a:cs typeface="Cambria" pitchFamily="34" charset="-120"/>
              </a:rPr>
              <a:t>H3</a:t>
            </a:r>
            <a:endParaRPr lang="en-US" sz="2400" dirty="0"/>
          </a:p>
        </p:txBody>
      </p:sp>
      <p:sp>
        <p:nvSpPr>
          <p:cNvPr id="16" name="Text 14"/>
          <p:cNvSpPr txBox="1"/>
          <p:nvPr/>
        </p:nvSpPr>
        <p:spPr>
          <a:xfrm>
            <a:off x="1783080" y="5102352"/>
            <a:ext cx="1920240" cy="365760"/>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Provenance</a:t>
            </a:r>
            <a:endParaRPr lang="en-US" sz="1600" dirty="0"/>
          </a:p>
        </p:txBody>
      </p:sp>
      <p:sp>
        <p:nvSpPr>
          <p:cNvPr id="17" name="Text 15"/>
          <p:cNvSpPr txBox="1"/>
          <p:nvPr/>
        </p:nvSpPr>
        <p:spPr>
          <a:xfrm>
            <a:off x="3749040" y="5056632"/>
            <a:ext cx="7498080" cy="502920"/>
          </a:xfrm>
          <a:prstGeom prst="rect">
            <a:avLst/>
          </a:prstGeom>
          <a:noFill/>
          <a:ln/>
        </p:spPr>
        <p:txBody>
          <a:bodyPr wrap="square" lIns="0" tIns="0" rIns="0" bIns="0" rtlCol="0" anchor="ctr"/>
          <a:lstStyle/>
          <a:p>
            <a:pPr indent="0" marL="0">
              <a:lnSpc>
                <a:spcPts val="2000"/>
              </a:lnSpc>
              <a:buNone/>
            </a:pPr>
            <a:r>
              <a:rPr lang="en-US" sz="1450" dirty="0">
                <a:solidFill>
                  <a:srgbClr val="4A5A69"/>
                </a:solidFill>
                <a:latin typeface="Calibri" pitchFamily="34" charset="0"/>
                <a:ea typeface="Calibri" pitchFamily="34" charset="-122"/>
                <a:cs typeface="Calibri" pitchFamily="34" charset="-120"/>
              </a:rPr>
              <a:t>Schema-level provenance prevents fabricated numbers from reaching a finished report.</a:t>
            </a:r>
            <a:endParaRPr lang="en-US" sz="1450" dirty="0"/>
          </a:p>
        </p:txBody>
      </p:sp>
      <p:sp>
        <p:nvSpPr>
          <p:cNvPr id="18" name="Text 1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WHAT WAS BUILT, AND WHAT WAS RULED OUT</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Scope and design decisions</a:t>
            </a:r>
            <a:endParaRPr lang="en-US" sz="3000" dirty="0"/>
          </a:p>
        </p:txBody>
      </p:sp>
      <p:sp>
        <p:nvSpPr>
          <p:cNvPr id="4" name="Shape 2"/>
          <p:cNvSpPr/>
          <p:nvPr/>
        </p:nvSpPr>
        <p:spPr>
          <a:xfrm>
            <a:off x="640080" y="1572768"/>
            <a:ext cx="5486400" cy="4206240"/>
          </a:xfrm>
          <a:prstGeom prst="roundRect">
            <a:avLst>
              <a:gd name="adj" fmla="val 1304"/>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1005840" y="1810512"/>
            <a:ext cx="4846320" cy="365760"/>
          </a:xfrm>
          <a:prstGeom prst="rect">
            <a:avLst/>
          </a:prstGeom>
          <a:noFill/>
          <a:ln/>
        </p:spPr>
        <p:txBody>
          <a:bodyPr wrap="square" lIns="0" tIns="0" rIns="0" bIns="0" rtlCol="0" anchor="ctr"/>
          <a:lstStyle/>
          <a:p>
            <a:pPr indent="0" marL="0">
              <a:buNone/>
            </a:pPr>
            <a:r>
              <a:rPr lang="en-US" sz="1800" b="1" dirty="0">
                <a:solidFill>
                  <a:srgbClr val="16222E"/>
                </a:solidFill>
                <a:latin typeface="Cambria" pitchFamily="34" charset="0"/>
                <a:ea typeface="Cambria" pitchFamily="34" charset="-122"/>
                <a:cs typeface="Cambria" pitchFamily="34" charset="-120"/>
              </a:rPr>
              <a:t>A closed library of 14 methods</a:t>
            </a:r>
            <a:endParaRPr lang="en-US" sz="1800" dirty="0"/>
          </a:p>
        </p:txBody>
      </p:sp>
      <p:sp>
        <p:nvSpPr>
          <p:cNvPr id="6" name="Text 4"/>
          <p:cNvSpPr txBox="1"/>
          <p:nvPr/>
        </p:nvSpPr>
        <p:spPr>
          <a:xfrm>
            <a:off x="1005840" y="2331720"/>
            <a:ext cx="2011680" cy="45720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Two groups</a:t>
            </a:r>
            <a:endParaRPr lang="en-US" sz="1300" dirty="0"/>
          </a:p>
        </p:txBody>
      </p:sp>
      <p:sp>
        <p:nvSpPr>
          <p:cNvPr id="7" name="Text 5"/>
          <p:cNvSpPr txBox="1"/>
          <p:nvPr/>
        </p:nvSpPr>
        <p:spPr>
          <a:xfrm>
            <a:off x="3017520" y="2331720"/>
            <a:ext cx="2926080" cy="502920"/>
          </a:xfrm>
          <a:prstGeom prst="rect">
            <a:avLst/>
          </a:prstGeom>
          <a:noFill/>
          <a:ln/>
        </p:spPr>
        <p:txBody>
          <a:bodyPr wrap="square" lIns="0" tIns="0" rIns="0" bIns="0" rtlCol="0" anchor="ctr"/>
          <a:lstStyle/>
          <a:p>
            <a:pPr indent="0" marL="0">
              <a:lnSpc>
                <a:spcPts val="1700"/>
              </a:lnSpc>
              <a:buNone/>
            </a:pPr>
            <a:r>
              <a:rPr lang="en-US" sz="1300" dirty="0">
                <a:solidFill>
                  <a:srgbClr val="4A5A69"/>
                </a:solidFill>
                <a:latin typeface="Calibri" pitchFamily="34" charset="0"/>
                <a:ea typeface="Calibri" pitchFamily="34" charset="-122"/>
                <a:cs typeface="Calibri" pitchFamily="34" charset="-120"/>
              </a:rPr>
              <a:t>Student t · Welch t · Mann–Whitney</a:t>
            </a:r>
            <a:endParaRPr lang="en-US" sz="1300" dirty="0"/>
          </a:p>
        </p:txBody>
      </p:sp>
      <p:sp>
        <p:nvSpPr>
          <p:cNvPr id="8" name="Text 6"/>
          <p:cNvSpPr txBox="1"/>
          <p:nvPr/>
        </p:nvSpPr>
        <p:spPr>
          <a:xfrm>
            <a:off x="1005840" y="2862072"/>
            <a:ext cx="2011680" cy="45720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Three or more groups</a:t>
            </a:r>
            <a:endParaRPr lang="en-US" sz="1300" dirty="0"/>
          </a:p>
        </p:txBody>
      </p:sp>
      <p:sp>
        <p:nvSpPr>
          <p:cNvPr id="9" name="Text 7"/>
          <p:cNvSpPr txBox="1"/>
          <p:nvPr/>
        </p:nvSpPr>
        <p:spPr>
          <a:xfrm>
            <a:off x="3017520" y="2862072"/>
            <a:ext cx="2926080" cy="502920"/>
          </a:xfrm>
          <a:prstGeom prst="rect">
            <a:avLst/>
          </a:prstGeom>
          <a:noFill/>
          <a:ln/>
        </p:spPr>
        <p:txBody>
          <a:bodyPr wrap="square" lIns="0" tIns="0" rIns="0" bIns="0" rtlCol="0" anchor="ctr"/>
          <a:lstStyle/>
          <a:p>
            <a:pPr indent="0" marL="0">
              <a:lnSpc>
                <a:spcPts val="1700"/>
              </a:lnSpc>
              <a:buNone/>
            </a:pPr>
            <a:r>
              <a:rPr lang="en-US" sz="1300" dirty="0">
                <a:solidFill>
                  <a:srgbClr val="4A5A69"/>
                </a:solidFill>
                <a:latin typeface="Calibri" pitchFamily="34" charset="0"/>
                <a:ea typeface="Calibri" pitchFamily="34" charset="-122"/>
                <a:cs typeface="Calibri" pitchFamily="34" charset="-120"/>
              </a:rPr>
              <a:t>One-way ANOVA · Welch ANOVA · Kruskal–Wallis</a:t>
            </a:r>
            <a:endParaRPr lang="en-US" sz="1300" dirty="0"/>
          </a:p>
        </p:txBody>
      </p:sp>
      <p:sp>
        <p:nvSpPr>
          <p:cNvPr id="10" name="Text 8"/>
          <p:cNvSpPr txBox="1"/>
          <p:nvPr/>
        </p:nvSpPr>
        <p:spPr>
          <a:xfrm>
            <a:off x="1005840" y="3392424"/>
            <a:ext cx="2011680" cy="45720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Categorical</a:t>
            </a:r>
            <a:endParaRPr lang="en-US" sz="1300" dirty="0"/>
          </a:p>
        </p:txBody>
      </p:sp>
      <p:sp>
        <p:nvSpPr>
          <p:cNvPr id="11" name="Text 9"/>
          <p:cNvSpPr txBox="1"/>
          <p:nvPr/>
        </p:nvSpPr>
        <p:spPr>
          <a:xfrm>
            <a:off x="3017520" y="3392424"/>
            <a:ext cx="2926080" cy="502920"/>
          </a:xfrm>
          <a:prstGeom prst="rect">
            <a:avLst/>
          </a:prstGeom>
          <a:noFill/>
          <a:ln/>
        </p:spPr>
        <p:txBody>
          <a:bodyPr wrap="square" lIns="0" tIns="0" rIns="0" bIns="0" rtlCol="0" anchor="ctr"/>
          <a:lstStyle/>
          <a:p>
            <a:pPr indent="0" marL="0">
              <a:lnSpc>
                <a:spcPts val="1700"/>
              </a:lnSpc>
              <a:buNone/>
            </a:pPr>
            <a:r>
              <a:rPr lang="en-US" sz="1300" dirty="0">
                <a:solidFill>
                  <a:srgbClr val="4A5A69"/>
                </a:solidFill>
                <a:latin typeface="Calibri" pitchFamily="34" charset="0"/>
                <a:ea typeface="Calibri" pitchFamily="34" charset="-122"/>
                <a:cs typeface="Calibri" pitchFamily="34" charset="-120"/>
              </a:rPr>
              <a:t>Chi-square · Fisher exact</a:t>
            </a:r>
            <a:endParaRPr lang="en-US" sz="1300" dirty="0"/>
          </a:p>
        </p:txBody>
      </p:sp>
      <p:sp>
        <p:nvSpPr>
          <p:cNvPr id="12" name="Text 10"/>
          <p:cNvSpPr txBox="1"/>
          <p:nvPr/>
        </p:nvSpPr>
        <p:spPr>
          <a:xfrm>
            <a:off x="1005840" y="3922776"/>
            <a:ext cx="2011680" cy="45720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Association</a:t>
            </a:r>
            <a:endParaRPr lang="en-US" sz="1300" dirty="0"/>
          </a:p>
        </p:txBody>
      </p:sp>
      <p:sp>
        <p:nvSpPr>
          <p:cNvPr id="13" name="Text 11"/>
          <p:cNvSpPr txBox="1"/>
          <p:nvPr/>
        </p:nvSpPr>
        <p:spPr>
          <a:xfrm>
            <a:off x="3017520" y="3922776"/>
            <a:ext cx="2926080" cy="502920"/>
          </a:xfrm>
          <a:prstGeom prst="rect">
            <a:avLst/>
          </a:prstGeom>
          <a:noFill/>
          <a:ln/>
        </p:spPr>
        <p:txBody>
          <a:bodyPr wrap="square" lIns="0" tIns="0" rIns="0" bIns="0" rtlCol="0" anchor="ctr"/>
          <a:lstStyle/>
          <a:p>
            <a:pPr indent="0" marL="0">
              <a:lnSpc>
                <a:spcPts val="1700"/>
              </a:lnSpc>
              <a:buNone/>
            </a:pPr>
            <a:r>
              <a:rPr lang="en-US" sz="1300" dirty="0">
                <a:solidFill>
                  <a:srgbClr val="4A5A69"/>
                </a:solidFill>
                <a:latin typeface="Calibri" pitchFamily="34" charset="0"/>
                <a:ea typeface="Calibri" pitchFamily="34" charset="-122"/>
                <a:cs typeface="Calibri" pitchFamily="34" charset="-120"/>
              </a:rPr>
              <a:t>Pearson · Spearman</a:t>
            </a:r>
            <a:endParaRPr lang="en-US" sz="1300" dirty="0"/>
          </a:p>
        </p:txBody>
      </p:sp>
      <p:sp>
        <p:nvSpPr>
          <p:cNvPr id="14" name="Text 12"/>
          <p:cNvSpPr txBox="1"/>
          <p:nvPr/>
        </p:nvSpPr>
        <p:spPr>
          <a:xfrm>
            <a:off x="1005840" y="4453128"/>
            <a:ext cx="2011680" cy="457200"/>
          </a:xfrm>
          <a:prstGeom prst="rect">
            <a:avLst/>
          </a:prstGeom>
          <a:noFill/>
          <a:ln/>
        </p:spPr>
        <p:txBody>
          <a:bodyPr wrap="square" lIns="0" tIns="0" rIns="0" bIns="0" rtlCol="0" anchor="ctr"/>
          <a:lstStyle/>
          <a:p>
            <a:pPr indent="0" marL="0">
              <a:buNone/>
            </a:pPr>
            <a:r>
              <a:rPr lang="en-US" sz="1300" b="1" dirty="0">
                <a:solidFill>
                  <a:srgbClr val="16222E"/>
                </a:solidFill>
                <a:latin typeface="Calibri" pitchFamily="34" charset="0"/>
                <a:ea typeface="Calibri" pitchFamily="34" charset="-122"/>
                <a:cs typeface="Calibri" pitchFamily="34" charset="-120"/>
              </a:rPr>
              <a:t>Regression</a:t>
            </a:r>
            <a:endParaRPr lang="en-US" sz="1300" dirty="0"/>
          </a:p>
        </p:txBody>
      </p:sp>
      <p:sp>
        <p:nvSpPr>
          <p:cNvPr id="15" name="Text 13"/>
          <p:cNvSpPr txBox="1"/>
          <p:nvPr/>
        </p:nvSpPr>
        <p:spPr>
          <a:xfrm>
            <a:off x="3017520" y="4453128"/>
            <a:ext cx="2926080" cy="502920"/>
          </a:xfrm>
          <a:prstGeom prst="rect">
            <a:avLst/>
          </a:prstGeom>
          <a:noFill/>
          <a:ln/>
        </p:spPr>
        <p:txBody>
          <a:bodyPr wrap="square" lIns="0" tIns="0" rIns="0" bIns="0" rtlCol="0" anchor="ctr"/>
          <a:lstStyle/>
          <a:p>
            <a:pPr indent="0" marL="0">
              <a:lnSpc>
                <a:spcPts val="1700"/>
              </a:lnSpc>
              <a:buNone/>
            </a:pPr>
            <a:r>
              <a:rPr lang="en-US" sz="1300" dirty="0">
                <a:solidFill>
                  <a:srgbClr val="4A5A69"/>
                </a:solidFill>
                <a:latin typeface="Calibri" pitchFamily="34" charset="0"/>
                <a:ea typeface="Calibri" pitchFamily="34" charset="-122"/>
                <a:cs typeface="Calibri" pitchFamily="34" charset="-120"/>
              </a:rPr>
              <a:t>OLS · Logistic · Poisson · Negative binomial</a:t>
            </a:r>
            <a:endParaRPr lang="en-US" sz="1300" dirty="0"/>
          </a:p>
        </p:txBody>
      </p:sp>
      <p:sp>
        <p:nvSpPr>
          <p:cNvPr id="16" name="Text 14"/>
          <p:cNvSpPr txBox="1"/>
          <p:nvPr/>
        </p:nvSpPr>
        <p:spPr>
          <a:xfrm>
            <a:off x="1005840" y="5074920"/>
            <a:ext cx="4846320" cy="365760"/>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 abstain — a decision, not a method</a:t>
            </a:r>
            <a:endParaRPr lang="en-US" sz="1400" dirty="0"/>
          </a:p>
        </p:txBody>
      </p:sp>
      <p:sp>
        <p:nvSpPr>
          <p:cNvPr id="17" name="Shape 15"/>
          <p:cNvSpPr/>
          <p:nvPr/>
        </p:nvSpPr>
        <p:spPr>
          <a:xfrm>
            <a:off x="6355080" y="1572768"/>
            <a:ext cx="5166360" cy="1298448"/>
          </a:xfrm>
          <a:prstGeom prst="roundRect">
            <a:avLst>
              <a:gd name="adj" fmla="val 422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8" name="Text 16"/>
          <p:cNvSpPr txBox="1"/>
          <p:nvPr/>
        </p:nvSpPr>
        <p:spPr>
          <a:xfrm>
            <a:off x="6675120" y="1773936"/>
            <a:ext cx="45720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Closed, so it is scorable</a:t>
            </a:r>
            <a:endParaRPr lang="en-US" sz="1550" dirty="0"/>
          </a:p>
        </p:txBody>
      </p:sp>
      <p:sp>
        <p:nvSpPr>
          <p:cNvPr id="19" name="Text 17"/>
          <p:cNvSpPr txBox="1"/>
          <p:nvPr/>
        </p:nvSpPr>
        <p:spPr>
          <a:xfrm>
            <a:off x="6675120" y="2157984"/>
            <a:ext cx="4572000" cy="64008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An open library turns method choice into an essay-grading problem.</a:t>
            </a:r>
            <a:endParaRPr lang="en-US" sz="1300" dirty="0"/>
          </a:p>
        </p:txBody>
      </p:sp>
      <p:sp>
        <p:nvSpPr>
          <p:cNvPr id="20" name="Shape 18"/>
          <p:cNvSpPr/>
          <p:nvPr/>
        </p:nvSpPr>
        <p:spPr>
          <a:xfrm>
            <a:off x="6355080" y="3008376"/>
            <a:ext cx="5166360" cy="1298448"/>
          </a:xfrm>
          <a:prstGeom prst="roundRect">
            <a:avLst>
              <a:gd name="adj" fmla="val 422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1" name="Text 19"/>
          <p:cNvSpPr txBox="1"/>
          <p:nvPr/>
        </p:nvSpPr>
        <p:spPr>
          <a:xfrm>
            <a:off x="6675120" y="3209544"/>
            <a:ext cx="45720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No general code execution</a:t>
            </a:r>
            <a:endParaRPr lang="en-US" sz="1550" dirty="0"/>
          </a:p>
        </p:txBody>
      </p:sp>
      <p:sp>
        <p:nvSpPr>
          <p:cNvPr id="22" name="Text 20"/>
          <p:cNvSpPr txBox="1"/>
          <p:nvPr/>
        </p:nvSpPr>
        <p:spPr>
          <a:xfrm>
            <a:off x="6675120" y="3593592"/>
            <a:ext cx="4572000" cy="64008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It would let the model bypass the policy and make traces incomparable.</a:t>
            </a:r>
            <a:endParaRPr lang="en-US" sz="1300" dirty="0"/>
          </a:p>
        </p:txBody>
      </p:sp>
      <p:sp>
        <p:nvSpPr>
          <p:cNvPr id="23" name="Shape 21"/>
          <p:cNvSpPr/>
          <p:nvPr/>
        </p:nvSpPr>
        <p:spPr>
          <a:xfrm>
            <a:off x="6355080" y="4443984"/>
            <a:ext cx="5166360" cy="1298448"/>
          </a:xfrm>
          <a:prstGeom prst="roundRect">
            <a:avLst>
              <a:gd name="adj" fmla="val 422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4" name="Text 22"/>
          <p:cNvSpPr txBox="1"/>
          <p:nvPr/>
        </p:nvSpPr>
        <p:spPr>
          <a:xfrm>
            <a:off x="6675120" y="4645152"/>
            <a:ext cx="45720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Out of scope, measured anyway</a:t>
            </a:r>
            <a:endParaRPr lang="en-US" sz="1550" dirty="0"/>
          </a:p>
        </p:txBody>
      </p:sp>
      <p:sp>
        <p:nvSpPr>
          <p:cNvPr id="25" name="Text 23"/>
          <p:cNvSpPr txBox="1"/>
          <p:nvPr/>
        </p:nvSpPr>
        <p:spPr>
          <a:xfrm>
            <a:off x="6675120" y="5029200"/>
            <a:ext cx="4572000" cy="64008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Paired, repeated-measures, mixed, time-series and survival designs enter the benchmark as abstention cases.</a:t>
            </a:r>
            <a:endParaRPr lang="en-US" sz="1300" dirty="0"/>
          </a:p>
        </p:txBody>
      </p:sp>
      <p:sp>
        <p:nvSpPr>
          <p:cNvPr id="26" name="Text 24"/>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Three systems over one shared core</a:t>
            </a:r>
            <a:endParaRPr lang="en-US" sz="3000" dirty="0"/>
          </a:p>
        </p:txBody>
      </p:sp>
      <p:sp>
        <p:nvSpPr>
          <p:cNvPr id="4" name="Shape 2"/>
          <p:cNvSpPr/>
          <p:nvPr/>
        </p:nvSpPr>
        <p:spPr>
          <a:xfrm>
            <a:off x="640080" y="1572768"/>
            <a:ext cx="3474720" cy="1737360"/>
          </a:xfrm>
          <a:prstGeom prst="roundRect">
            <a:avLst>
              <a:gd name="adj" fmla="val 3158"/>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Shape 3"/>
          <p:cNvSpPr/>
          <p:nvPr/>
        </p:nvSpPr>
        <p:spPr>
          <a:xfrm>
            <a:off x="960120" y="1810512"/>
            <a:ext cx="457200" cy="457200"/>
          </a:xfrm>
          <a:prstGeom prst="ellipse">
            <a:avLst/>
          </a:prstGeom>
          <a:solidFill>
            <a:srgbClr val="2F6FD0"/>
          </a:solidFill>
          <a:ln w="12700">
            <a:solidFill>
              <a:srgbClr val="2F6FD0"/>
            </a:solidFill>
            <a:prstDash val="solid"/>
          </a:ln>
        </p:spPr>
      </p:sp>
      <p:sp>
        <p:nvSpPr>
          <p:cNvPr id="6" name="Text 4"/>
          <p:cNvSpPr txBox="1"/>
          <p:nvPr/>
        </p:nvSpPr>
        <p:spPr>
          <a:xfrm>
            <a:off x="960120"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554480" y="1856232"/>
            <a:ext cx="2377440" cy="384048"/>
          </a:xfrm>
          <a:prstGeom prst="rect">
            <a:avLst/>
          </a:prstGeom>
          <a:noFill/>
          <a:ln/>
        </p:spPr>
        <p:txBody>
          <a:bodyPr wrap="square" lIns="0" tIns="0" rIns="0" bIns="0" rtlCol="0" anchor="ctr"/>
          <a:lstStyle/>
          <a:p>
            <a:pPr indent="0" marL="0">
              <a:buNone/>
            </a:pPr>
            <a:r>
              <a:rPr lang="en-US" sz="1900" b="1" dirty="0">
                <a:solidFill>
                  <a:srgbClr val="16222E"/>
                </a:solidFill>
                <a:latin typeface="Cambria" pitchFamily="34" charset="0"/>
                <a:ea typeface="Cambria" pitchFamily="34" charset="-122"/>
                <a:cs typeface="Cambria" pitchFamily="34" charset="-120"/>
              </a:rPr>
              <a:t>Direct</a:t>
            </a:r>
            <a:endParaRPr lang="en-US" sz="1900" dirty="0"/>
          </a:p>
        </p:txBody>
      </p:sp>
      <p:sp>
        <p:nvSpPr>
          <p:cNvPr id="8" name="Text 6"/>
          <p:cNvSpPr txBox="1"/>
          <p:nvPr/>
        </p:nvSpPr>
        <p:spPr>
          <a:xfrm>
            <a:off x="960120" y="2423160"/>
            <a:ext cx="2834640" cy="77724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No tools. Receives the same step-one diagnostics C receives.</a:t>
            </a:r>
            <a:endParaRPr lang="en-US" sz="1300" dirty="0"/>
          </a:p>
        </p:txBody>
      </p:sp>
      <p:sp>
        <p:nvSpPr>
          <p:cNvPr id="9" name="Shape 7"/>
          <p:cNvSpPr/>
          <p:nvPr/>
        </p:nvSpPr>
        <p:spPr>
          <a:xfrm>
            <a:off x="2377440" y="3310128"/>
            <a:ext cx="0" cy="457200"/>
          </a:xfrm>
          <a:prstGeom prst="line">
            <a:avLst/>
          </a:prstGeom>
          <a:noFill/>
          <a:ln w="19050">
            <a:solidFill>
              <a:srgbClr val="8496A6"/>
            </a:solidFill>
            <a:prstDash val="solid"/>
            <a:tailEnd type="triangle"/>
          </a:ln>
        </p:spPr>
      </p:sp>
      <p:sp>
        <p:nvSpPr>
          <p:cNvPr id="10" name="Shape 8"/>
          <p:cNvSpPr/>
          <p:nvPr/>
        </p:nvSpPr>
        <p:spPr>
          <a:xfrm>
            <a:off x="4297680" y="1572768"/>
            <a:ext cx="3474720" cy="1737360"/>
          </a:xfrm>
          <a:prstGeom prst="roundRect">
            <a:avLst>
              <a:gd name="adj" fmla="val 3158"/>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Shape 9"/>
          <p:cNvSpPr/>
          <p:nvPr/>
        </p:nvSpPr>
        <p:spPr>
          <a:xfrm>
            <a:off x="4617720" y="1810512"/>
            <a:ext cx="457200" cy="457200"/>
          </a:xfrm>
          <a:prstGeom prst="ellipse">
            <a:avLst/>
          </a:prstGeom>
          <a:solidFill>
            <a:srgbClr val="DD6027"/>
          </a:solidFill>
          <a:ln w="12700">
            <a:solidFill>
              <a:srgbClr val="DD6027"/>
            </a:solidFill>
            <a:prstDash val="solid"/>
          </a:ln>
        </p:spPr>
      </p:sp>
      <p:sp>
        <p:nvSpPr>
          <p:cNvPr id="12" name="Text 10"/>
          <p:cNvSpPr txBox="1"/>
          <p:nvPr/>
        </p:nvSpPr>
        <p:spPr>
          <a:xfrm>
            <a:off x="4617720"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1"/>
          <p:cNvSpPr txBox="1"/>
          <p:nvPr/>
        </p:nvSpPr>
        <p:spPr>
          <a:xfrm>
            <a:off x="5212080" y="1856232"/>
            <a:ext cx="2377440" cy="384048"/>
          </a:xfrm>
          <a:prstGeom prst="rect">
            <a:avLst/>
          </a:prstGeom>
          <a:noFill/>
          <a:ln/>
        </p:spPr>
        <p:txBody>
          <a:bodyPr wrap="square" lIns="0" tIns="0" rIns="0" bIns="0" rtlCol="0" anchor="ctr"/>
          <a:lstStyle/>
          <a:p>
            <a:pPr indent="0" marL="0">
              <a:buNone/>
            </a:pPr>
            <a:r>
              <a:rPr lang="en-US" sz="1900" b="1" dirty="0">
                <a:solidFill>
                  <a:srgbClr val="16222E"/>
                </a:solidFill>
                <a:latin typeface="Cambria" pitchFamily="34" charset="0"/>
                <a:ea typeface="Cambria" pitchFamily="34" charset="-122"/>
                <a:cs typeface="Cambria" pitchFamily="34" charset="-120"/>
              </a:rPr>
              <a:t>Tool loop</a:t>
            </a:r>
            <a:endParaRPr lang="en-US" sz="1900" dirty="0"/>
          </a:p>
        </p:txBody>
      </p:sp>
      <p:sp>
        <p:nvSpPr>
          <p:cNvPr id="14" name="Text 12"/>
          <p:cNvSpPr txBox="1"/>
          <p:nvPr/>
        </p:nvSpPr>
        <p:spPr>
          <a:xfrm>
            <a:off x="4617720" y="2423160"/>
            <a:ext cx="2834640" cy="77724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Identical tools and report schema. No ordering imposed.</a:t>
            </a:r>
            <a:endParaRPr lang="en-US" sz="1300" dirty="0"/>
          </a:p>
        </p:txBody>
      </p:sp>
      <p:sp>
        <p:nvSpPr>
          <p:cNvPr id="15" name="Shape 13"/>
          <p:cNvSpPr/>
          <p:nvPr/>
        </p:nvSpPr>
        <p:spPr>
          <a:xfrm>
            <a:off x="6035040" y="3310128"/>
            <a:ext cx="0" cy="457200"/>
          </a:xfrm>
          <a:prstGeom prst="line">
            <a:avLst/>
          </a:prstGeom>
          <a:noFill/>
          <a:ln w="19050">
            <a:solidFill>
              <a:srgbClr val="8496A6"/>
            </a:solidFill>
            <a:prstDash val="solid"/>
            <a:tailEnd type="triangle"/>
          </a:ln>
        </p:spPr>
      </p:sp>
      <p:sp>
        <p:nvSpPr>
          <p:cNvPr id="16" name="Shape 14"/>
          <p:cNvSpPr/>
          <p:nvPr/>
        </p:nvSpPr>
        <p:spPr>
          <a:xfrm>
            <a:off x="7955280" y="1572768"/>
            <a:ext cx="3474720" cy="1737360"/>
          </a:xfrm>
          <a:prstGeom prst="roundRect">
            <a:avLst>
              <a:gd name="adj" fmla="val 3158"/>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7" name="Shape 15"/>
          <p:cNvSpPr/>
          <p:nvPr/>
        </p:nvSpPr>
        <p:spPr>
          <a:xfrm>
            <a:off x="8275320" y="1810512"/>
            <a:ext cx="457200" cy="457200"/>
          </a:xfrm>
          <a:prstGeom prst="ellipse">
            <a:avLst/>
          </a:prstGeom>
          <a:solidFill>
            <a:srgbClr val="129B68"/>
          </a:solidFill>
          <a:ln w="12700">
            <a:solidFill>
              <a:srgbClr val="129B68"/>
            </a:solidFill>
            <a:prstDash val="solid"/>
          </a:ln>
        </p:spPr>
      </p:sp>
      <p:sp>
        <p:nvSpPr>
          <p:cNvPr id="18" name="Text 16"/>
          <p:cNvSpPr txBox="1"/>
          <p:nvPr/>
        </p:nvSpPr>
        <p:spPr>
          <a:xfrm>
            <a:off x="8275320" y="181051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9" name="Text 17"/>
          <p:cNvSpPr txBox="1"/>
          <p:nvPr/>
        </p:nvSpPr>
        <p:spPr>
          <a:xfrm>
            <a:off x="8869680" y="1856232"/>
            <a:ext cx="2377440" cy="384048"/>
          </a:xfrm>
          <a:prstGeom prst="rect">
            <a:avLst/>
          </a:prstGeom>
          <a:noFill/>
          <a:ln/>
        </p:spPr>
        <p:txBody>
          <a:bodyPr wrap="square" lIns="0" tIns="0" rIns="0" bIns="0" rtlCol="0" anchor="ctr"/>
          <a:lstStyle/>
          <a:p>
            <a:pPr indent="0" marL="0">
              <a:buNone/>
            </a:pPr>
            <a:r>
              <a:rPr lang="en-US" sz="1900" b="1" dirty="0">
                <a:solidFill>
                  <a:srgbClr val="16222E"/>
                </a:solidFill>
                <a:latin typeface="Cambria" pitchFamily="34" charset="0"/>
                <a:ea typeface="Cambria" pitchFamily="34" charset="-122"/>
                <a:cs typeface="Cambria" pitchFamily="34" charset="-120"/>
              </a:rPr>
              <a:t>Protocol</a:t>
            </a:r>
            <a:endParaRPr lang="en-US" sz="1900" dirty="0"/>
          </a:p>
        </p:txBody>
      </p:sp>
      <p:sp>
        <p:nvSpPr>
          <p:cNvPr id="20" name="Text 18"/>
          <p:cNvSpPr txBox="1"/>
          <p:nvPr/>
        </p:nvSpPr>
        <p:spPr>
          <a:xfrm>
            <a:off x="8275320" y="2423160"/>
            <a:ext cx="2834640" cy="77724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A state machine that must validate the design first.</a:t>
            </a:r>
            <a:endParaRPr lang="en-US" sz="1300" dirty="0"/>
          </a:p>
        </p:txBody>
      </p:sp>
      <p:sp>
        <p:nvSpPr>
          <p:cNvPr id="21" name="Shape 19"/>
          <p:cNvSpPr/>
          <p:nvPr/>
        </p:nvSpPr>
        <p:spPr>
          <a:xfrm>
            <a:off x="9692640" y="3310128"/>
            <a:ext cx="0" cy="457200"/>
          </a:xfrm>
          <a:prstGeom prst="line">
            <a:avLst/>
          </a:prstGeom>
          <a:noFill/>
          <a:ln w="19050">
            <a:solidFill>
              <a:srgbClr val="8496A6"/>
            </a:solidFill>
            <a:prstDash val="solid"/>
            <a:tailEnd type="triangle"/>
          </a:ln>
        </p:spPr>
      </p:sp>
      <p:sp>
        <p:nvSpPr>
          <p:cNvPr id="22" name="Shape 20"/>
          <p:cNvSpPr/>
          <p:nvPr/>
        </p:nvSpPr>
        <p:spPr>
          <a:xfrm>
            <a:off x="640080" y="3822192"/>
            <a:ext cx="10881360" cy="1234440"/>
          </a:xfrm>
          <a:prstGeom prst="roundRect">
            <a:avLst>
              <a:gd name="adj" fmla="val 4444"/>
            </a:avLst>
          </a:prstGeom>
          <a:solidFill>
            <a:srgbClr val="14202B"/>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3" name="Text 21"/>
          <p:cNvSpPr txBox="1"/>
          <p:nvPr/>
        </p:nvSpPr>
        <p:spPr>
          <a:xfrm>
            <a:off x="1005840" y="4005072"/>
            <a:ext cx="3657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SHARED CORE</a:t>
            </a:r>
            <a:endParaRPr lang="en-US" sz="1100" dirty="0"/>
          </a:p>
        </p:txBody>
      </p:sp>
      <p:sp>
        <p:nvSpPr>
          <p:cNvPr id="24" name="Text 22"/>
          <p:cNvSpPr txBox="1"/>
          <p:nvPr/>
        </p:nvSpPr>
        <p:spPr>
          <a:xfrm>
            <a:off x="1005840" y="4370832"/>
            <a:ext cx="2468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Tool registry</a:t>
            </a:r>
            <a:endParaRPr lang="en-US" sz="1700" dirty="0"/>
          </a:p>
        </p:txBody>
      </p:sp>
      <p:sp>
        <p:nvSpPr>
          <p:cNvPr id="25" name="Text 23"/>
          <p:cNvSpPr txBox="1"/>
          <p:nvPr/>
        </p:nvSpPr>
        <p:spPr>
          <a:xfrm>
            <a:off x="3703320" y="4370832"/>
            <a:ext cx="2468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Result store</a:t>
            </a:r>
            <a:endParaRPr lang="en-US" sz="1700" dirty="0"/>
          </a:p>
        </p:txBody>
      </p:sp>
      <p:sp>
        <p:nvSpPr>
          <p:cNvPr id="26" name="Text 24"/>
          <p:cNvSpPr txBox="1"/>
          <p:nvPr/>
        </p:nvSpPr>
        <p:spPr>
          <a:xfrm>
            <a:off x="6400800" y="4370832"/>
            <a:ext cx="2468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Report schema</a:t>
            </a:r>
            <a:endParaRPr lang="en-US" sz="1700" dirty="0"/>
          </a:p>
        </p:txBody>
      </p:sp>
      <p:sp>
        <p:nvSpPr>
          <p:cNvPr id="27" name="Text 25"/>
          <p:cNvSpPr txBox="1"/>
          <p:nvPr/>
        </p:nvSpPr>
        <p:spPr>
          <a:xfrm>
            <a:off x="9098280" y="4370832"/>
            <a:ext cx="246888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Trace log</a:t>
            </a:r>
            <a:endParaRPr lang="en-US" sz="1700" dirty="0"/>
          </a:p>
        </p:txBody>
      </p:sp>
      <p:sp>
        <p:nvSpPr>
          <p:cNvPr id="28" name="Text 26"/>
          <p:cNvSpPr txBox="1"/>
          <p:nvPr/>
        </p:nvSpPr>
        <p:spPr>
          <a:xfrm>
            <a:off x="640080" y="5285232"/>
            <a:ext cx="10881360" cy="685800"/>
          </a:xfrm>
          <a:prstGeom prst="rect">
            <a:avLst/>
          </a:prstGeom>
          <a:noFill/>
          <a:ln/>
        </p:spPr>
        <p:txBody>
          <a:bodyPr wrap="square" lIns="0" tIns="0" rIns="0" bIns="0" rtlCol="0" anchor="ctr"/>
          <a:lstStyle/>
          <a:p>
            <a:pPr indent="0" marL="0">
              <a:lnSpc>
                <a:spcPts val="2100"/>
              </a:lnSpc>
              <a:buNone/>
            </a:pPr>
            <a:r>
              <a:rPr lang="en-US" sz="1450" i="1" dirty="0">
                <a:solidFill>
                  <a:srgbClr val="4A5A69"/>
                </a:solidFill>
                <a:latin typeface="Calibri" pitchFamily="34" charset="0"/>
                <a:ea typeface="Calibri" pitchFamily="34" charset="-122"/>
                <a:cs typeface="Calibri" pitchFamily="34" charset="-120"/>
              </a:rPr>
              <a:t>Only control flow differs. Baseline fairness is therefore provable from the repository layout rather than asserted: there is no code path on which A or B could have been disadvantaged.</a:t>
            </a:r>
            <a:endParaRPr lang="en-US" sz="1450" dirty="0"/>
          </a:p>
        </p:txBody>
      </p:sp>
      <p:sp>
        <p:nvSpPr>
          <p:cNvPr id="29" name="Text 27"/>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SYSTEM C</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structured agent's decision protocol</a:t>
            </a:r>
            <a:endParaRPr lang="en-US" sz="3000" dirty="0"/>
          </a:p>
        </p:txBody>
      </p:sp>
      <p:sp>
        <p:nvSpPr>
          <p:cNvPr id="4" name="Shape 2"/>
          <p:cNvSpPr/>
          <p:nvPr/>
        </p:nvSpPr>
        <p:spPr>
          <a:xfrm>
            <a:off x="640080" y="1783080"/>
            <a:ext cx="1444752" cy="2514600"/>
          </a:xfrm>
          <a:prstGeom prst="roundRect">
            <a:avLst>
              <a:gd name="adj" fmla="val 379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804672" y="1956816"/>
            <a:ext cx="548640" cy="502920"/>
          </a:xfrm>
          <a:prstGeom prst="rect">
            <a:avLst/>
          </a:prstGeom>
          <a:noFill/>
          <a:ln/>
        </p:spPr>
        <p:txBody>
          <a:bodyPr wrap="square" lIns="0" tIns="0" rIns="0" bIns="0" rtlCol="0" anchor="ctr"/>
          <a:lstStyle/>
          <a:p>
            <a:pPr indent="0" marL="0">
              <a:buNone/>
            </a:pPr>
            <a:r>
              <a:rPr lang="en-US" sz="2800" b="1" dirty="0">
                <a:solidFill>
                  <a:srgbClr val="8496A6"/>
                </a:solidFill>
                <a:latin typeface="Cambria" pitchFamily="34" charset="0"/>
                <a:ea typeface="Cambria" pitchFamily="34" charset="-122"/>
                <a:cs typeface="Cambria" pitchFamily="34" charset="-120"/>
              </a:rPr>
              <a:t>1</a:t>
            </a:r>
            <a:endParaRPr lang="en-US" sz="2800" dirty="0"/>
          </a:p>
        </p:txBody>
      </p:sp>
      <p:sp>
        <p:nvSpPr>
          <p:cNvPr id="6" name="Text 4"/>
          <p:cNvSpPr txBox="1"/>
          <p:nvPr/>
        </p:nvSpPr>
        <p:spPr>
          <a:xfrm>
            <a:off x="804672" y="2542032"/>
            <a:ext cx="1170432" cy="566928"/>
          </a:xfrm>
          <a:prstGeom prst="rect">
            <a:avLst/>
          </a:prstGeom>
          <a:noFill/>
          <a:ln/>
        </p:spPr>
        <p:txBody>
          <a:bodyPr wrap="square" lIns="0" tIns="0" rIns="0" bIns="0" rtlCol="0" anchor="ctr"/>
          <a:lstStyle/>
          <a:p>
            <a:pPr indent="0" marL="0">
              <a:lnSpc>
                <a:spcPts val="1700"/>
              </a:lnSpc>
              <a:buNone/>
            </a:pPr>
            <a:r>
              <a:rPr lang="en-US" sz="1400" b="1" dirty="0">
                <a:solidFill>
                  <a:srgbClr val="16222E"/>
                </a:solidFill>
                <a:latin typeface="Calibri" pitchFamily="34" charset="0"/>
                <a:ea typeface="Calibri" pitchFamily="34" charset="-122"/>
                <a:cs typeface="Calibri" pitchFamily="34" charset="-120"/>
              </a:rPr>
              <a:t>Parse</a:t>
            </a:r>
            <a:endParaRPr lang="en-US" sz="1400" dirty="0"/>
          </a:p>
        </p:txBody>
      </p:sp>
      <p:sp>
        <p:nvSpPr>
          <p:cNvPr id="7" name="Text 5"/>
          <p:cNvSpPr txBox="1"/>
          <p:nvPr/>
        </p:nvSpPr>
        <p:spPr>
          <a:xfrm>
            <a:off x="804672" y="3154680"/>
            <a:ext cx="1170432" cy="1051560"/>
          </a:xfrm>
          <a:prstGeom prst="rect">
            <a:avLst/>
          </a:prstGeom>
          <a:noFill/>
          <a:ln/>
        </p:spPr>
        <p:txBody>
          <a:bodyPr wrap="square" lIns="0" tIns="0" rIns="0" bIns="0" rtlCol="0" anchor="ctr"/>
          <a:lstStyle/>
          <a:p>
            <a:pPr indent="0" marL="0">
              <a:lnSpc>
                <a:spcPts val="1500"/>
              </a:lnSpc>
              <a:buNone/>
            </a:pPr>
            <a:r>
              <a:rPr lang="en-US" sz="1150" dirty="0">
                <a:solidFill>
                  <a:srgbClr val="4A5A69"/>
                </a:solidFill>
                <a:latin typeface="Calibri" pitchFamily="34" charset="0"/>
                <a:ea typeface="Calibri" pitchFamily="34" charset="-122"/>
                <a:cs typeface="Calibri" pitchFamily="34" charset="-120"/>
              </a:rPr>
              <a:t>Question, variables and outcome type</a:t>
            </a:r>
            <a:endParaRPr lang="en-US" sz="1150" dirty="0"/>
          </a:p>
        </p:txBody>
      </p:sp>
      <p:sp>
        <p:nvSpPr>
          <p:cNvPr id="8" name="Shape 6"/>
          <p:cNvSpPr/>
          <p:nvPr/>
        </p:nvSpPr>
        <p:spPr>
          <a:xfrm>
            <a:off x="2194560" y="1783080"/>
            <a:ext cx="1444752" cy="2514600"/>
          </a:xfrm>
          <a:prstGeom prst="roundRect">
            <a:avLst>
              <a:gd name="adj" fmla="val 3797"/>
            </a:avLst>
          </a:prstGeom>
          <a:solidFill>
            <a:srgbClr val="EAF6F0"/>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9" name="Text 7"/>
          <p:cNvSpPr txBox="1"/>
          <p:nvPr/>
        </p:nvSpPr>
        <p:spPr>
          <a:xfrm>
            <a:off x="2359152" y="1956816"/>
            <a:ext cx="548640" cy="502920"/>
          </a:xfrm>
          <a:prstGeom prst="rect">
            <a:avLst/>
          </a:prstGeom>
          <a:noFill/>
          <a:ln/>
        </p:spPr>
        <p:txBody>
          <a:bodyPr wrap="square" lIns="0" tIns="0" rIns="0" bIns="0" rtlCol="0" anchor="ctr"/>
          <a:lstStyle/>
          <a:p>
            <a:pPr indent="0" marL="0">
              <a:buNone/>
            </a:pPr>
            <a:r>
              <a:rPr lang="en-US" sz="2800" b="1" dirty="0">
                <a:solidFill>
                  <a:srgbClr val="129B68"/>
                </a:solidFill>
                <a:latin typeface="Cambria" pitchFamily="34" charset="0"/>
                <a:ea typeface="Cambria" pitchFamily="34" charset="-122"/>
                <a:cs typeface="Cambria" pitchFamily="34" charset="-120"/>
              </a:rPr>
              <a:t>2</a:t>
            </a:r>
            <a:endParaRPr lang="en-US" sz="2800" dirty="0"/>
          </a:p>
        </p:txBody>
      </p:sp>
      <p:sp>
        <p:nvSpPr>
          <p:cNvPr id="10" name="Text 8"/>
          <p:cNvSpPr txBox="1"/>
          <p:nvPr/>
        </p:nvSpPr>
        <p:spPr>
          <a:xfrm>
            <a:off x="2359152" y="2542032"/>
            <a:ext cx="1170432" cy="566928"/>
          </a:xfrm>
          <a:prstGeom prst="rect">
            <a:avLst/>
          </a:prstGeom>
          <a:noFill/>
          <a:ln/>
        </p:spPr>
        <p:txBody>
          <a:bodyPr wrap="square" lIns="0" tIns="0" rIns="0" bIns="0" rtlCol="0" anchor="ctr"/>
          <a:lstStyle/>
          <a:p>
            <a:pPr indent="0" marL="0">
              <a:lnSpc>
                <a:spcPts val="1700"/>
              </a:lnSpc>
              <a:buNone/>
            </a:pPr>
            <a:r>
              <a:rPr lang="en-US" sz="1400" b="1" dirty="0">
                <a:solidFill>
                  <a:srgbClr val="16222E"/>
                </a:solidFill>
                <a:latin typeface="Calibri" pitchFamily="34" charset="0"/>
                <a:ea typeface="Calibri" pitchFamily="34" charset="-122"/>
                <a:cs typeface="Calibri" pitchFamily="34" charset="-120"/>
              </a:rPr>
              <a:t>Validate design</a:t>
            </a:r>
            <a:endParaRPr lang="en-US" sz="1400" dirty="0"/>
          </a:p>
        </p:txBody>
      </p:sp>
      <p:sp>
        <p:nvSpPr>
          <p:cNvPr id="11" name="Text 9"/>
          <p:cNvSpPr txBox="1"/>
          <p:nvPr/>
        </p:nvSpPr>
        <p:spPr>
          <a:xfrm>
            <a:off x="2359152" y="3154680"/>
            <a:ext cx="1170432" cy="1051560"/>
          </a:xfrm>
          <a:prstGeom prst="rect">
            <a:avLst/>
          </a:prstGeom>
          <a:noFill/>
          <a:ln/>
        </p:spPr>
        <p:txBody>
          <a:bodyPr wrap="square" lIns="0" tIns="0" rIns="0" bIns="0" rtlCol="0" anchor="ctr"/>
          <a:lstStyle/>
          <a:p>
            <a:pPr indent="0" marL="0">
              <a:lnSpc>
                <a:spcPts val="1500"/>
              </a:lnSpc>
              <a:buNone/>
            </a:pPr>
            <a:r>
              <a:rPr lang="en-US" sz="1150" dirty="0">
                <a:solidFill>
                  <a:srgbClr val="4A5A69"/>
                </a:solidFill>
                <a:latin typeface="Calibri" pitchFamily="34" charset="0"/>
                <a:ea typeface="Calibri" pitchFamily="34" charset="-122"/>
                <a:cs typeface="Calibri" pitchFamily="34" charset="-120"/>
              </a:rPr>
              <a:t>Independence, pairing, time order, clustering</a:t>
            </a:r>
            <a:endParaRPr lang="en-US" sz="1150" dirty="0"/>
          </a:p>
        </p:txBody>
      </p:sp>
      <p:sp>
        <p:nvSpPr>
          <p:cNvPr id="12" name="Shape 10"/>
          <p:cNvSpPr/>
          <p:nvPr/>
        </p:nvSpPr>
        <p:spPr>
          <a:xfrm>
            <a:off x="3749040" y="1783080"/>
            <a:ext cx="1444752" cy="2514600"/>
          </a:xfrm>
          <a:prstGeom prst="roundRect">
            <a:avLst>
              <a:gd name="adj" fmla="val 379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3" name="Text 11"/>
          <p:cNvSpPr txBox="1"/>
          <p:nvPr/>
        </p:nvSpPr>
        <p:spPr>
          <a:xfrm>
            <a:off x="3913632" y="1956816"/>
            <a:ext cx="548640" cy="502920"/>
          </a:xfrm>
          <a:prstGeom prst="rect">
            <a:avLst/>
          </a:prstGeom>
          <a:noFill/>
          <a:ln/>
        </p:spPr>
        <p:txBody>
          <a:bodyPr wrap="square" lIns="0" tIns="0" rIns="0" bIns="0" rtlCol="0" anchor="ctr"/>
          <a:lstStyle/>
          <a:p>
            <a:pPr indent="0" marL="0">
              <a:buNone/>
            </a:pPr>
            <a:r>
              <a:rPr lang="en-US" sz="2800" b="1" dirty="0">
                <a:solidFill>
                  <a:srgbClr val="8496A6"/>
                </a:solidFill>
                <a:latin typeface="Cambria" pitchFamily="34" charset="0"/>
                <a:ea typeface="Cambria" pitchFamily="34" charset="-122"/>
                <a:cs typeface="Cambria" pitchFamily="34" charset="-120"/>
              </a:rPr>
              <a:t>3</a:t>
            </a:r>
            <a:endParaRPr lang="en-US" sz="2800" dirty="0"/>
          </a:p>
        </p:txBody>
      </p:sp>
      <p:sp>
        <p:nvSpPr>
          <p:cNvPr id="14" name="Text 12"/>
          <p:cNvSpPr txBox="1"/>
          <p:nvPr/>
        </p:nvSpPr>
        <p:spPr>
          <a:xfrm>
            <a:off x="3913632" y="2542032"/>
            <a:ext cx="1170432" cy="566928"/>
          </a:xfrm>
          <a:prstGeom prst="rect">
            <a:avLst/>
          </a:prstGeom>
          <a:noFill/>
          <a:ln/>
        </p:spPr>
        <p:txBody>
          <a:bodyPr wrap="square" lIns="0" tIns="0" rIns="0" bIns="0" rtlCol="0" anchor="ctr"/>
          <a:lstStyle/>
          <a:p>
            <a:pPr indent="0" marL="0">
              <a:lnSpc>
                <a:spcPts val="1700"/>
              </a:lnSpc>
              <a:buNone/>
            </a:pPr>
            <a:r>
              <a:rPr lang="en-US" sz="1400" b="1" dirty="0">
                <a:solidFill>
                  <a:srgbClr val="16222E"/>
                </a:solidFill>
                <a:latin typeface="Calibri" pitchFamily="34" charset="0"/>
                <a:ea typeface="Calibri" pitchFamily="34" charset="-122"/>
                <a:cs typeface="Calibri" pitchFamily="34" charset="-120"/>
              </a:rPr>
              <a:t>Enumerate</a:t>
            </a:r>
            <a:endParaRPr lang="en-US" sz="1400" dirty="0"/>
          </a:p>
        </p:txBody>
      </p:sp>
      <p:sp>
        <p:nvSpPr>
          <p:cNvPr id="15" name="Text 13"/>
          <p:cNvSpPr txBox="1"/>
          <p:nvPr/>
        </p:nvSpPr>
        <p:spPr>
          <a:xfrm>
            <a:off x="3913632" y="3154680"/>
            <a:ext cx="1170432" cy="1051560"/>
          </a:xfrm>
          <a:prstGeom prst="rect">
            <a:avLst/>
          </a:prstGeom>
          <a:noFill/>
          <a:ln/>
        </p:spPr>
        <p:txBody>
          <a:bodyPr wrap="square" lIns="0" tIns="0" rIns="0" bIns="0" rtlCol="0" anchor="ctr"/>
          <a:lstStyle/>
          <a:p>
            <a:pPr indent="0" marL="0">
              <a:lnSpc>
                <a:spcPts val="1500"/>
              </a:lnSpc>
              <a:buNone/>
            </a:pPr>
            <a:r>
              <a:rPr lang="en-US" sz="1150" dirty="0">
                <a:solidFill>
                  <a:srgbClr val="4A5A69"/>
                </a:solidFill>
                <a:latin typeface="Calibri" pitchFamily="34" charset="0"/>
                <a:ea typeface="Calibri" pitchFamily="34" charset="-122"/>
                <a:cs typeface="Calibri" pitchFamily="34" charset="-120"/>
              </a:rPr>
              <a:t>Candidate methods the design admits</a:t>
            </a:r>
            <a:endParaRPr lang="en-US" sz="1150" dirty="0"/>
          </a:p>
        </p:txBody>
      </p:sp>
      <p:sp>
        <p:nvSpPr>
          <p:cNvPr id="16" name="Shape 14"/>
          <p:cNvSpPr/>
          <p:nvPr/>
        </p:nvSpPr>
        <p:spPr>
          <a:xfrm>
            <a:off x="5303520" y="1783080"/>
            <a:ext cx="1444752" cy="2514600"/>
          </a:xfrm>
          <a:prstGeom prst="roundRect">
            <a:avLst>
              <a:gd name="adj" fmla="val 379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7" name="Text 15"/>
          <p:cNvSpPr txBox="1"/>
          <p:nvPr/>
        </p:nvSpPr>
        <p:spPr>
          <a:xfrm>
            <a:off x="5468112" y="1956816"/>
            <a:ext cx="548640" cy="502920"/>
          </a:xfrm>
          <a:prstGeom prst="rect">
            <a:avLst/>
          </a:prstGeom>
          <a:noFill/>
          <a:ln/>
        </p:spPr>
        <p:txBody>
          <a:bodyPr wrap="square" lIns="0" tIns="0" rIns="0" bIns="0" rtlCol="0" anchor="ctr"/>
          <a:lstStyle/>
          <a:p>
            <a:pPr indent="0" marL="0">
              <a:buNone/>
            </a:pPr>
            <a:r>
              <a:rPr lang="en-US" sz="2800" b="1" dirty="0">
                <a:solidFill>
                  <a:srgbClr val="8496A6"/>
                </a:solidFill>
                <a:latin typeface="Cambria" pitchFamily="34" charset="0"/>
                <a:ea typeface="Cambria" pitchFamily="34" charset="-122"/>
                <a:cs typeface="Cambria" pitchFamily="34" charset="-120"/>
              </a:rPr>
              <a:t>4</a:t>
            </a:r>
            <a:endParaRPr lang="en-US" sz="2800" dirty="0"/>
          </a:p>
        </p:txBody>
      </p:sp>
      <p:sp>
        <p:nvSpPr>
          <p:cNvPr id="18" name="Text 16"/>
          <p:cNvSpPr txBox="1"/>
          <p:nvPr/>
        </p:nvSpPr>
        <p:spPr>
          <a:xfrm>
            <a:off x="5468112" y="2542032"/>
            <a:ext cx="1170432" cy="566928"/>
          </a:xfrm>
          <a:prstGeom prst="rect">
            <a:avLst/>
          </a:prstGeom>
          <a:noFill/>
          <a:ln/>
        </p:spPr>
        <p:txBody>
          <a:bodyPr wrap="square" lIns="0" tIns="0" rIns="0" bIns="0" rtlCol="0" anchor="ctr"/>
          <a:lstStyle/>
          <a:p>
            <a:pPr indent="0" marL="0">
              <a:lnSpc>
                <a:spcPts val="1700"/>
              </a:lnSpc>
              <a:buNone/>
            </a:pPr>
            <a:r>
              <a:rPr lang="en-US" sz="1400" b="1" dirty="0">
                <a:solidFill>
                  <a:srgbClr val="16222E"/>
                </a:solidFill>
                <a:latin typeface="Calibri" pitchFamily="34" charset="0"/>
                <a:ea typeface="Calibri" pitchFamily="34" charset="-122"/>
                <a:cs typeface="Calibri" pitchFamily="34" charset="-120"/>
              </a:rPr>
              <a:t>Diagnose</a:t>
            </a:r>
            <a:endParaRPr lang="en-US" sz="1400" dirty="0"/>
          </a:p>
        </p:txBody>
      </p:sp>
      <p:sp>
        <p:nvSpPr>
          <p:cNvPr id="19" name="Text 17"/>
          <p:cNvSpPr txBox="1"/>
          <p:nvPr/>
        </p:nvSpPr>
        <p:spPr>
          <a:xfrm>
            <a:off x="5468112" y="3154680"/>
            <a:ext cx="1170432" cy="1051560"/>
          </a:xfrm>
          <a:prstGeom prst="rect">
            <a:avLst/>
          </a:prstGeom>
          <a:noFill/>
          <a:ln/>
        </p:spPr>
        <p:txBody>
          <a:bodyPr wrap="square" lIns="0" tIns="0" rIns="0" bIns="0" rtlCol="0" anchor="ctr"/>
          <a:lstStyle/>
          <a:p>
            <a:pPr indent="0" marL="0">
              <a:lnSpc>
                <a:spcPts val="1500"/>
              </a:lnSpc>
              <a:buNone/>
            </a:pPr>
            <a:r>
              <a:rPr lang="en-US" sz="1150" dirty="0">
                <a:solidFill>
                  <a:srgbClr val="4A5A69"/>
                </a:solidFill>
                <a:latin typeface="Calibri" pitchFamily="34" charset="0"/>
                <a:ea typeface="Calibri" pitchFamily="34" charset="-122"/>
                <a:cs typeface="Calibri" pitchFamily="34" charset="-120"/>
              </a:rPr>
              <a:t>Only the checks that could change the choice</a:t>
            </a:r>
            <a:endParaRPr lang="en-US" sz="1150" dirty="0"/>
          </a:p>
        </p:txBody>
      </p:sp>
      <p:sp>
        <p:nvSpPr>
          <p:cNvPr id="20" name="Shape 18"/>
          <p:cNvSpPr/>
          <p:nvPr/>
        </p:nvSpPr>
        <p:spPr>
          <a:xfrm>
            <a:off x="6858000" y="1783080"/>
            <a:ext cx="1444752" cy="2514600"/>
          </a:xfrm>
          <a:prstGeom prst="roundRect">
            <a:avLst>
              <a:gd name="adj" fmla="val 3797"/>
            </a:avLst>
          </a:prstGeom>
          <a:solidFill>
            <a:srgbClr val="EAF6F0"/>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1" name="Text 19"/>
          <p:cNvSpPr txBox="1"/>
          <p:nvPr/>
        </p:nvSpPr>
        <p:spPr>
          <a:xfrm>
            <a:off x="7022592" y="1956816"/>
            <a:ext cx="548640" cy="502920"/>
          </a:xfrm>
          <a:prstGeom prst="rect">
            <a:avLst/>
          </a:prstGeom>
          <a:noFill/>
          <a:ln/>
        </p:spPr>
        <p:txBody>
          <a:bodyPr wrap="square" lIns="0" tIns="0" rIns="0" bIns="0" rtlCol="0" anchor="ctr"/>
          <a:lstStyle/>
          <a:p>
            <a:pPr indent="0" marL="0">
              <a:buNone/>
            </a:pPr>
            <a:r>
              <a:rPr lang="en-US" sz="2800" b="1" dirty="0">
                <a:solidFill>
                  <a:srgbClr val="129B68"/>
                </a:solidFill>
                <a:latin typeface="Cambria" pitchFamily="34" charset="0"/>
                <a:ea typeface="Cambria" pitchFamily="34" charset="-122"/>
                <a:cs typeface="Cambria" pitchFamily="34" charset="-120"/>
              </a:rPr>
              <a:t>5</a:t>
            </a:r>
            <a:endParaRPr lang="en-US" sz="2800" dirty="0"/>
          </a:p>
        </p:txBody>
      </p:sp>
      <p:sp>
        <p:nvSpPr>
          <p:cNvPr id="22" name="Text 20"/>
          <p:cNvSpPr txBox="1"/>
          <p:nvPr/>
        </p:nvSpPr>
        <p:spPr>
          <a:xfrm>
            <a:off x="7022592" y="2542032"/>
            <a:ext cx="1170432" cy="566928"/>
          </a:xfrm>
          <a:prstGeom prst="rect">
            <a:avLst/>
          </a:prstGeom>
          <a:noFill/>
          <a:ln/>
        </p:spPr>
        <p:txBody>
          <a:bodyPr wrap="square" lIns="0" tIns="0" rIns="0" bIns="0" rtlCol="0" anchor="ctr"/>
          <a:lstStyle/>
          <a:p>
            <a:pPr indent="0" marL="0">
              <a:lnSpc>
                <a:spcPts val="1700"/>
              </a:lnSpc>
              <a:buNone/>
            </a:pPr>
            <a:r>
              <a:rPr lang="en-US" sz="1400" b="1" dirty="0">
                <a:solidFill>
                  <a:srgbClr val="16222E"/>
                </a:solidFill>
                <a:latin typeface="Calibri" pitchFamily="34" charset="0"/>
                <a:ea typeface="Calibri" pitchFamily="34" charset="-122"/>
                <a:cs typeface="Calibri" pitchFamily="34" charset="-120"/>
              </a:rPr>
              <a:t>Select or abstain</a:t>
            </a:r>
            <a:endParaRPr lang="en-US" sz="1400" dirty="0"/>
          </a:p>
        </p:txBody>
      </p:sp>
      <p:sp>
        <p:nvSpPr>
          <p:cNvPr id="23" name="Text 21"/>
          <p:cNvSpPr txBox="1"/>
          <p:nvPr/>
        </p:nvSpPr>
        <p:spPr>
          <a:xfrm>
            <a:off x="7022592" y="3154680"/>
            <a:ext cx="1170432" cy="1051560"/>
          </a:xfrm>
          <a:prstGeom prst="rect">
            <a:avLst/>
          </a:prstGeom>
          <a:noFill/>
          <a:ln/>
        </p:spPr>
        <p:txBody>
          <a:bodyPr wrap="square" lIns="0" tIns="0" rIns="0" bIns="0" rtlCol="0" anchor="ctr"/>
          <a:lstStyle/>
          <a:p>
            <a:pPr indent="0" marL="0">
              <a:lnSpc>
                <a:spcPts val="1500"/>
              </a:lnSpc>
              <a:buNone/>
            </a:pPr>
            <a:r>
              <a:rPr lang="en-US" sz="1150" dirty="0">
                <a:solidFill>
                  <a:srgbClr val="4A5A69"/>
                </a:solidFill>
                <a:latin typeface="Calibri" pitchFamily="34" charset="0"/>
                <a:ea typeface="Calibri" pitchFamily="34" charset="-122"/>
                <a:cs typeface="Calibri" pitchFamily="34" charset="-120"/>
              </a:rPr>
              <a:t>Choose, or decline with a stated reason</a:t>
            </a:r>
            <a:endParaRPr lang="en-US" sz="1150" dirty="0"/>
          </a:p>
        </p:txBody>
      </p:sp>
      <p:sp>
        <p:nvSpPr>
          <p:cNvPr id="24" name="Shape 22"/>
          <p:cNvSpPr/>
          <p:nvPr/>
        </p:nvSpPr>
        <p:spPr>
          <a:xfrm>
            <a:off x="8412480" y="1783080"/>
            <a:ext cx="1444752" cy="2514600"/>
          </a:xfrm>
          <a:prstGeom prst="roundRect">
            <a:avLst>
              <a:gd name="adj" fmla="val 379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5" name="Text 23"/>
          <p:cNvSpPr txBox="1"/>
          <p:nvPr/>
        </p:nvSpPr>
        <p:spPr>
          <a:xfrm>
            <a:off x="8577072" y="1956816"/>
            <a:ext cx="548640" cy="502920"/>
          </a:xfrm>
          <a:prstGeom prst="rect">
            <a:avLst/>
          </a:prstGeom>
          <a:noFill/>
          <a:ln/>
        </p:spPr>
        <p:txBody>
          <a:bodyPr wrap="square" lIns="0" tIns="0" rIns="0" bIns="0" rtlCol="0" anchor="ctr"/>
          <a:lstStyle/>
          <a:p>
            <a:pPr indent="0" marL="0">
              <a:buNone/>
            </a:pPr>
            <a:r>
              <a:rPr lang="en-US" sz="2800" b="1" dirty="0">
                <a:solidFill>
                  <a:srgbClr val="8496A6"/>
                </a:solidFill>
                <a:latin typeface="Cambria" pitchFamily="34" charset="0"/>
                <a:ea typeface="Cambria" pitchFamily="34" charset="-122"/>
                <a:cs typeface="Cambria" pitchFamily="34" charset="-120"/>
              </a:rPr>
              <a:t>6</a:t>
            </a:r>
            <a:endParaRPr lang="en-US" sz="2800" dirty="0"/>
          </a:p>
        </p:txBody>
      </p:sp>
      <p:sp>
        <p:nvSpPr>
          <p:cNvPr id="26" name="Text 24"/>
          <p:cNvSpPr txBox="1"/>
          <p:nvPr/>
        </p:nvSpPr>
        <p:spPr>
          <a:xfrm>
            <a:off x="8577072" y="2542032"/>
            <a:ext cx="1170432" cy="566928"/>
          </a:xfrm>
          <a:prstGeom prst="rect">
            <a:avLst/>
          </a:prstGeom>
          <a:noFill/>
          <a:ln/>
        </p:spPr>
        <p:txBody>
          <a:bodyPr wrap="square" lIns="0" tIns="0" rIns="0" bIns="0" rtlCol="0" anchor="ctr"/>
          <a:lstStyle/>
          <a:p>
            <a:pPr indent="0" marL="0">
              <a:lnSpc>
                <a:spcPts val="1700"/>
              </a:lnSpc>
              <a:buNone/>
            </a:pPr>
            <a:r>
              <a:rPr lang="en-US" sz="1400" b="1" dirty="0">
                <a:solidFill>
                  <a:srgbClr val="16222E"/>
                </a:solidFill>
                <a:latin typeface="Calibri" pitchFamily="34" charset="0"/>
                <a:ea typeface="Calibri" pitchFamily="34" charset="-122"/>
                <a:cs typeface="Calibri" pitchFamily="34" charset="-120"/>
              </a:rPr>
              <a:t>Execute</a:t>
            </a:r>
            <a:endParaRPr lang="en-US" sz="1400" dirty="0"/>
          </a:p>
        </p:txBody>
      </p:sp>
      <p:sp>
        <p:nvSpPr>
          <p:cNvPr id="27" name="Text 25"/>
          <p:cNvSpPr txBox="1"/>
          <p:nvPr/>
        </p:nvSpPr>
        <p:spPr>
          <a:xfrm>
            <a:off x="8577072" y="3154680"/>
            <a:ext cx="1170432" cy="1051560"/>
          </a:xfrm>
          <a:prstGeom prst="rect">
            <a:avLst/>
          </a:prstGeom>
          <a:noFill/>
          <a:ln/>
        </p:spPr>
        <p:txBody>
          <a:bodyPr wrap="square" lIns="0" tIns="0" rIns="0" bIns="0" rtlCol="0" anchor="ctr"/>
          <a:lstStyle/>
          <a:p>
            <a:pPr indent="0" marL="0">
              <a:lnSpc>
                <a:spcPts val="1500"/>
              </a:lnSpc>
              <a:buNone/>
            </a:pPr>
            <a:r>
              <a:rPr lang="en-US" sz="1150" dirty="0">
                <a:solidFill>
                  <a:srgbClr val="4A5A69"/>
                </a:solidFill>
                <a:latin typeface="Calibri" pitchFamily="34" charset="0"/>
                <a:ea typeface="Calibri" pitchFamily="34" charset="-122"/>
                <a:cs typeface="Calibri" pitchFamily="34" charset="-120"/>
              </a:rPr>
              <a:t>Run through a validated statistical library</a:t>
            </a:r>
            <a:endParaRPr lang="en-US" sz="1150" dirty="0"/>
          </a:p>
        </p:txBody>
      </p:sp>
      <p:sp>
        <p:nvSpPr>
          <p:cNvPr id="28" name="Shape 26"/>
          <p:cNvSpPr/>
          <p:nvPr/>
        </p:nvSpPr>
        <p:spPr>
          <a:xfrm>
            <a:off x="9966960" y="1783080"/>
            <a:ext cx="1444752" cy="2514600"/>
          </a:xfrm>
          <a:prstGeom prst="roundRect">
            <a:avLst>
              <a:gd name="adj" fmla="val 379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9" name="Text 27"/>
          <p:cNvSpPr txBox="1"/>
          <p:nvPr/>
        </p:nvSpPr>
        <p:spPr>
          <a:xfrm>
            <a:off x="10131552" y="1956816"/>
            <a:ext cx="548640" cy="502920"/>
          </a:xfrm>
          <a:prstGeom prst="rect">
            <a:avLst/>
          </a:prstGeom>
          <a:noFill/>
          <a:ln/>
        </p:spPr>
        <p:txBody>
          <a:bodyPr wrap="square" lIns="0" tIns="0" rIns="0" bIns="0" rtlCol="0" anchor="ctr"/>
          <a:lstStyle/>
          <a:p>
            <a:pPr indent="0" marL="0">
              <a:buNone/>
            </a:pPr>
            <a:r>
              <a:rPr lang="en-US" sz="2800" b="1" dirty="0">
                <a:solidFill>
                  <a:srgbClr val="8496A6"/>
                </a:solidFill>
                <a:latin typeface="Cambria" pitchFamily="34" charset="0"/>
                <a:ea typeface="Cambria" pitchFamily="34" charset="-122"/>
                <a:cs typeface="Cambria" pitchFamily="34" charset="-120"/>
              </a:rPr>
              <a:t>7</a:t>
            </a:r>
            <a:endParaRPr lang="en-US" sz="2800" dirty="0"/>
          </a:p>
        </p:txBody>
      </p:sp>
      <p:sp>
        <p:nvSpPr>
          <p:cNvPr id="30" name="Text 28"/>
          <p:cNvSpPr txBox="1"/>
          <p:nvPr/>
        </p:nvSpPr>
        <p:spPr>
          <a:xfrm>
            <a:off x="10131552" y="2542032"/>
            <a:ext cx="1170432" cy="566928"/>
          </a:xfrm>
          <a:prstGeom prst="rect">
            <a:avLst/>
          </a:prstGeom>
          <a:noFill/>
          <a:ln/>
        </p:spPr>
        <p:txBody>
          <a:bodyPr wrap="square" lIns="0" tIns="0" rIns="0" bIns="0" rtlCol="0" anchor="ctr"/>
          <a:lstStyle/>
          <a:p>
            <a:pPr indent="0" marL="0">
              <a:lnSpc>
                <a:spcPts val="1700"/>
              </a:lnSpc>
              <a:buNone/>
            </a:pPr>
            <a:r>
              <a:rPr lang="en-US" sz="1400" b="1" dirty="0">
                <a:solidFill>
                  <a:srgbClr val="16222E"/>
                </a:solidFill>
                <a:latin typeface="Calibri" pitchFamily="34" charset="0"/>
                <a:ea typeface="Calibri" pitchFamily="34" charset="-122"/>
                <a:cs typeface="Calibri" pitchFamily="34" charset="-120"/>
              </a:rPr>
              <a:t>Verify</a:t>
            </a:r>
            <a:endParaRPr lang="en-US" sz="1400" dirty="0"/>
          </a:p>
        </p:txBody>
      </p:sp>
      <p:sp>
        <p:nvSpPr>
          <p:cNvPr id="31" name="Text 29"/>
          <p:cNvSpPr txBox="1"/>
          <p:nvPr/>
        </p:nvSpPr>
        <p:spPr>
          <a:xfrm>
            <a:off x="10131552" y="3154680"/>
            <a:ext cx="1170432" cy="1051560"/>
          </a:xfrm>
          <a:prstGeom prst="rect">
            <a:avLst/>
          </a:prstGeom>
          <a:noFill/>
          <a:ln/>
        </p:spPr>
        <p:txBody>
          <a:bodyPr wrap="square" lIns="0" tIns="0" rIns="0" bIns="0" rtlCol="0" anchor="ctr"/>
          <a:lstStyle/>
          <a:p>
            <a:pPr indent="0" marL="0">
              <a:lnSpc>
                <a:spcPts val="1500"/>
              </a:lnSpc>
              <a:buNone/>
            </a:pPr>
            <a:r>
              <a:rPr lang="en-US" sz="1150" dirty="0">
                <a:solidFill>
                  <a:srgbClr val="4A5A69"/>
                </a:solidFill>
                <a:latin typeface="Calibri" pitchFamily="34" charset="0"/>
                <a:ea typeface="Calibri" pitchFamily="34" charset="-122"/>
                <a:cs typeface="Calibri" pitchFamily="34" charset="-120"/>
              </a:rPr>
              <a:t>Check the report against every recorded result</a:t>
            </a:r>
            <a:endParaRPr lang="en-US" sz="1150" dirty="0"/>
          </a:p>
        </p:txBody>
      </p:sp>
      <p:sp>
        <p:nvSpPr>
          <p:cNvPr id="32" name="Shape 30"/>
          <p:cNvSpPr/>
          <p:nvPr/>
        </p:nvSpPr>
        <p:spPr>
          <a:xfrm>
            <a:off x="640080" y="4572000"/>
            <a:ext cx="10881360" cy="1280160"/>
          </a:xfrm>
          <a:prstGeom prst="roundRect">
            <a:avLst>
              <a:gd name="adj" fmla="val 4286"/>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33" name="Text 31"/>
          <p:cNvSpPr txBox="1"/>
          <p:nvPr/>
        </p:nvSpPr>
        <p:spPr>
          <a:xfrm>
            <a:off x="1005840" y="4773168"/>
            <a:ext cx="10058400" cy="365760"/>
          </a:xfrm>
          <a:prstGeom prst="rect">
            <a:avLst/>
          </a:prstGeom>
          <a:noFill/>
          <a:ln/>
        </p:spPr>
        <p:txBody>
          <a:bodyPr wrap="square" lIns="0" tIns="0" rIns="0" bIns="0" rtlCol="0" anchor="ctr"/>
          <a:lstStyle/>
          <a:p>
            <a:pPr indent="0" marL="0">
              <a:buNone/>
            </a:pPr>
            <a:r>
              <a:rPr lang="en-US" sz="1600" b="1" dirty="0">
                <a:solidFill>
                  <a:srgbClr val="129B68"/>
                </a:solidFill>
                <a:latin typeface="Calibri" pitchFamily="34" charset="0"/>
                <a:ea typeface="Calibri" pitchFamily="34" charset="-122"/>
                <a:cs typeface="Calibri" pitchFamily="34" charset="-120"/>
              </a:rPr>
              <a:t>Steps 2 and 5 carry the result.</a:t>
            </a:r>
            <a:endParaRPr lang="en-US" sz="1600" dirty="0"/>
          </a:p>
        </p:txBody>
      </p:sp>
      <p:sp>
        <p:nvSpPr>
          <p:cNvPr id="34" name="Text 32"/>
          <p:cNvSpPr txBox="1"/>
          <p:nvPr/>
        </p:nvSpPr>
        <p:spPr>
          <a:xfrm>
            <a:off x="1005840" y="5138928"/>
            <a:ext cx="10149840" cy="640080"/>
          </a:xfrm>
          <a:prstGeom prst="rect">
            <a:avLst/>
          </a:prstGeom>
          <a:noFill/>
          <a:ln/>
        </p:spPr>
        <p:txBody>
          <a:bodyPr wrap="square" lIns="0" tIns="0" rIns="0" bIns="0" rtlCol="0" anchor="ctr"/>
          <a:lstStyle/>
          <a:p>
            <a:pPr indent="0" marL="0">
              <a:lnSpc>
                <a:spcPts val="1900"/>
              </a:lnSpc>
              <a:buNone/>
            </a:pPr>
            <a:r>
              <a:rPr lang="en-US" sz="1350" dirty="0">
                <a:solidFill>
                  <a:srgbClr val="4A5A69"/>
                </a:solidFill>
                <a:latin typeface="Calibri" pitchFamily="34" charset="0"/>
                <a:ea typeface="Calibri" pitchFamily="34" charset="-122"/>
                <a:cs typeface="Calibri" pitchFamily="34" charset="-120"/>
              </a:rPr>
              <a:t>Design validation gates everything downstream: a hazard found at step 2 removes methods before any diagnostic runs, so a clean-looking normality test can never talk the system into a method the design rules out.</a:t>
            </a:r>
            <a:endParaRPr lang="en-US" sz="1350" dirty="0"/>
          </a:p>
        </p:txBody>
      </p:sp>
      <p:sp>
        <p:nvSpPr>
          <p:cNvPr id="35" name="Text 33"/>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THE MODEL CANNOT WRITE A NUMBER</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provenance contract</a:t>
            </a:r>
            <a:endParaRPr lang="en-US" sz="3000" dirty="0"/>
          </a:p>
        </p:txBody>
      </p:sp>
      <p:sp>
        <p:nvSpPr>
          <p:cNvPr id="4" name="Text 2"/>
          <p:cNvSpPr txBox="1"/>
          <p:nvPr/>
        </p:nvSpPr>
        <p:spPr>
          <a:xfrm>
            <a:off x="640080" y="1572768"/>
            <a:ext cx="10881360" cy="457200"/>
          </a:xfrm>
          <a:prstGeom prst="rect">
            <a:avLst/>
          </a:prstGeom>
          <a:noFill/>
          <a:ln/>
        </p:spPr>
        <p:txBody>
          <a:bodyPr wrap="square" lIns="0" tIns="0" rIns="0" bIns="0" rtlCol="0" anchor="ctr"/>
          <a:lstStyle/>
          <a:p>
            <a:pPr indent="0" marL="0">
              <a:buNone/>
            </a:pPr>
            <a:r>
              <a:rPr lang="en-US" sz="1800" b="1" dirty="0">
                <a:solidFill>
                  <a:srgbClr val="16222E"/>
                </a:solidFill>
                <a:latin typeface="Cambria" pitchFamily="34" charset="0"/>
                <a:ea typeface="Cambria" pitchFamily="34" charset="-122"/>
                <a:cs typeface="Cambria" pitchFamily="34" charset="-120"/>
              </a:rPr>
              <a:t>Rather than inspecting a finished report for fabrication, fabrication is made structurally impossible.</a:t>
            </a:r>
            <a:endParaRPr lang="en-US" sz="1800" dirty="0"/>
          </a:p>
        </p:txBody>
      </p:sp>
      <p:sp>
        <p:nvSpPr>
          <p:cNvPr id="5" name="Shape 3"/>
          <p:cNvSpPr/>
          <p:nvPr/>
        </p:nvSpPr>
        <p:spPr>
          <a:xfrm>
            <a:off x="640080" y="2286000"/>
            <a:ext cx="2606040" cy="2148840"/>
          </a:xfrm>
          <a:prstGeom prst="roundRect">
            <a:avLst>
              <a:gd name="adj" fmla="val 2553"/>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6" name="Text 4"/>
          <p:cNvSpPr txBox="1"/>
          <p:nvPr/>
        </p:nvSpPr>
        <p:spPr>
          <a:xfrm>
            <a:off x="914400" y="2487168"/>
            <a:ext cx="548640" cy="502920"/>
          </a:xfrm>
          <a:prstGeom prst="rect">
            <a:avLst/>
          </a:prstGeom>
          <a:noFill/>
          <a:ln/>
        </p:spPr>
        <p:txBody>
          <a:bodyPr wrap="square" lIns="0" tIns="0" rIns="0" bIns="0" rtlCol="0" anchor="ctr"/>
          <a:lstStyle/>
          <a:p>
            <a:pPr indent="0" marL="0">
              <a:buNone/>
            </a:pPr>
            <a:r>
              <a:rPr lang="en-US" sz="2800" b="1" dirty="0">
                <a:solidFill>
                  <a:srgbClr val="129B68"/>
                </a:solidFill>
                <a:latin typeface="Cambria" pitchFamily="34" charset="0"/>
                <a:ea typeface="Cambria" pitchFamily="34" charset="-122"/>
                <a:cs typeface="Cambria" pitchFamily="34" charset="-120"/>
              </a:rPr>
              <a:t>1</a:t>
            </a:r>
            <a:endParaRPr lang="en-US" sz="2800" dirty="0"/>
          </a:p>
        </p:txBody>
      </p:sp>
      <p:sp>
        <p:nvSpPr>
          <p:cNvPr id="7" name="Text 5"/>
          <p:cNvSpPr txBox="1"/>
          <p:nvPr/>
        </p:nvSpPr>
        <p:spPr>
          <a:xfrm>
            <a:off x="914400" y="3035808"/>
            <a:ext cx="2103120" cy="384048"/>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Registered</a:t>
            </a:r>
            <a:endParaRPr lang="en-US" sz="1600" dirty="0"/>
          </a:p>
        </p:txBody>
      </p:sp>
      <p:sp>
        <p:nvSpPr>
          <p:cNvPr id="8" name="Text 6"/>
          <p:cNvSpPr txBox="1"/>
          <p:nvPr/>
        </p:nvSpPr>
        <p:spPr>
          <a:xfrm>
            <a:off x="914400" y="3456432"/>
            <a:ext cx="2103120" cy="868680"/>
          </a:xfrm>
          <a:prstGeom prst="rect">
            <a:avLst/>
          </a:prstGeom>
          <a:noFill/>
          <a:ln/>
        </p:spPr>
        <p:txBody>
          <a:bodyPr wrap="square" lIns="0" tIns="0" rIns="0" bIns="0" rtlCol="0" anchor="ctr"/>
          <a:lstStyle/>
          <a:p>
            <a:pPr indent="0" marL="0">
              <a:lnSpc>
                <a:spcPts val="1700"/>
              </a:lnSpc>
              <a:buNone/>
            </a:pPr>
            <a:r>
              <a:rPr lang="en-US" sz="1250" dirty="0">
                <a:solidFill>
                  <a:srgbClr val="4A5A69"/>
                </a:solidFill>
                <a:latin typeface="Calibri" pitchFamily="34" charset="0"/>
                <a:ea typeface="Calibri" pitchFamily="34" charset="-122"/>
                <a:cs typeface="Calibri" pitchFamily="34" charset="-120"/>
              </a:rPr>
              <a:t>Every tool result is stored under a stable key in a run-scoped store.</a:t>
            </a:r>
            <a:endParaRPr lang="en-US" sz="1250" dirty="0"/>
          </a:p>
        </p:txBody>
      </p:sp>
      <p:sp>
        <p:nvSpPr>
          <p:cNvPr id="9" name="Shape 7"/>
          <p:cNvSpPr/>
          <p:nvPr/>
        </p:nvSpPr>
        <p:spPr>
          <a:xfrm>
            <a:off x="3410712" y="2286000"/>
            <a:ext cx="2606040" cy="2148840"/>
          </a:xfrm>
          <a:prstGeom prst="roundRect">
            <a:avLst>
              <a:gd name="adj" fmla="val 2553"/>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0" name="Text 8"/>
          <p:cNvSpPr txBox="1"/>
          <p:nvPr/>
        </p:nvSpPr>
        <p:spPr>
          <a:xfrm>
            <a:off x="3685032" y="2487168"/>
            <a:ext cx="548640" cy="502920"/>
          </a:xfrm>
          <a:prstGeom prst="rect">
            <a:avLst/>
          </a:prstGeom>
          <a:noFill/>
          <a:ln/>
        </p:spPr>
        <p:txBody>
          <a:bodyPr wrap="square" lIns="0" tIns="0" rIns="0" bIns="0" rtlCol="0" anchor="ctr"/>
          <a:lstStyle/>
          <a:p>
            <a:pPr indent="0" marL="0">
              <a:buNone/>
            </a:pPr>
            <a:r>
              <a:rPr lang="en-US" sz="2800" b="1" dirty="0">
                <a:solidFill>
                  <a:srgbClr val="129B68"/>
                </a:solidFill>
                <a:latin typeface="Cambria" pitchFamily="34" charset="0"/>
                <a:ea typeface="Cambria" pitchFamily="34" charset="-122"/>
                <a:cs typeface="Cambria" pitchFamily="34" charset="-120"/>
              </a:rPr>
              <a:t>2</a:t>
            </a:r>
            <a:endParaRPr lang="en-US" sz="2800" dirty="0"/>
          </a:p>
        </p:txBody>
      </p:sp>
      <p:sp>
        <p:nvSpPr>
          <p:cNvPr id="11" name="Text 9"/>
          <p:cNvSpPr txBox="1"/>
          <p:nvPr/>
        </p:nvSpPr>
        <p:spPr>
          <a:xfrm>
            <a:off x="3685032" y="3035808"/>
            <a:ext cx="2103120" cy="384048"/>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Rejected</a:t>
            </a:r>
            <a:endParaRPr lang="en-US" sz="1600" dirty="0"/>
          </a:p>
        </p:txBody>
      </p:sp>
      <p:sp>
        <p:nvSpPr>
          <p:cNvPr id="12" name="Text 10"/>
          <p:cNvSpPr txBox="1"/>
          <p:nvPr/>
        </p:nvSpPr>
        <p:spPr>
          <a:xfrm>
            <a:off x="3685032" y="3456432"/>
            <a:ext cx="2103120" cy="868680"/>
          </a:xfrm>
          <a:prstGeom prst="rect">
            <a:avLst/>
          </a:prstGeom>
          <a:noFill/>
          <a:ln/>
        </p:spPr>
        <p:txBody>
          <a:bodyPr wrap="square" lIns="0" tIns="0" rIns="0" bIns="0" rtlCol="0" anchor="ctr"/>
          <a:lstStyle/>
          <a:p>
            <a:pPr indent="0" marL="0">
              <a:lnSpc>
                <a:spcPts val="1700"/>
              </a:lnSpc>
              <a:buNone/>
            </a:pPr>
            <a:r>
              <a:rPr lang="en-US" sz="1250" dirty="0">
                <a:solidFill>
                  <a:srgbClr val="4A5A69"/>
                </a:solidFill>
                <a:latin typeface="Calibri" pitchFamily="34" charset="0"/>
                <a:ea typeface="Calibri" pitchFamily="34" charset="-122"/>
                <a:cs typeface="Calibri" pitchFamily="34" charset="-120"/>
              </a:rPr>
              <a:t>The report schema refuses raw numeric literals in prose.</a:t>
            </a:r>
            <a:endParaRPr lang="en-US" sz="1250" dirty="0"/>
          </a:p>
        </p:txBody>
      </p:sp>
      <p:sp>
        <p:nvSpPr>
          <p:cNvPr id="13" name="Shape 11"/>
          <p:cNvSpPr/>
          <p:nvPr/>
        </p:nvSpPr>
        <p:spPr>
          <a:xfrm>
            <a:off x="6181344" y="2286000"/>
            <a:ext cx="2606040" cy="2148840"/>
          </a:xfrm>
          <a:prstGeom prst="roundRect">
            <a:avLst>
              <a:gd name="adj" fmla="val 2553"/>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4" name="Text 12"/>
          <p:cNvSpPr txBox="1"/>
          <p:nvPr/>
        </p:nvSpPr>
        <p:spPr>
          <a:xfrm>
            <a:off x="6455664" y="2487168"/>
            <a:ext cx="548640" cy="502920"/>
          </a:xfrm>
          <a:prstGeom prst="rect">
            <a:avLst/>
          </a:prstGeom>
          <a:noFill/>
          <a:ln/>
        </p:spPr>
        <p:txBody>
          <a:bodyPr wrap="square" lIns="0" tIns="0" rIns="0" bIns="0" rtlCol="0" anchor="ctr"/>
          <a:lstStyle/>
          <a:p>
            <a:pPr indent="0" marL="0">
              <a:buNone/>
            </a:pPr>
            <a:r>
              <a:rPr lang="en-US" sz="2800" b="1" dirty="0">
                <a:solidFill>
                  <a:srgbClr val="129B68"/>
                </a:solidFill>
                <a:latin typeface="Cambria" pitchFamily="34" charset="0"/>
                <a:ea typeface="Cambria" pitchFamily="34" charset="-122"/>
                <a:cs typeface="Cambria" pitchFamily="34" charset="-120"/>
              </a:rPr>
              <a:t>3</a:t>
            </a:r>
            <a:endParaRPr lang="en-US" sz="2800" dirty="0"/>
          </a:p>
        </p:txBody>
      </p:sp>
      <p:sp>
        <p:nvSpPr>
          <p:cNvPr id="15" name="Text 13"/>
          <p:cNvSpPr txBox="1"/>
          <p:nvPr/>
        </p:nvSpPr>
        <p:spPr>
          <a:xfrm>
            <a:off x="6455664" y="3035808"/>
            <a:ext cx="2103120" cy="384048"/>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Referenced</a:t>
            </a:r>
            <a:endParaRPr lang="en-US" sz="1600" dirty="0"/>
          </a:p>
        </p:txBody>
      </p:sp>
      <p:sp>
        <p:nvSpPr>
          <p:cNvPr id="16" name="Text 14"/>
          <p:cNvSpPr txBox="1"/>
          <p:nvPr/>
        </p:nvSpPr>
        <p:spPr>
          <a:xfrm>
            <a:off x="6455664" y="3456432"/>
            <a:ext cx="2103120" cy="868680"/>
          </a:xfrm>
          <a:prstGeom prst="rect">
            <a:avLst/>
          </a:prstGeom>
          <a:noFill/>
          <a:ln/>
        </p:spPr>
        <p:txBody>
          <a:bodyPr wrap="square" lIns="0" tIns="0" rIns="0" bIns="0" rtlCol="0" anchor="ctr"/>
          <a:lstStyle/>
          <a:p>
            <a:pPr indent="0" marL="0">
              <a:lnSpc>
                <a:spcPts val="1700"/>
              </a:lnSpc>
              <a:buNone/>
            </a:pPr>
            <a:r>
              <a:rPr lang="en-US" sz="1250" dirty="0">
                <a:solidFill>
                  <a:srgbClr val="4A5A69"/>
                </a:solidFill>
                <a:latin typeface="Calibri" pitchFamily="34" charset="0"/>
                <a:ea typeface="Calibri" pitchFamily="34" charset="-122"/>
                <a:cs typeface="Calibri" pitchFamily="34" charset="-120"/>
              </a:rPr>
              <a:t>The model writes a reference such as {{r7.welch_t.p_value}}.</a:t>
            </a:r>
            <a:endParaRPr lang="en-US" sz="1250" dirty="0"/>
          </a:p>
        </p:txBody>
      </p:sp>
      <p:sp>
        <p:nvSpPr>
          <p:cNvPr id="17" name="Shape 15"/>
          <p:cNvSpPr/>
          <p:nvPr/>
        </p:nvSpPr>
        <p:spPr>
          <a:xfrm>
            <a:off x="8951976" y="2286000"/>
            <a:ext cx="2606040" cy="2148840"/>
          </a:xfrm>
          <a:prstGeom prst="roundRect">
            <a:avLst>
              <a:gd name="adj" fmla="val 2553"/>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8" name="Text 16"/>
          <p:cNvSpPr txBox="1"/>
          <p:nvPr/>
        </p:nvSpPr>
        <p:spPr>
          <a:xfrm>
            <a:off x="9226296" y="2487168"/>
            <a:ext cx="548640" cy="502920"/>
          </a:xfrm>
          <a:prstGeom prst="rect">
            <a:avLst/>
          </a:prstGeom>
          <a:noFill/>
          <a:ln/>
        </p:spPr>
        <p:txBody>
          <a:bodyPr wrap="square" lIns="0" tIns="0" rIns="0" bIns="0" rtlCol="0" anchor="ctr"/>
          <a:lstStyle/>
          <a:p>
            <a:pPr indent="0" marL="0">
              <a:buNone/>
            </a:pPr>
            <a:r>
              <a:rPr lang="en-US" sz="2800" b="1" dirty="0">
                <a:solidFill>
                  <a:srgbClr val="DD6027"/>
                </a:solidFill>
                <a:latin typeface="Cambria" pitchFamily="34" charset="0"/>
                <a:ea typeface="Cambria" pitchFamily="34" charset="-122"/>
                <a:cs typeface="Cambria" pitchFamily="34" charset="-120"/>
              </a:rPr>
              <a:t>4</a:t>
            </a:r>
            <a:endParaRPr lang="en-US" sz="2800" dirty="0"/>
          </a:p>
        </p:txBody>
      </p:sp>
      <p:sp>
        <p:nvSpPr>
          <p:cNvPr id="19" name="Text 17"/>
          <p:cNvSpPr txBox="1"/>
          <p:nvPr/>
        </p:nvSpPr>
        <p:spPr>
          <a:xfrm>
            <a:off x="9226296" y="3035808"/>
            <a:ext cx="2103120" cy="384048"/>
          </a:xfrm>
          <a:prstGeom prst="rect">
            <a:avLst/>
          </a:prstGeom>
          <a:noFill/>
          <a:ln/>
        </p:spPr>
        <p:txBody>
          <a:bodyPr wrap="square" lIns="0" tIns="0" rIns="0" bIns="0" rtlCol="0" anchor="ctr"/>
          <a:lstStyle/>
          <a:p>
            <a:pPr indent="0" marL="0">
              <a:buNone/>
            </a:pPr>
            <a:r>
              <a:rPr lang="en-US" sz="1600" b="1" dirty="0">
                <a:solidFill>
                  <a:srgbClr val="16222E"/>
                </a:solidFill>
                <a:latin typeface="Calibri" pitchFamily="34" charset="0"/>
                <a:ea typeface="Calibri" pitchFamily="34" charset="-122"/>
                <a:cs typeface="Calibri" pitchFamily="34" charset="-120"/>
              </a:rPr>
              <a:t>Resolved</a:t>
            </a:r>
            <a:endParaRPr lang="en-US" sz="1600" dirty="0"/>
          </a:p>
        </p:txBody>
      </p:sp>
      <p:sp>
        <p:nvSpPr>
          <p:cNvPr id="20" name="Text 18"/>
          <p:cNvSpPr txBox="1"/>
          <p:nvPr/>
        </p:nvSpPr>
        <p:spPr>
          <a:xfrm>
            <a:off x="9226296" y="3456432"/>
            <a:ext cx="2103120" cy="868680"/>
          </a:xfrm>
          <a:prstGeom prst="rect">
            <a:avLst/>
          </a:prstGeom>
          <a:noFill/>
          <a:ln/>
        </p:spPr>
        <p:txBody>
          <a:bodyPr wrap="square" lIns="0" tIns="0" rIns="0" bIns="0" rtlCol="0" anchor="ctr"/>
          <a:lstStyle/>
          <a:p>
            <a:pPr indent="0" marL="0">
              <a:lnSpc>
                <a:spcPts val="1700"/>
              </a:lnSpc>
              <a:buNone/>
            </a:pPr>
            <a:r>
              <a:rPr lang="en-US" sz="1250" dirty="0">
                <a:solidFill>
                  <a:srgbClr val="4A5A69"/>
                </a:solidFill>
                <a:latin typeface="Calibri" pitchFamily="34" charset="0"/>
                <a:ea typeface="Calibri" pitchFamily="34" charset="-122"/>
                <a:cs typeface="Calibri" pitchFamily="34" charset="-120"/>
              </a:rPr>
              <a:t>References are substituted at render; an unknown one fails the run.</a:t>
            </a:r>
            <a:endParaRPr lang="en-US" sz="1250" dirty="0"/>
          </a:p>
        </p:txBody>
      </p:sp>
      <p:sp>
        <p:nvSpPr>
          <p:cNvPr id="21" name="Shape 19"/>
          <p:cNvSpPr/>
          <p:nvPr/>
        </p:nvSpPr>
        <p:spPr>
          <a:xfrm>
            <a:off x="640080" y="4681728"/>
            <a:ext cx="10881360" cy="1143000"/>
          </a:xfrm>
          <a:prstGeom prst="roundRect">
            <a:avLst>
              <a:gd name="adj" fmla="val 480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2" name="Text 20"/>
          <p:cNvSpPr txBox="1"/>
          <p:nvPr/>
        </p:nvSpPr>
        <p:spPr>
          <a:xfrm>
            <a:off x="1005840" y="4864608"/>
            <a:ext cx="3657600" cy="320040"/>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Stated honestly</a:t>
            </a:r>
            <a:endParaRPr lang="en-US" sz="1400" dirty="0"/>
          </a:p>
        </p:txBody>
      </p:sp>
      <p:sp>
        <p:nvSpPr>
          <p:cNvPr id="23" name="Text 21"/>
          <p:cNvSpPr txBox="1"/>
          <p:nvPr/>
        </p:nvSpPr>
        <p:spPr>
          <a:xfrm>
            <a:off x="1005840" y="5184648"/>
            <a:ext cx="10149840" cy="566928"/>
          </a:xfrm>
          <a:prstGeom prst="rect">
            <a:avLst/>
          </a:prstGeom>
          <a:noFill/>
          <a:ln/>
        </p:spPr>
        <p:txBody>
          <a:bodyPr wrap="square" lIns="0" tIns="0" rIns="0" bIns="0" rtlCol="0" anchor="ctr"/>
          <a:lstStyle/>
          <a:p>
            <a:pPr indent="0" marL="0">
              <a:lnSpc>
                <a:spcPts val="1900"/>
              </a:lnSpc>
              <a:buNone/>
            </a:pPr>
            <a:r>
              <a:rPr lang="en-US" sz="1350" dirty="0">
                <a:solidFill>
                  <a:srgbClr val="4A5A69"/>
                </a:solidFill>
                <a:latin typeface="Calibri" pitchFamily="34" charset="0"/>
                <a:ea typeface="Calibri" pitchFamily="34" charset="-122"/>
                <a:cs typeface="Calibri" pitchFamily="34" charset="-120"/>
              </a:rPr>
              <a:t>For System C this makes numerical fidelity an architectural guarantee, not an empirical finding. Its measurable counterpart is how often the model reached for a reference that did not exist.</a:t>
            </a:r>
            <a:endParaRPr lang="en-US" sz="1350" dirty="0"/>
          </a:p>
        </p:txBody>
      </p:sp>
      <p:sp>
        <p:nvSpPr>
          <p:cNvPr id="24" name="Text 22"/>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METHOD · DATA</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The benchmark: 64 cases, none hand-authored</a:t>
            </a:r>
            <a:endParaRPr lang="en-US" sz="3000" dirty="0"/>
          </a:p>
        </p:txBody>
      </p:sp>
      <p:sp>
        <p:nvSpPr>
          <p:cNvPr id="4" name="Text 2"/>
          <p:cNvSpPr txBox="1"/>
          <p:nvPr/>
        </p:nvSpPr>
        <p:spPr>
          <a:xfrm>
            <a:off x="640080" y="1600200"/>
            <a:ext cx="1280160" cy="777240"/>
          </a:xfrm>
          <a:prstGeom prst="rect">
            <a:avLst/>
          </a:prstGeom>
          <a:noFill/>
          <a:ln/>
        </p:spPr>
        <p:txBody>
          <a:bodyPr wrap="square" lIns="0" tIns="0" rIns="0" bIns="0" rtlCol="0" anchor="ctr"/>
          <a:lstStyle/>
          <a:p>
            <a:pPr indent="0" marL="0">
              <a:buNone/>
            </a:pPr>
            <a:r>
              <a:rPr lang="en-US" sz="4400" b="1" dirty="0">
                <a:solidFill>
                  <a:srgbClr val="129B68"/>
                </a:solidFill>
                <a:latin typeface="Cambria" pitchFamily="34" charset="0"/>
                <a:ea typeface="Cambria" pitchFamily="34" charset="-122"/>
                <a:cs typeface="Cambria" pitchFamily="34" charset="-120"/>
              </a:rPr>
              <a:t>64</a:t>
            </a:r>
            <a:endParaRPr lang="en-US" sz="4400" dirty="0"/>
          </a:p>
        </p:txBody>
      </p:sp>
      <p:sp>
        <p:nvSpPr>
          <p:cNvPr id="5" name="Text 3"/>
          <p:cNvSpPr txBox="1"/>
          <p:nvPr/>
        </p:nvSpPr>
        <p:spPr>
          <a:xfrm>
            <a:off x="640080" y="2359152"/>
            <a:ext cx="1280160" cy="292608"/>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cases</a:t>
            </a:r>
            <a:endParaRPr lang="en-US" sz="1300" dirty="0"/>
          </a:p>
        </p:txBody>
      </p:sp>
      <p:sp>
        <p:nvSpPr>
          <p:cNvPr id="6" name="Text 4"/>
          <p:cNvSpPr txBox="1"/>
          <p:nvPr/>
        </p:nvSpPr>
        <p:spPr>
          <a:xfrm>
            <a:off x="2011680" y="1600200"/>
            <a:ext cx="1280160" cy="777240"/>
          </a:xfrm>
          <a:prstGeom prst="rect">
            <a:avLst/>
          </a:prstGeom>
          <a:noFill/>
          <a:ln/>
        </p:spPr>
        <p:txBody>
          <a:bodyPr wrap="square" lIns="0" tIns="0" rIns="0" bIns="0" rtlCol="0" anchor="ctr"/>
          <a:lstStyle/>
          <a:p>
            <a:pPr indent="0" marL="0">
              <a:buNone/>
            </a:pPr>
            <a:r>
              <a:rPr lang="en-US" sz="4400" b="1" dirty="0">
                <a:solidFill>
                  <a:srgbClr val="2F6FD0"/>
                </a:solidFill>
                <a:latin typeface="Cambria" pitchFamily="34" charset="0"/>
                <a:ea typeface="Cambria" pitchFamily="34" charset="-122"/>
                <a:cs typeface="Cambria" pitchFamily="34" charset="-120"/>
              </a:rPr>
              <a:t>52</a:t>
            </a:r>
            <a:endParaRPr lang="en-US" sz="4400" dirty="0"/>
          </a:p>
        </p:txBody>
      </p:sp>
      <p:sp>
        <p:nvSpPr>
          <p:cNvPr id="7" name="Text 5"/>
          <p:cNvSpPr txBox="1"/>
          <p:nvPr/>
        </p:nvSpPr>
        <p:spPr>
          <a:xfrm>
            <a:off x="2011680" y="2359152"/>
            <a:ext cx="1280160" cy="292608"/>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supported</a:t>
            </a:r>
            <a:endParaRPr lang="en-US" sz="1300" dirty="0"/>
          </a:p>
        </p:txBody>
      </p:sp>
      <p:sp>
        <p:nvSpPr>
          <p:cNvPr id="8" name="Text 6"/>
          <p:cNvSpPr txBox="1"/>
          <p:nvPr/>
        </p:nvSpPr>
        <p:spPr>
          <a:xfrm>
            <a:off x="3383280" y="1600200"/>
            <a:ext cx="1280160" cy="777240"/>
          </a:xfrm>
          <a:prstGeom prst="rect">
            <a:avLst/>
          </a:prstGeom>
          <a:noFill/>
          <a:ln/>
        </p:spPr>
        <p:txBody>
          <a:bodyPr wrap="square" lIns="0" tIns="0" rIns="0" bIns="0" rtlCol="0" anchor="ctr"/>
          <a:lstStyle/>
          <a:p>
            <a:pPr indent="0" marL="0">
              <a:buNone/>
            </a:pPr>
            <a:r>
              <a:rPr lang="en-US" sz="4400" b="1" dirty="0">
                <a:solidFill>
                  <a:srgbClr val="C8891B"/>
                </a:solidFill>
                <a:latin typeface="Cambria" pitchFamily="34" charset="0"/>
                <a:ea typeface="Cambria" pitchFamily="34" charset="-122"/>
                <a:cs typeface="Cambria" pitchFamily="34" charset="-120"/>
              </a:rPr>
              <a:t>12</a:t>
            </a:r>
            <a:endParaRPr lang="en-US" sz="4400" dirty="0"/>
          </a:p>
        </p:txBody>
      </p:sp>
      <p:sp>
        <p:nvSpPr>
          <p:cNvPr id="9" name="Text 7"/>
          <p:cNvSpPr txBox="1"/>
          <p:nvPr/>
        </p:nvSpPr>
        <p:spPr>
          <a:xfrm>
            <a:off x="3383280" y="2359152"/>
            <a:ext cx="1280160" cy="292608"/>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abstention</a:t>
            </a:r>
            <a:endParaRPr lang="en-US" sz="1300" dirty="0"/>
          </a:p>
        </p:txBody>
      </p:sp>
      <p:sp>
        <p:nvSpPr>
          <p:cNvPr id="10" name="Text 8"/>
          <p:cNvSpPr txBox="1"/>
          <p:nvPr/>
        </p:nvSpPr>
        <p:spPr>
          <a:xfrm>
            <a:off x="4754880" y="1600200"/>
            <a:ext cx="1280160" cy="777240"/>
          </a:xfrm>
          <a:prstGeom prst="rect">
            <a:avLst/>
          </a:prstGeom>
          <a:noFill/>
          <a:ln/>
        </p:spPr>
        <p:txBody>
          <a:bodyPr wrap="square" lIns="0" tIns="0" rIns="0" bIns="0" rtlCol="0" anchor="ctr"/>
          <a:lstStyle/>
          <a:p>
            <a:pPr indent="0" marL="0">
              <a:buNone/>
            </a:pPr>
            <a:r>
              <a:rPr lang="en-US" sz="4400" b="1" dirty="0">
                <a:solidFill>
                  <a:srgbClr val="14202B"/>
                </a:solidFill>
                <a:latin typeface="Cambria" pitchFamily="34" charset="0"/>
                <a:ea typeface="Cambria" pitchFamily="34" charset="-122"/>
                <a:cs typeface="Cambria" pitchFamily="34" charset="-120"/>
              </a:rPr>
              <a:t>48</a:t>
            </a:r>
            <a:endParaRPr lang="en-US" sz="4400" dirty="0"/>
          </a:p>
        </p:txBody>
      </p:sp>
      <p:sp>
        <p:nvSpPr>
          <p:cNvPr id="11" name="Text 9"/>
          <p:cNvSpPr txBox="1"/>
          <p:nvPr/>
        </p:nvSpPr>
        <p:spPr>
          <a:xfrm>
            <a:off x="4754880" y="2359152"/>
            <a:ext cx="1280160" cy="292608"/>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held out</a:t>
            </a:r>
            <a:endParaRPr lang="en-US" sz="1300" dirty="0"/>
          </a:p>
        </p:txBody>
      </p:sp>
      <p:sp>
        <p:nvSpPr>
          <p:cNvPr id="12" name="Shape 10"/>
          <p:cNvSpPr/>
          <p:nvPr/>
        </p:nvSpPr>
        <p:spPr>
          <a:xfrm>
            <a:off x="640080" y="2880360"/>
            <a:ext cx="5349240" cy="2926080"/>
          </a:xfrm>
          <a:prstGeom prst="roundRect">
            <a:avLst>
              <a:gd name="adj" fmla="val 187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3" name="Text 11"/>
          <p:cNvSpPr txBox="1"/>
          <p:nvPr/>
        </p:nvSpPr>
        <p:spPr>
          <a:xfrm>
            <a:off x="1005840" y="3108960"/>
            <a:ext cx="466344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Gold labels from the realised sample</a:t>
            </a:r>
            <a:endParaRPr lang="en-US" sz="1550" dirty="0"/>
          </a:p>
        </p:txBody>
      </p:sp>
      <p:sp>
        <p:nvSpPr>
          <p:cNvPr id="14" name="Text 12"/>
          <p:cNvSpPr txBox="1"/>
          <p:nvPr/>
        </p:nvSpPr>
        <p:spPr>
          <a:xfrm>
            <a:off x="1005840" y="3520440"/>
            <a:ext cx="4663440" cy="1371600"/>
          </a:xfrm>
          <a:prstGeom prst="rect">
            <a:avLst/>
          </a:prstGeom>
          <a:noFill/>
          <a:ln/>
        </p:spPr>
        <p:txBody>
          <a:bodyPr wrap="square" lIns="0" tIns="0" rIns="0" bIns="0" rtlCol="0" anchor="ctr"/>
          <a:lstStyle/>
          <a:p>
            <a:pPr indent="0" marL="0">
              <a:lnSpc>
                <a:spcPts val="1900"/>
              </a:lnSpc>
              <a:buNone/>
            </a:pPr>
            <a:r>
              <a:rPr lang="en-US" sz="1350" dirty="0">
                <a:solidFill>
                  <a:srgbClr val="4A5A69"/>
                </a:solidFill>
                <a:latin typeface="Calibri" pitchFamily="34" charset="0"/>
                <a:ea typeface="Calibri" pitchFamily="34" charset="-122"/>
                <a:cs typeface="Calibri" pitchFamily="34" charset="-120"/>
              </a:rPr>
              <a:t>Design facts come from the generator's parameters, because independence and pairing are properties of the design. Distributional facts come from the data actually drawn, because that is what a correct choice must respond to.</a:t>
            </a:r>
            <a:endParaRPr lang="en-US" sz="1350" dirty="0"/>
          </a:p>
        </p:txBody>
      </p:sp>
      <p:sp>
        <p:nvSpPr>
          <p:cNvPr id="15" name="Text 13"/>
          <p:cNvSpPr txBox="1"/>
          <p:nvPr/>
        </p:nvSpPr>
        <p:spPr>
          <a:xfrm>
            <a:off x="1005840" y="4956048"/>
            <a:ext cx="4663440" cy="685800"/>
          </a:xfrm>
          <a:prstGeom prst="rect">
            <a:avLst/>
          </a:prstGeom>
          <a:noFill/>
          <a:ln/>
        </p:spPr>
        <p:txBody>
          <a:bodyPr wrap="square" lIns="0" tIns="0" rIns="0" bIns="0" rtlCol="0" anchor="ctr"/>
          <a:lstStyle/>
          <a:p>
            <a:pPr indent="0" marL="0">
              <a:lnSpc>
                <a:spcPts val="1800"/>
              </a:lnSpc>
              <a:buNone/>
            </a:pPr>
            <a:r>
              <a:rPr lang="en-US" sz="1300" i="1" dirty="0">
                <a:solidFill>
                  <a:srgbClr val="4A5A69"/>
                </a:solidFill>
                <a:latin typeface="Calibri" pitchFamily="34" charset="0"/>
                <a:ea typeface="Calibri" pitchFamily="34" charset="-122"/>
                <a:cs typeface="Calibri" pitchFamily="34" charset="-120"/>
              </a:rPr>
              <a:t>A generator asked for a normal sample that drew a skewed one is labelled for the sample it drew.</a:t>
            </a:r>
            <a:endParaRPr lang="en-US" sz="1300" dirty="0"/>
          </a:p>
        </p:txBody>
      </p:sp>
      <p:sp>
        <p:nvSpPr>
          <p:cNvPr id="16" name="Shape 14"/>
          <p:cNvSpPr/>
          <p:nvPr/>
        </p:nvSpPr>
        <p:spPr>
          <a:xfrm>
            <a:off x="6263640" y="1572768"/>
            <a:ext cx="5257800" cy="4233672"/>
          </a:xfrm>
          <a:prstGeom prst="roundRect">
            <a:avLst>
              <a:gd name="adj" fmla="val 1296"/>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7" name="Text 15"/>
          <p:cNvSpPr txBox="1"/>
          <p:nvPr/>
        </p:nvSpPr>
        <p:spPr>
          <a:xfrm>
            <a:off x="6583680" y="1810512"/>
            <a:ext cx="45720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Public sources</a:t>
            </a:r>
            <a:endParaRPr lang="en-US" sz="1550" dirty="0"/>
          </a:p>
        </p:txBody>
      </p:sp>
      <p:sp>
        <p:nvSpPr>
          <p:cNvPr id="18" name="Text 16"/>
          <p:cNvSpPr txBox="1"/>
          <p:nvPr/>
        </p:nvSpPr>
        <p:spPr>
          <a:xfrm>
            <a:off x="6583680" y="2331720"/>
            <a:ext cx="2468880" cy="365760"/>
          </a:xfrm>
          <a:prstGeom prst="rect">
            <a:avLst/>
          </a:prstGeom>
          <a:noFill/>
          <a:ln/>
        </p:spPr>
        <p:txBody>
          <a:bodyPr wrap="square" lIns="0" tIns="0" rIns="0" bIns="0" rtlCol="0" anchor="ctr"/>
          <a:lstStyle/>
          <a:p>
            <a:pPr indent="0" marL="0">
              <a:buNone/>
            </a:pPr>
            <a:r>
              <a:rPr lang="en-US" sz="1400" b="1" dirty="0">
                <a:solidFill>
                  <a:srgbClr val="16222E"/>
                </a:solidFill>
                <a:latin typeface="Calibri" pitchFamily="34" charset="0"/>
                <a:ea typeface="Calibri" pitchFamily="34" charset="-122"/>
                <a:cs typeface="Calibri" pitchFamily="34" charset="-120"/>
              </a:rPr>
              <a:t>Bank Marketing</a:t>
            </a:r>
            <a:endParaRPr lang="en-US" sz="1400" dirty="0"/>
          </a:p>
        </p:txBody>
      </p:sp>
      <p:sp>
        <p:nvSpPr>
          <p:cNvPr id="19" name="Text 17"/>
          <p:cNvSpPr txBox="1"/>
          <p:nvPr/>
        </p:nvSpPr>
        <p:spPr>
          <a:xfrm>
            <a:off x="9052560" y="2331720"/>
            <a:ext cx="1371600" cy="365760"/>
          </a:xfrm>
          <a:prstGeom prst="rect">
            <a:avLst/>
          </a:prstGeom>
          <a:noFill/>
          <a:ln/>
        </p:spPr>
        <p:txBody>
          <a:bodyPr wrap="square" lIns="0" tIns="0" rIns="0" bIns="0" rtlCol="0" anchor="ctr"/>
          <a:lstStyle/>
          <a:p>
            <a:pPr indent="0" marL="0">
              <a:buNone/>
            </a:pPr>
            <a:r>
              <a:rPr lang="en-US" sz="1350" dirty="0">
                <a:solidFill>
                  <a:srgbClr val="4A5A69"/>
                </a:solidFill>
                <a:latin typeface="Calibri" pitchFamily="34" charset="0"/>
                <a:ea typeface="Calibri" pitchFamily="34" charset="-122"/>
                <a:cs typeface="Calibri" pitchFamily="34" charset="-120"/>
              </a:rPr>
              <a:t>45,211 rows</a:t>
            </a:r>
            <a:endParaRPr lang="en-US" sz="1350" dirty="0"/>
          </a:p>
        </p:txBody>
      </p:sp>
      <p:sp>
        <p:nvSpPr>
          <p:cNvPr id="20" name="Text 18"/>
          <p:cNvSpPr txBox="1"/>
          <p:nvPr/>
        </p:nvSpPr>
        <p:spPr>
          <a:xfrm>
            <a:off x="10378440" y="2331720"/>
            <a:ext cx="914400" cy="365760"/>
          </a:xfrm>
          <a:prstGeom prst="rect">
            <a:avLst/>
          </a:prstGeom>
          <a:noFill/>
          <a:ln/>
        </p:spPr>
        <p:txBody>
          <a:bodyPr wrap="square" lIns="0" tIns="0" rIns="0" bIns="0" rtlCol="0" anchor="ctr"/>
          <a:lstStyle/>
          <a:p>
            <a:pPr indent="0" marL="0">
              <a:buNone/>
            </a:pPr>
            <a:r>
              <a:rPr lang="en-US" sz="1200" dirty="0">
                <a:solidFill>
                  <a:srgbClr val="8496A6"/>
                </a:solidFill>
                <a:latin typeface="Calibri" pitchFamily="34" charset="0"/>
                <a:ea typeface="Calibri" pitchFamily="34" charset="-122"/>
                <a:cs typeface="Calibri" pitchFamily="34" charset="-120"/>
              </a:rPr>
              <a:t>UCI 222</a:t>
            </a:r>
            <a:endParaRPr lang="en-US" sz="1200" dirty="0"/>
          </a:p>
        </p:txBody>
      </p:sp>
      <p:sp>
        <p:nvSpPr>
          <p:cNvPr id="21" name="Text 19"/>
          <p:cNvSpPr txBox="1"/>
          <p:nvPr/>
        </p:nvSpPr>
        <p:spPr>
          <a:xfrm>
            <a:off x="6583680" y="2898648"/>
            <a:ext cx="2468880" cy="365760"/>
          </a:xfrm>
          <a:prstGeom prst="rect">
            <a:avLst/>
          </a:prstGeom>
          <a:noFill/>
          <a:ln/>
        </p:spPr>
        <p:txBody>
          <a:bodyPr wrap="square" lIns="0" tIns="0" rIns="0" bIns="0" rtlCol="0" anchor="ctr"/>
          <a:lstStyle/>
          <a:p>
            <a:pPr indent="0" marL="0">
              <a:buNone/>
            </a:pPr>
            <a:r>
              <a:rPr lang="en-US" sz="1400" b="1" dirty="0">
                <a:solidFill>
                  <a:srgbClr val="16222E"/>
                </a:solidFill>
                <a:latin typeface="Calibri" pitchFamily="34" charset="0"/>
                <a:ea typeface="Calibri" pitchFamily="34" charset="-122"/>
                <a:cs typeface="Calibri" pitchFamily="34" charset="-120"/>
              </a:rPr>
              <a:t>Online Shoppers</a:t>
            </a:r>
            <a:endParaRPr lang="en-US" sz="1400" dirty="0"/>
          </a:p>
        </p:txBody>
      </p:sp>
      <p:sp>
        <p:nvSpPr>
          <p:cNvPr id="22" name="Text 20"/>
          <p:cNvSpPr txBox="1"/>
          <p:nvPr/>
        </p:nvSpPr>
        <p:spPr>
          <a:xfrm>
            <a:off x="9052560" y="2898648"/>
            <a:ext cx="1371600" cy="365760"/>
          </a:xfrm>
          <a:prstGeom prst="rect">
            <a:avLst/>
          </a:prstGeom>
          <a:noFill/>
          <a:ln/>
        </p:spPr>
        <p:txBody>
          <a:bodyPr wrap="square" lIns="0" tIns="0" rIns="0" bIns="0" rtlCol="0" anchor="ctr"/>
          <a:lstStyle/>
          <a:p>
            <a:pPr indent="0" marL="0">
              <a:buNone/>
            </a:pPr>
            <a:r>
              <a:rPr lang="en-US" sz="1350" dirty="0">
                <a:solidFill>
                  <a:srgbClr val="4A5A69"/>
                </a:solidFill>
                <a:latin typeface="Calibri" pitchFamily="34" charset="0"/>
                <a:ea typeface="Calibri" pitchFamily="34" charset="-122"/>
                <a:cs typeface="Calibri" pitchFamily="34" charset="-120"/>
              </a:rPr>
              <a:t>12,330 rows</a:t>
            </a:r>
            <a:endParaRPr lang="en-US" sz="1350" dirty="0"/>
          </a:p>
        </p:txBody>
      </p:sp>
      <p:sp>
        <p:nvSpPr>
          <p:cNvPr id="23" name="Text 21"/>
          <p:cNvSpPr txBox="1"/>
          <p:nvPr/>
        </p:nvSpPr>
        <p:spPr>
          <a:xfrm>
            <a:off x="10378440" y="2898648"/>
            <a:ext cx="914400" cy="365760"/>
          </a:xfrm>
          <a:prstGeom prst="rect">
            <a:avLst/>
          </a:prstGeom>
          <a:noFill/>
          <a:ln/>
        </p:spPr>
        <p:txBody>
          <a:bodyPr wrap="square" lIns="0" tIns="0" rIns="0" bIns="0" rtlCol="0" anchor="ctr"/>
          <a:lstStyle/>
          <a:p>
            <a:pPr indent="0" marL="0">
              <a:buNone/>
            </a:pPr>
            <a:r>
              <a:rPr lang="en-US" sz="1200" dirty="0">
                <a:solidFill>
                  <a:srgbClr val="8496A6"/>
                </a:solidFill>
                <a:latin typeface="Calibri" pitchFamily="34" charset="0"/>
                <a:ea typeface="Calibri" pitchFamily="34" charset="-122"/>
                <a:cs typeface="Calibri" pitchFamily="34" charset="-120"/>
              </a:rPr>
              <a:t>UCI 468</a:t>
            </a:r>
            <a:endParaRPr lang="en-US" sz="1200" dirty="0"/>
          </a:p>
        </p:txBody>
      </p:sp>
      <p:sp>
        <p:nvSpPr>
          <p:cNvPr id="24" name="Text 22"/>
          <p:cNvSpPr txBox="1"/>
          <p:nvPr/>
        </p:nvSpPr>
        <p:spPr>
          <a:xfrm>
            <a:off x="6583680" y="3465576"/>
            <a:ext cx="2468880" cy="365760"/>
          </a:xfrm>
          <a:prstGeom prst="rect">
            <a:avLst/>
          </a:prstGeom>
          <a:noFill/>
          <a:ln/>
        </p:spPr>
        <p:txBody>
          <a:bodyPr wrap="square" lIns="0" tIns="0" rIns="0" bIns="0" rtlCol="0" anchor="ctr"/>
          <a:lstStyle/>
          <a:p>
            <a:pPr indent="0" marL="0">
              <a:buNone/>
            </a:pPr>
            <a:r>
              <a:rPr lang="en-US" sz="1400" b="1" dirty="0">
                <a:solidFill>
                  <a:srgbClr val="16222E"/>
                </a:solidFill>
                <a:latin typeface="Calibri" pitchFamily="34" charset="0"/>
                <a:ea typeface="Calibri" pitchFamily="34" charset="-122"/>
                <a:cs typeface="Calibri" pitchFamily="34" charset="-120"/>
              </a:rPr>
              <a:t>Seoul Bike Sharing</a:t>
            </a:r>
            <a:endParaRPr lang="en-US" sz="1400" dirty="0"/>
          </a:p>
        </p:txBody>
      </p:sp>
      <p:sp>
        <p:nvSpPr>
          <p:cNvPr id="25" name="Text 23"/>
          <p:cNvSpPr txBox="1"/>
          <p:nvPr/>
        </p:nvSpPr>
        <p:spPr>
          <a:xfrm>
            <a:off x="9052560" y="3465576"/>
            <a:ext cx="1371600" cy="365760"/>
          </a:xfrm>
          <a:prstGeom prst="rect">
            <a:avLst/>
          </a:prstGeom>
          <a:noFill/>
          <a:ln/>
        </p:spPr>
        <p:txBody>
          <a:bodyPr wrap="square" lIns="0" tIns="0" rIns="0" bIns="0" rtlCol="0" anchor="ctr"/>
          <a:lstStyle/>
          <a:p>
            <a:pPr indent="0" marL="0">
              <a:buNone/>
            </a:pPr>
            <a:r>
              <a:rPr lang="en-US" sz="1350" dirty="0">
                <a:solidFill>
                  <a:srgbClr val="4A5A69"/>
                </a:solidFill>
                <a:latin typeface="Calibri" pitchFamily="34" charset="0"/>
                <a:ea typeface="Calibri" pitchFamily="34" charset="-122"/>
                <a:cs typeface="Calibri" pitchFamily="34" charset="-120"/>
              </a:rPr>
              <a:t>8,760 rows</a:t>
            </a:r>
            <a:endParaRPr lang="en-US" sz="1350" dirty="0"/>
          </a:p>
        </p:txBody>
      </p:sp>
      <p:sp>
        <p:nvSpPr>
          <p:cNvPr id="26" name="Text 24"/>
          <p:cNvSpPr txBox="1"/>
          <p:nvPr/>
        </p:nvSpPr>
        <p:spPr>
          <a:xfrm>
            <a:off x="10378440" y="3465576"/>
            <a:ext cx="914400" cy="365760"/>
          </a:xfrm>
          <a:prstGeom prst="rect">
            <a:avLst/>
          </a:prstGeom>
          <a:noFill/>
          <a:ln/>
        </p:spPr>
        <p:txBody>
          <a:bodyPr wrap="square" lIns="0" tIns="0" rIns="0" bIns="0" rtlCol="0" anchor="ctr"/>
          <a:lstStyle/>
          <a:p>
            <a:pPr indent="0" marL="0">
              <a:buNone/>
            </a:pPr>
            <a:r>
              <a:rPr lang="en-US" sz="1200" dirty="0">
                <a:solidFill>
                  <a:srgbClr val="8496A6"/>
                </a:solidFill>
                <a:latin typeface="Calibri" pitchFamily="34" charset="0"/>
                <a:ea typeface="Calibri" pitchFamily="34" charset="-122"/>
                <a:cs typeface="Calibri" pitchFamily="34" charset="-120"/>
              </a:rPr>
              <a:t>UCI 560</a:t>
            </a:r>
            <a:endParaRPr lang="en-US" sz="1200" dirty="0"/>
          </a:p>
        </p:txBody>
      </p:sp>
      <p:sp>
        <p:nvSpPr>
          <p:cNvPr id="27" name="Text 25"/>
          <p:cNvSpPr txBox="1"/>
          <p:nvPr/>
        </p:nvSpPr>
        <p:spPr>
          <a:xfrm>
            <a:off x="6583680" y="4032504"/>
            <a:ext cx="2468880" cy="365760"/>
          </a:xfrm>
          <a:prstGeom prst="rect">
            <a:avLst/>
          </a:prstGeom>
          <a:noFill/>
          <a:ln/>
        </p:spPr>
        <p:txBody>
          <a:bodyPr wrap="square" lIns="0" tIns="0" rIns="0" bIns="0" rtlCol="0" anchor="ctr"/>
          <a:lstStyle/>
          <a:p>
            <a:pPr indent="0" marL="0">
              <a:buNone/>
            </a:pPr>
            <a:r>
              <a:rPr lang="en-US" sz="1400" b="1" dirty="0">
                <a:solidFill>
                  <a:srgbClr val="16222E"/>
                </a:solidFill>
                <a:latin typeface="Calibri" pitchFamily="34" charset="0"/>
                <a:ea typeface="Calibri" pitchFamily="34" charset="-122"/>
                <a:cs typeface="Calibri" pitchFamily="34" charset="-120"/>
              </a:rPr>
              <a:t>Student Performance</a:t>
            </a:r>
            <a:endParaRPr lang="en-US" sz="1400" dirty="0"/>
          </a:p>
        </p:txBody>
      </p:sp>
      <p:sp>
        <p:nvSpPr>
          <p:cNvPr id="28" name="Text 26"/>
          <p:cNvSpPr txBox="1"/>
          <p:nvPr/>
        </p:nvSpPr>
        <p:spPr>
          <a:xfrm>
            <a:off x="9052560" y="4032504"/>
            <a:ext cx="1371600" cy="365760"/>
          </a:xfrm>
          <a:prstGeom prst="rect">
            <a:avLst/>
          </a:prstGeom>
          <a:noFill/>
          <a:ln/>
        </p:spPr>
        <p:txBody>
          <a:bodyPr wrap="square" lIns="0" tIns="0" rIns="0" bIns="0" rtlCol="0" anchor="ctr"/>
          <a:lstStyle/>
          <a:p>
            <a:pPr indent="0" marL="0">
              <a:buNone/>
            </a:pPr>
            <a:r>
              <a:rPr lang="en-US" sz="1350" dirty="0">
                <a:solidFill>
                  <a:srgbClr val="4A5A69"/>
                </a:solidFill>
                <a:latin typeface="Calibri" pitchFamily="34" charset="0"/>
                <a:ea typeface="Calibri" pitchFamily="34" charset="-122"/>
                <a:cs typeface="Calibri" pitchFamily="34" charset="-120"/>
              </a:rPr>
              <a:t>649 rows</a:t>
            </a:r>
            <a:endParaRPr lang="en-US" sz="1350" dirty="0"/>
          </a:p>
        </p:txBody>
      </p:sp>
      <p:sp>
        <p:nvSpPr>
          <p:cNvPr id="29" name="Text 27"/>
          <p:cNvSpPr txBox="1"/>
          <p:nvPr/>
        </p:nvSpPr>
        <p:spPr>
          <a:xfrm>
            <a:off x="10378440" y="4032504"/>
            <a:ext cx="914400" cy="365760"/>
          </a:xfrm>
          <a:prstGeom prst="rect">
            <a:avLst/>
          </a:prstGeom>
          <a:noFill/>
          <a:ln/>
        </p:spPr>
        <p:txBody>
          <a:bodyPr wrap="square" lIns="0" tIns="0" rIns="0" bIns="0" rtlCol="0" anchor="ctr"/>
          <a:lstStyle/>
          <a:p>
            <a:pPr indent="0" marL="0">
              <a:buNone/>
            </a:pPr>
            <a:r>
              <a:rPr lang="en-US" sz="1200" dirty="0">
                <a:solidFill>
                  <a:srgbClr val="8496A6"/>
                </a:solidFill>
                <a:latin typeface="Calibri" pitchFamily="34" charset="0"/>
                <a:ea typeface="Calibri" pitchFamily="34" charset="-122"/>
                <a:cs typeface="Calibri" pitchFamily="34" charset="-120"/>
              </a:rPr>
              <a:t>UCI 320</a:t>
            </a:r>
            <a:endParaRPr lang="en-US" sz="1200" dirty="0"/>
          </a:p>
        </p:txBody>
      </p:sp>
      <p:sp>
        <p:nvSpPr>
          <p:cNvPr id="30" name="Text 28"/>
          <p:cNvSpPr txBox="1"/>
          <p:nvPr/>
        </p:nvSpPr>
        <p:spPr>
          <a:xfrm>
            <a:off x="6583680" y="4681728"/>
            <a:ext cx="4572000" cy="96012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48 synthetic cases carry labels known by construction; 16 from public data were validated against their realised values, which caught one mislabel.</a:t>
            </a:r>
            <a:endParaRPr lang="en-US" sz="1300" dirty="0"/>
          </a:p>
        </p:txBody>
      </p:sp>
      <p:sp>
        <p:nvSpPr>
          <p:cNvPr id="31" name="Text 29"/>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METHOD · MEASUREMENT</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Evaluation protocol</a:t>
            </a:r>
            <a:endParaRPr lang="en-US" sz="3000" dirty="0"/>
          </a:p>
        </p:txBody>
      </p:sp>
      <p:sp>
        <p:nvSpPr>
          <p:cNvPr id="4" name="Shape 2"/>
          <p:cNvSpPr/>
          <p:nvPr/>
        </p:nvSpPr>
        <p:spPr>
          <a:xfrm>
            <a:off x="640080" y="1572768"/>
            <a:ext cx="5349240" cy="868680"/>
          </a:xfrm>
          <a:prstGeom prst="roundRect">
            <a:avLst>
              <a:gd name="adj" fmla="val 6316"/>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960120" y="1737360"/>
            <a:ext cx="4754880" cy="320040"/>
          </a:xfrm>
          <a:prstGeom prst="rect">
            <a:avLst/>
          </a:prstGeom>
          <a:noFill/>
          <a:ln/>
        </p:spPr>
        <p:txBody>
          <a:bodyPr wrap="square" lIns="0" tIns="0" rIns="0" bIns="0" rtlCol="0" anchor="ctr"/>
          <a:lstStyle/>
          <a:p>
            <a:pPr indent="0" marL="0">
              <a:buNone/>
            </a:pPr>
            <a:r>
              <a:rPr lang="en-US" sz="1500" b="1" dirty="0">
                <a:solidFill>
                  <a:srgbClr val="16222E"/>
                </a:solidFill>
                <a:latin typeface="Calibri" pitchFamily="34" charset="0"/>
                <a:ea typeface="Calibri" pitchFamily="34" charset="-122"/>
                <a:cs typeface="Calibri" pitchFamily="34" charset="-120"/>
              </a:rPr>
              <a:t>Frozen split</a:t>
            </a:r>
            <a:endParaRPr lang="en-US" sz="1500" dirty="0"/>
          </a:p>
        </p:txBody>
      </p:sp>
      <p:sp>
        <p:nvSpPr>
          <p:cNvPr id="6" name="Text 4"/>
          <p:cNvSpPr txBox="1"/>
          <p:nvPr/>
        </p:nvSpPr>
        <p:spPr>
          <a:xfrm>
            <a:off x="960120" y="2048256"/>
            <a:ext cx="4754880" cy="347472"/>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48 held-out cases never examined during development.</a:t>
            </a:r>
            <a:endParaRPr lang="en-US" sz="1300" dirty="0"/>
          </a:p>
        </p:txBody>
      </p:sp>
      <p:sp>
        <p:nvSpPr>
          <p:cNvPr id="7" name="Shape 5"/>
          <p:cNvSpPr/>
          <p:nvPr/>
        </p:nvSpPr>
        <p:spPr>
          <a:xfrm>
            <a:off x="640080" y="2578608"/>
            <a:ext cx="5349240" cy="868680"/>
          </a:xfrm>
          <a:prstGeom prst="roundRect">
            <a:avLst>
              <a:gd name="adj" fmla="val 6316"/>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8" name="Text 6"/>
          <p:cNvSpPr txBox="1"/>
          <p:nvPr/>
        </p:nvSpPr>
        <p:spPr>
          <a:xfrm>
            <a:off x="960120" y="2743200"/>
            <a:ext cx="4754880" cy="320040"/>
          </a:xfrm>
          <a:prstGeom prst="rect">
            <a:avLst/>
          </a:prstGeom>
          <a:noFill/>
          <a:ln/>
        </p:spPr>
        <p:txBody>
          <a:bodyPr wrap="square" lIns="0" tIns="0" rIns="0" bIns="0" rtlCol="0" anchor="ctr"/>
          <a:lstStyle/>
          <a:p>
            <a:pPr indent="0" marL="0">
              <a:buNone/>
            </a:pPr>
            <a:r>
              <a:rPr lang="en-US" sz="1500" b="1" dirty="0">
                <a:solidFill>
                  <a:srgbClr val="16222E"/>
                </a:solidFill>
                <a:latin typeface="Calibri" pitchFamily="34" charset="0"/>
                <a:ea typeface="Calibri" pitchFamily="34" charset="-122"/>
                <a:cs typeface="Calibri" pitchFamily="34" charset="-120"/>
              </a:rPr>
              <a:t>Frozen prompts</a:t>
            </a:r>
            <a:endParaRPr lang="en-US" sz="1500" dirty="0"/>
          </a:p>
        </p:txBody>
      </p:sp>
      <p:sp>
        <p:nvSpPr>
          <p:cNvPr id="9" name="Text 7"/>
          <p:cNvSpPr txBox="1"/>
          <p:nvPr/>
        </p:nvSpPr>
        <p:spPr>
          <a:xfrm>
            <a:off x="960120" y="3054096"/>
            <a:ext cx="4754880" cy="347472"/>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Instructions fingerprinted by hash before the held-out run.</a:t>
            </a:r>
            <a:endParaRPr lang="en-US" sz="1300" dirty="0"/>
          </a:p>
        </p:txBody>
      </p:sp>
      <p:sp>
        <p:nvSpPr>
          <p:cNvPr id="10" name="Shape 8"/>
          <p:cNvSpPr/>
          <p:nvPr/>
        </p:nvSpPr>
        <p:spPr>
          <a:xfrm>
            <a:off x="640080" y="3584448"/>
            <a:ext cx="5349240" cy="868680"/>
          </a:xfrm>
          <a:prstGeom prst="roundRect">
            <a:avLst>
              <a:gd name="adj" fmla="val 6316"/>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Text 9"/>
          <p:cNvSpPr txBox="1"/>
          <p:nvPr/>
        </p:nvSpPr>
        <p:spPr>
          <a:xfrm>
            <a:off x="960120" y="3749040"/>
            <a:ext cx="4754880" cy="320040"/>
          </a:xfrm>
          <a:prstGeom prst="rect">
            <a:avLst/>
          </a:prstGeom>
          <a:noFill/>
          <a:ln/>
        </p:spPr>
        <p:txBody>
          <a:bodyPr wrap="square" lIns="0" tIns="0" rIns="0" bIns="0" rtlCol="0" anchor="ctr"/>
          <a:lstStyle/>
          <a:p>
            <a:pPr indent="0" marL="0">
              <a:buNone/>
            </a:pPr>
            <a:r>
              <a:rPr lang="en-US" sz="1500" b="1" dirty="0">
                <a:solidFill>
                  <a:srgbClr val="16222E"/>
                </a:solidFill>
                <a:latin typeface="Calibri" pitchFamily="34" charset="0"/>
                <a:ea typeface="Calibri" pitchFamily="34" charset="-122"/>
                <a:cs typeface="Calibri" pitchFamily="34" charset="-120"/>
              </a:rPr>
              <a:t>Repetitions</a:t>
            </a:r>
            <a:endParaRPr lang="en-US" sz="1500" dirty="0"/>
          </a:p>
        </p:txBody>
      </p:sp>
      <p:sp>
        <p:nvSpPr>
          <p:cNvPr id="12" name="Text 10"/>
          <p:cNvSpPr txBox="1"/>
          <p:nvPr/>
        </p:nvSpPr>
        <p:spPr>
          <a:xfrm>
            <a:off x="960120" y="4059936"/>
            <a:ext cx="4754880" cy="347472"/>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Two runs per system–case pair; 288 graded runs in total.</a:t>
            </a:r>
            <a:endParaRPr lang="en-US" sz="1300" dirty="0"/>
          </a:p>
        </p:txBody>
      </p:sp>
      <p:sp>
        <p:nvSpPr>
          <p:cNvPr id="13" name="Shape 11"/>
          <p:cNvSpPr/>
          <p:nvPr/>
        </p:nvSpPr>
        <p:spPr>
          <a:xfrm>
            <a:off x="640080" y="4590288"/>
            <a:ext cx="5349240" cy="868680"/>
          </a:xfrm>
          <a:prstGeom prst="roundRect">
            <a:avLst>
              <a:gd name="adj" fmla="val 6316"/>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4" name="Text 12"/>
          <p:cNvSpPr txBox="1"/>
          <p:nvPr/>
        </p:nvSpPr>
        <p:spPr>
          <a:xfrm>
            <a:off x="960120" y="4754880"/>
            <a:ext cx="4754880" cy="320040"/>
          </a:xfrm>
          <a:prstGeom prst="rect">
            <a:avLst/>
          </a:prstGeom>
          <a:noFill/>
          <a:ln/>
        </p:spPr>
        <p:txBody>
          <a:bodyPr wrap="square" lIns="0" tIns="0" rIns="0" bIns="0" rtlCol="0" anchor="ctr"/>
          <a:lstStyle/>
          <a:p>
            <a:pPr indent="0" marL="0">
              <a:buNone/>
            </a:pPr>
            <a:r>
              <a:rPr lang="en-US" sz="1500" b="1" dirty="0">
                <a:solidFill>
                  <a:srgbClr val="16222E"/>
                </a:solidFill>
                <a:latin typeface="Calibri" pitchFamily="34" charset="0"/>
                <a:ea typeface="Calibri" pitchFamily="34" charset="-122"/>
                <a:cs typeface="Calibri" pitchFamily="34" charset="-120"/>
              </a:rPr>
              <a:t>Pinned model</a:t>
            </a:r>
            <a:endParaRPr lang="en-US" sz="1500" dirty="0"/>
          </a:p>
        </p:txBody>
      </p:sp>
      <p:sp>
        <p:nvSpPr>
          <p:cNvPr id="15" name="Text 13"/>
          <p:cNvSpPr txBox="1"/>
          <p:nvPr/>
        </p:nvSpPr>
        <p:spPr>
          <a:xfrm>
            <a:off x="960120" y="5065776"/>
            <a:ext cx="4754880" cy="347472"/>
          </a:xfrm>
          <a:prstGeom prst="rect">
            <a:avLst/>
          </a:prstGeom>
          <a:noFill/>
          <a:ln/>
        </p:spPr>
        <p:txBody>
          <a:bodyPr wrap="square" lIns="0" tIns="0" rIns="0" bIns="0" rtlCol="0" anchor="ctr"/>
          <a:lstStyle/>
          <a:p>
            <a:pPr indent="0" marL="0">
              <a:buNone/>
            </a:pPr>
            <a:r>
              <a:rPr lang="en-US" sz="1300" dirty="0">
                <a:solidFill>
                  <a:srgbClr val="4A5A69"/>
                </a:solidFill>
                <a:latin typeface="Calibri" pitchFamily="34" charset="0"/>
                <a:ea typeface="Calibri" pitchFamily="34" charset="-122"/>
                <a:cs typeface="Calibri" pitchFamily="34" charset="-120"/>
              </a:rPr>
              <a:t>Claude Haiku 4.5, fixed identifier and effort level.</a:t>
            </a:r>
            <a:endParaRPr lang="en-US" sz="1300" dirty="0"/>
          </a:p>
        </p:txBody>
      </p:sp>
      <p:sp>
        <p:nvSpPr>
          <p:cNvPr id="16" name="Shape 14"/>
          <p:cNvSpPr/>
          <p:nvPr/>
        </p:nvSpPr>
        <p:spPr>
          <a:xfrm>
            <a:off x="6263640" y="1572768"/>
            <a:ext cx="5257800" cy="3840480"/>
          </a:xfrm>
          <a:prstGeom prst="roundRect">
            <a:avLst>
              <a:gd name="adj" fmla="val 1429"/>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7" name="Text 15"/>
          <p:cNvSpPr txBox="1"/>
          <p:nvPr/>
        </p:nvSpPr>
        <p:spPr>
          <a:xfrm>
            <a:off x="6583680" y="1810512"/>
            <a:ext cx="45720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Metrics</a:t>
            </a:r>
            <a:endParaRPr lang="en-US" sz="1550" dirty="0"/>
          </a:p>
        </p:txBody>
      </p:sp>
      <p:sp>
        <p:nvSpPr>
          <p:cNvPr id="18" name="Text 16"/>
          <p:cNvSpPr txBox="1"/>
          <p:nvPr/>
        </p:nvSpPr>
        <p:spPr>
          <a:xfrm>
            <a:off x="6583680" y="2240280"/>
            <a:ext cx="4663440" cy="160020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4A5A69"/>
                </a:solidFill>
                <a:latin typeface="Calibri" pitchFamily="34" charset="0"/>
                <a:ea typeface="Calibri" pitchFamily="34" charset="-122"/>
                <a:cs typeface="Calibri" pitchFamily="34" charset="-120"/>
              </a:rPr>
              <a:t>Method-selection accuracy, Wilson 95% intervals</a:t>
            </a:r>
            <a:endParaRPr lang="en-US" sz="1350" dirty="0"/>
          </a:p>
          <a:p>
            <a:pPr marL="342900" indent="-342900">
              <a:spcAft>
                <a:spcPts val="700"/>
              </a:spcAft>
              <a:buSzPct val="100000"/>
              <a:buChar char="•"/>
            </a:pPr>
            <a:r>
              <a:rPr lang="en-US" sz="1350" dirty="0">
                <a:solidFill>
                  <a:srgbClr val="4A5A69"/>
                </a:solidFill>
                <a:latin typeface="Calibri" pitchFamily="34" charset="0"/>
                <a:ea typeface="Calibri" pitchFamily="34" charset="-122"/>
                <a:cs typeface="Calibri" pitchFamily="34" charset="-120"/>
              </a:rPr>
              <a:t>Abstention recall and unsafe-selection rate</a:t>
            </a:r>
            <a:endParaRPr lang="en-US" sz="1350" dirty="0"/>
          </a:p>
          <a:p>
            <a:pPr marL="342900" indent="-342900">
              <a:spcAft>
                <a:spcPts val="700"/>
              </a:spcAft>
              <a:buSzPct val="100000"/>
              <a:buChar char="•"/>
            </a:pPr>
            <a:r>
              <a:rPr lang="en-US" sz="1350" dirty="0">
                <a:solidFill>
                  <a:srgbClr val="4A5A69"/>
                </a:solidFill>
                <a:latin typeface="Calibri" pitchFamily="34" charset="0"/>
                <a:ea typeface="Calibri" pitchFamily="34" charset="-122"/>
                <a:cs typeface="Calibri" pitchFamily="34" charset="-120"/>
              </a:rPr>
              <a:t>Report validity under the provenance contract</a:t>
            </a:r>
            <a:endParaRPr lang="en-US" sz="1350" dirty="0"/>
          </a:p>
          <a:p>
            <a:pPr marL="342900" indent="-342900">
              <a:spcAft>
                <a:spcPts val="700"/>
              </a:spcAft>
              <a:buSzPct val="100000"/>
              <a:buChar char="•"/>
            </a:pPr>
            <a:r>
              <a:rPr lang="en-US" sz="1350" dirty="0">
                <a:solidFill>
                  <a:srgbClr val="4A5A69"/>
                </a:solidFill>
                <a:latin typeface="Calibri" pitchFamily="34" charset="0"/>
                <a:ea typeface="Calibri" pitchFamily="34" charset="-122"/>
                <a:cs typeface="Calibri" pitchFamily="34" charset="-120"/>
              </a:rPr>
              <a:t>Failure stage from an error taxonomy</a:t>
            </a:r>
            <a:endParaRPr lang="en-US" sz="1350" dirty="0"/>
          </a:p>
        </p:txBody>
      </p:sp>
      <p:sp>
        <p:nvSpPr>
          <p:cNvPr id="19" name="Text 17"/>
          <p:cNvSpPr txBox="1"/>
          <p:nvPr/>
        </p:nvSpPr>
        <p:spPr>
          <a:xfrm>
            <a:off x="6583680" y="3931920"/>
            <a:ext cx="4572000" cy="32004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Inference</a:t>
            </a:r>
            <a:endParaRPr lang="en-US" sz="1550" dirty="0"/>
          </a:p>
        </p:txBody>
      </p:sp>
      <p:sp>
        <p:nvSpPr>
          <p:cNvPr id="20" name="Text 18"/>
          <p:cNvSpPr txBox="1"/>
          <p:nvPr/>
        </p:nvSpPr>
        <p:spPr>
          <a:xfrm>
            <a:off x="6583680" y="4297680"/>
            <a:ext cx="4663440" cy="960120"/>
          </a:xfrm>
          <a:prstGeom prst="rect">
            <a:avLst/>
          </a:prstGeom>
          <a:noFill/>
          <a:ln/>
        </p:spPr>
        <p:txBody>
          <a:bodyPr wrap="square" lIns="0" tIns="0" rIns="0" bIns="0" rtlCol="0" anchor="ctr"/>
          <a:lstStyle/>
          <a:p>
            <a:pPr indent="0" marL="0">
              <a:lnSpc>
                <a:spcPts val="1800"/>
              </a:lnSpc>
              <a:buNone/>
            </a:pPr>
            <a:r>
              <a:rPr lang="en-US" sz="1300" dirty="0">
                <a:solidFill>
                  <a:srgbClr val="4A5A69"/>
                </a:solidFill>
                <a:latin typeface="Calibri" pitchFamily="34" charset="0"/>
                <a:ea typeface="Calibri" pitchFamily="34" charset="-122"/>
                <a:cs typeface="Calibri" pitchFamily="34" charset="-120"/>
              </a:rPr>
              <a:t>Paired at case level: repetitions collapse to a per-case majority, then McNemar's exact test with a case-level bootstrap interval.</a:t>
            </a:r>
            <a:endParaRPr lang="en-US" sz="1300" dirty="0"/>
          </a:p>
        </p:txBody>
      </p:sp>
      <p:sp>
        <p:nvSpPr>
          <p:cNvPr id="21" name="Text 19"/>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HELD-OUT EVALUATION · H1</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Result: method-selection accuracy</a:t>
            </a:r>
            <a:endParaRPr lang="en-US" sz="3000" dirty="0"/>
          </a:p>
        </p:txBody>
      </p:sp>
      <p:sp>
        <p:nvSpPr>
          <p:cNvPr id="4" name="Shape 2"/>
          <p:cNvSpPr/>
          <p:nvPr/>
        </p:nvSpPr>
        <p:spPr>
          <a:xfrm>
            <a:off x="640080" y="1572768"/>
            <a:ext cx="7086600" cy="4251960"/>
          </a:xfrm>
          <a:prstGeom prst="roundRect">
            <a:avLst>
              <a:gd name="adj" fmla="val 129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pic>
        <p:nvPicPr>
          <p:cNvPr id="5" name="Image 0" descr="/Users/vishal/ai-statistician/reports/figures/slides/accuracy.png">    </p:cNvPr>
          <p:cNvPicPr>
            <a:picLocks noChangeAspect="1"/>
          </p:cNvPicPr>
          <p:nvPr/>
        </p:nvPicPr>
        <p:blipFill>
          <a:blip r:embed="rId1"/>
          <a:stretch>
            <a:fillRect/>
          </a:stretch>
        </p:blipFill>
        <p:spPr>
          <a:xfrm>
            <a:off x="841248" y="1967073"/>
            <a:ext cx="6684264" cy="3463349"/>
          </a:xfrm>
          <a:prstGeom prst="rect">
            <a:avLst/>
          </a:prstGeom>
        </p:spPr>
      </p:pic>
      <p:sp>
        <p:nvSpPr>
          <p:cNvPr id="6" name="Shape 3"/>
          <p:cNvSpPr/>
          <p:nvPr/>
        </p:nvSpPr>
        <p:spPr>
          <a:xfrm>
            <a:off x="7909560" y="1572768"/>
            <a:ext cx="3611880" cy="4251960"/>
          </a:xfrm>
          <a:prstGeom prst="roundRect">
            <a:avLst>
              <a:gd name="adj" fmla="val 1519"/>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Text 4"/>
          <p:cNvSpPr txBox="1"/>
          <p:nvPr/>
        </p:nvSpPr>
        <p:spPr>
          <a:xfrm>
            <a:off x="8229600" y="1847088"/>
            <a:ext cx="2971800" cy="274320"/>
          </a:xfrm>
          <a:prstGeom prst="rect">
            <a:avLst/>
          </a:prstGeom>
          <a:noFill/>
          <a:ln/>
        </p:spPr>
        <p:txBody>
          <a:bodyPr wrap="square" lIns="0" tIns="0" rIns="0" bIns="0" rtlCol="0" anchor="ctr"/>
          <a:lstStyle/>
          <a:p>
            <a:pPr indent="0" marL="0">
              <a:buNone/>
            </a:pPr>
            <a:r>
              <a:rPr lang="en-US" sz="1200" b="1" spc="100" kern="0" dirty="0">
                <a:solidFill>
                  <a:srgbClr val="8496A6"/>
                </a:solidFill>
                <a:latin typeface="Calibri" pitchFamily="34" charset="0"/>
                <a:ea typeface="Calibri" pitchFamily="34" charset="-122"/>
                <a:cs typeface="Calibri" pitchFamily="34" charset="-120"/>
              </a:rPr>
              <a:t>C OVER B</a:t>
            </a:r>
            <a:endParaRPr lang="en-US" sz="1200" dirty="0"/>
          </a:p>
        </p:txBody>
      </p:sp>
      <p:sp>
        <p:nvSpPr>
          <p:cNvPr id="8" name="Text 5"/>
          <p:cNvSpPr txBox="1"/>
          <p:nvPr/>
        </p:nvSpPr>
        <p:spPr>
          <a:xfrm>
            <a:off x="8229600" y="2139696"/>
            <a:ext cx="2971800" cy="731520"/>
          </a:xfrm>
          <a:prstGeom prst="rect">
            <a:avLst/>
          </a:prstGeom>
          <a:noFill/>
          <a:ln/>
        </p:spPr>
        <p:txBody>
          <a:bodyPr wrap="square" lIns="0" tIns="0" rIns="0" bIns="0" rtlCol="0" anchor="ctr"/>
          <a:lstStyle/>
          <a:p>
            <a:pPr indent="0" marL="0">
              <a:buNone/>
            </a:pPr>
            <a:r>
              <a:rPr lang="en-US" sz="4400" b="1" dirty="0">
                <a:solidFill>
                  <a:srgbClr val="129B68"/>
                </a:solidFill>
                <a:latin typeface="Cambria" pitchFamily="34" charset="0"/>
                <a:ea typeface="Cambria" pitchFamily="34" charset="-122"/>
                <a:cs typeface="Cambria" pitchFamily="34" charset="-120"/>
              </a:rPr>
              <a:t>+25 pts</a:t>
            </a:r>
            <a:endParaRPr lang="en-US" sz="4400" dirty="0"/>
          </a:p>
        </p:txBody>
      </p:sp>
      <p:sp>
        <p:nvSpPr>
          <p:cNvPr id="9" name="Text 6"/>
          <p:cNvSpPr txBox="1"/>
          <p:nvPr/>
        </p:nvSpPr>
        <p:spPr>
          <a:xfrm>
            <a:off x="8229600" y="2944368"/>
            <a:ext cx="2971800" cy="19202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The protocol arm beats tool access alone against a target of +10. Both arms hold identical tools and an identical report schema.</a:t>
            </a:r>
            <a:endParaRPr lang="en-US" sz="1400" dirty="0"/>
          </a:p>
        </p:txBody>
      </p:sp>
      <p:sp>
        <p:nvSpPr>
          <p:cNvPr id="10" name="Text 7"/>
          <p:cNvSpPr txBox="1"/>
          <p:nvPr/>
        </p:nvSpPr>
        <p:spPr>
          <a:xfrm>
            <a:off x="8229600" y="4910328"/>
            <a:ext cx="2971800" cy="731520"/>
          </a:xfrm>
          <a:prstGeom prst="rect">
            <a:avLst/>
          </a:prstGeom>
          <a:noFill/>
          <a:ln/>
        </p:spPr>
        <p:txBody>
          <a:bodyPr wrap="square" lIns="0" tIns="0" rIns="0" bIns="0" rtlCol="0" anchor="ctr"/>
          <a:lstStyle/>
          <a:p>
            <a:pPr indent="0" marL="0">
              <a:lnSpc>
                <a:spcPts val="1900"/>
              </a:lnSpc>
              <a:buNone/>
            </a:pPr>
            <a:r>
              <a:rPr lang="en-US" sz="1350" i="1" dirty="0">
                <a:solidFill>
                  <a:srgbClr val="129B68"/>
                </a:solidFill>
                <a:latin typeface="Calibri" pitchFamily="34" charset="0"/>
                <a:ea typeface="Calibri" pitchFamily="34" charset="-122"/>
                <a:cs typeface="Calibri" pitchFamily="34" charset="-120"/>
              </a:rPr>
              <a:t>Tools without a protocol scored below no tools at all.</a:t>
            </a:r>
            <a:endParaRPr lang="en-US" sz="1350" dirty="0"/>
          </a:p>
        </p:txBody>
      </p:sp>
      <p:sp>
        <p:nvSpPr>
          <p:cNvPr id="11" name="Text 8"/>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HELD-OUT EVALUATION · SIGNIFICANCE</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Result: which differences are real</a:t>
            </a:r>
            <a:endParaRPr lang="en-US" sz="3000" dirty="0"/>
          </a:p>
        </p:txBody>
      </p:sp>
      <p:sp>
        <p:nvSpPr>
          <p:cNvPr id="4" name="Shape 2"/>
          <p:cNvSpPr/>
          <p:nvPr/>
        </p:nvSpPr>
        <p:spPr>
          <a:xfrm>
            <a:off x="640080" y="1572768"/>
            <a:ext cx="10881360" cy="3017520"/>
          </a:xfrm>
          <a:prstGeom prst="roundRect">
            <a:avLst>
              <a:gd name="adj" fmla="val 1818"/>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pic>
        <p:nvPicPr>
          <p:cNvPr id="5" name="Image 0" descr="/Users/vishal/ai-statistician/reports/figures/slides/paired.png">    </p:cNvPr>
          <p:cNvPicPr>
            <a:picLocks noChangeAspect="1"/>
          </p:cNvPicPr>
          <p:nvPr/>
        </p:nvPicPr>
        <p:blipFill>
          <a:blip r:embed="rId1"/>
          <a:stretch>
            <a:fillRect/>
          </a:stretch>
        </p:blipFill>
        <p:spPr>
          <a:xfrm>
            <a:off x="2925541" y="1773936"/>
            <a:ext cx="6310439" cy="2615184"/>
          </a:xfrm>
          <a:prstGeom prst="rect">
            <a:avLst/>
          </a:prstGeom>
        </p:spPr>
      </p:pic>
      <p:sp>
        <p:nvSpPr>
          <p:cNvPr id="6" name="Shape 3"/>
          <p:cNvSpPr/>
          <p:nvPr/>
        </p:nvSpPr>
        <p:spPr>
          <a:xfrm>
            <a:off x="640080" y="4800600"/>
            <a:ext cx="5257800" cy="1051560"/>
          </a:xfrm>
          <a:prstGeom prst="roundRect">
            <a:avLst>
              <a:gd name="adj" fmla="val 521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Text 4"/>
          <p:cNvSpPr txBox="1"/>
          <p:nvPr/>
        </p:nvSpPr>
        <p:spPr>
          <a:xfrm>
            <a:off x="960120" y="4965192"/>
            <a:ext cx="4572000" cy="320040"/>
          </a:xfrm>
          <a:prstGeom prst="rect">
            <a:avLst/>
          </a:prstGeom>
          <a:noFill/>
          <a:ln/>
        </p:spPr>
        <p:txBody>
          <a:bodyPr wrap="square" lIns="0" tIns="0" rIns="0" bIns="0" rtlCol="0" anchor="ctr"/>
          <a:lstStyle/>
          <a:p>
            <a:pPr indent="0" marL="0">
              <a:buNone/>
            </a:pPr>
            <a:r>
              <a:rPr lang="en-US" sz="1500" b="1" dirty="0">
                <a:solidFill>
                  <a:srgbClr val="129B68"/>
                </a:solidFill>
                <a:latin typeface="Calibri" pitchFamily="34" charset="0"/>
                <a:ea typeface="Calibri" pitchFamily="34" charset="-122"/>
                <a:cs typeface="Calibri" pitchFamily="34" charset="-120"/>
              </a:rPr>
              <a:t>Established</a:t>
            </a:r>
            <a:endParaRPr lang="en-US" sz="1500" dirty="0"/>
          </a:p>
        </p:txBody>
      </p:sp>
      <p:sp>
        <p:nvSpPr>
          <p:cNvPr id="8" name="Text 5"/>
          <p:cNvSpPr txBox="1"/>
          <p:nvPr/>
        </p:nvSpPr>
        <p:spPr>
          <a:xfrm>
            <a:off x="960120" y="5303520"/>
            <a:ext cx="4663440" cy="411480"/>
          </a:xfrm>
          <a:prstGeom prst="rect">
            <a:avLst/>
          </a:prstGeom>
          <a:noFill/>
          <a:ln/>
        </p:spPr>
        <p:txBody>
          <a:bodyPr wrap="square" lIns="0" tIns="0" rIns="0" bIns="0" rtlCol="0" anchor="ctr"/>
          <a:lstStyle/>
          <a:p>
            <a:pPr indent="0" marL="0">
              <a:buNone/>
            </a:pPr>
            <a:r>
              <a:rPr lang="en-US" sz="1350" dirty="0">
                <a:solidFill>
                  <a:srgbClr val="4A5A69"/>
                </a:solidFill>
                <a:latin typeface="Calibri" pitchFamily="34" charset="0"/>
                <a:ea typeface="Calibri" pitchFamily="34" charset="-122"/>
                <a:cs typeface="Calibri" pitchFamily="34" charset="-120"/>
              </a:rPr>
              <a:t>C over B, p = 0.0018 — H1 is supported.</a:t>
            </a:r>
            <a:endParaRPr lang="en-US" sz="1350" dirty="0"/>
          </a:p>
        </p:txBody>
      </p:sp>
      <p:sp>
        <p:nvSpPr>
          <p:cNvPr id="9" name="Shape 6"/>
          <p:cNvSpPr/>
          <p:nvPr/>
        </p:nvSpPr>
        <p:spPr>
          <a:xfrm>
            <a:off x="6263640" y="4800600"/>
            <a:ext cx="5257800" cy="1051560"/>
          </a:xfrm>
          <a:prstGeom prst="roundRect">
            <a:avLst>
              <a:gd name="adj" fmla="val 521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0" name="Text 7"/>
          <p:cNvSpPr txBox="1"/>
          <p:nvPr/>
        </p:nvSpPr>
        <p:spPr>
          <a:xfrm>
            <a:off x="6583680" y="4965192"/>
            <a:ext cx="4572000" cy="320040"/>
          </a:xfrm>
          <a:prstGeom prst="rect">
            <a:avLst/>
          </a:prstGeom>
          <a:noFill/>
          <a:ln/>
        </p:spPr>
        <p:txBody>
          <a:bodyPr wrap="square" lIns="0" tIns="0" rIns="0" bIns="0" rtlCol="0" anchor="ctr"/>
          <a:lstStyle/>
          <a:p>
            <a:pPr indent="0" marL="0">
              <a:buNone/>
            </a:pPr>
            <a:r>
              <a:rPr lang="en-US" sz="1500" b="1" dirty="0">
                <a:solidFill>
                  <a:srgbClr val="C8891B"/>
                </a:solidFill>
                <a:latin typeface="Calibri" pitchFamily="34" charset="0"/>
                <a:ea typeface="Calibri" pitchFamily="34" charset="-122"/>
                <a:cs typeface="Calibri" pitchFamily="34" charset="-120"/>
              </a:rPr>
              <a:t>Not established</a:t>
            </a:r>
            <a:endParaRPr lang="en-US" sz="1500" dirty="0"/>
          </a:p>
        </p:txBody>
      </p:sp>
      <p:sp>
        <p:nvSpPr>
          <p:cNvPr id="11" name="Text 8"/>
          <p:cNvSpPr txBox="1"/>
          <p:nvPr/>
        </p:nvSpPr>
        <p:spPr>
          <a:xfrm>
            <a:off x="6583680" y="5303520"/>
            <a:ext cx="4663440" cy="411480"/>
          </a:xfrm>
          <a:prstGeom prst="rect">
            <a:avLst/>
          </a:prstGeom>
          <a:noFill/>
          <a:ln/>
        </p:spPr>
        <p:txBody>
          <a:bodyPr wrap="square" lIns="0" tIns="0" rIns="0" bIns="0" rtlCol="0" anchor="ctr"/>
          <a:lstStyle/>
          <a:p>
            <a:pPr indent="0" marL="0">
              <a:buNone/>
            </a:pPr>
            <a:r>
              <a:rPr lang="en-US" sz="1350" dirty="0">
                <a:solidFill>
                  <a:srgbClr val="4A5A69"/>
                </a:solidFill>
                <a:latin typeface="Calibri" pitchFamily="34" charset="0"/>
                <a:ea typeface="Calibri" pitchFamily="34" charset="-122"/>
                <a:cs typeface="Calibri" pitchFamily="34" charset="-120"/>
              </a:rPr>
              <a:t>C over A points the right way but does not clear 0.05 on 48 cases.</a:t>
            </a:r>
            <a:endParaRPr lang="en-US" sz="1350" dirty="0"/>
          </a:p>
        </p:txBody>
      </p:sp>
      <p:sp>
        <p:nvSpPr>
          <p:cNvPr id="12" name="Text 9"/>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HELD-OUT EVALUATION · H2</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Result: recognising an invalid design</a:t>
            </a:r>
            <a:endParaRPr lang="en-US" sz="3000" dirty="0"/>
          </a:p>
        </p:txBody>
      </p:sp>
      <p:sp>
        <p:nvSpPr>
          <p:cNvPr id="4" name="Shape 2"/>
          <p:cNvSpPr/>
          <p:nvPr/>
        </p:nvSpPr>
        <p:spPr>
          <a:xfrm>
            <a:off x="640080" y="1572768"/>
            <a:ext cx="7086600" cy="4251960"/>
          </a:xfrm>
          <a:prstGeom prst="roundRect">
            <a:avLst>
              <a:gd name="adj" fmla="val 129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pic>
        <p:nvPicPr>
          <p:cNvPr id="5" name="Image 0" descr="/Users/vishal/ai-statistician/reports/figures/slides/abstention.png">    </p:cNvPr>
          <p:cNvPicPr>
            <a:picLocks noChangeAspect="1"/>
          </p:cNvPicPr>
          <p:nvPr/>
        </p:nvPicPr>
        <p:blipFill>
          <a:blip r:embed="rId1"/>
          <a:stretch>
            <a:fillRect/>
          </a:stretch>
        </p:blipFill>
        <p:spPr>
          <a:xfrm>
            <a:off x="841248" y="2085750"/>
            <a:ext cx="6684264" cy="3225996"/>
          </a:xfrm>
          <a:prstGeom prst="rect">
            <a:avLst/>
          </a:prstGeom>
        </p:spPr>
      </p:pic>
      <p:sp>
        <p:nvSpPr>
          <p:cNvPr id="6" name="Shape 3"/>
          <p:cNvSpPr/>
          <p:nvPr/>
        </p:nvSpPr>
        <p:spPr>
          <a:xfrm>
            <a:off x="7909560" y="1572768"/>
            <a:ext cx="3611880" cy="4251960"/>
          </a:xfrm>
          <a:prstGeom prst="roundRect">
            <a:avLst>
              <a:gd name="adj" fmla="val 1519"/>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Text 4"/>
          <p:cNvSpPr txBox="1"/>
          <p:nvPr/>
        </p:nvSpPr>
        <p:spPr>
          <a:xfrm>
            <a:off x="8229600" y="1847088"/>
            <a:ext cx="2971800" cy="274320"/>
          </a:xfrm>
          <a:prstGeom prst="rect">
            <a:avLst/>
          </a:prstGeom>
          <a:noFill/>
          <a:ln/>
        </p:spPr>
        <p:txBody>
          <a:bodyPr wrap="square" lIns="0" tIns="0" rIns="0" bIns="0" rtlCol="0" anchor="ctr"/>
          <a:lstStyle/>
          <a:p>
            <a:pPr indent="0" marL="0">
              <a:buNone/>
            </a:pPr>
            <a:r>
              <a:rPr lang="en-US" sz="1200" b="1" spc="100" kern="0" dirty="0">
                <a:solidFill>
                  <a:srgbClr val="8496A6"/>
                </a:solidFill>
                <a:latin typeface="Calibri" pitchFamily="34" charset="0"/>
                <a:ea typeface="Calibri" pitchFamily="34" charset="-122"/>
                <a:cs typeface="Calibri" pitchFamily="34" charset="-120"/>
              </a:rPr>
              <a:t>ON 18 DESIGN-HAZARD RUNS</a:t>
            </a:r>
            <a:endParaRPr lang="en-US" sz="1200" dirty="0"/>
          </a:p>
        </p:txBody>
      </p:sp>
      <p:sp>
        <p:nvSpPr>
          <p:cNvPr id="8" name="Text 5"/>
          <p:cNvSpPr txBox="1"/>
          <p:nvPr/>
        </p:nvSpPr>
        <p:spPr>
          <a:xfrm>
            <a:off x="8229600" y="2139696"/>
            <a:ext cx="2971800" cy="731520"/>
          </a:xfrm>
          <a:prstGeom prst="rect">
            <a:avLst/>
          </a:prstGeom>
          <a:noFill/>
          <a:ln/>
        </p:spPr>
        <p:txBody>
          <a:bodyPr wrap="square" lIns="0" tIns="0" rIns="0" bIns="0" rtlCol="0" anchor="ctr"/>
          <a:lstStyle/>
          <a:p>
            <a:pPr indent="0" marL="0">
              <a:buNone/>
            </a:pPr>
            <a:r>
              <a:rPr lang="en-US" sz="4400" b="1" dirty="0">
                <a:solidFill>
                  <a:srgbClr val="129B68"/>
                </a:solidFill>
                <a:latin typeface="Cambria" pitchFamily="34" charset="0"/>
                <a:ea typeface="Cambria" pitchFamily="34" charset="-122"/>
                <a:cs typeface="Cambria" pitchFamily="34" charset="-120"/>
              </a:rPr>
              <a:t>78%</a:t>
            </a:r>
            <a:endParaRPr lang="en-US" sz="4400" dirty="0"/>
          </a:p>
        </p:txBody>
      </p:sp>
      <p:sp>
        <p:nvSpPr>
          <p:cNvPr id="9" name="Text 6"/>
          <p:cNvSpPr txBox="1"/>
          <p:nvPr/>
        </p:nvSpPr>
        <p:spPr>
          <a:xfrm>
            <a:off x="8229600" y="2944368"/>
            <a:ext cx="2971800" cy="19202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The protocol arm declined correctly on the cases where every available method is invalid. The tool-enabled baseline never declined once.</a:t>
            </a:r>
            <a:endParaRPr lang="en-US" sz="1400" dirty="0"/>
          </a:p>
        </p:txBody>
      </p:sp>
      <p:sp>
        <p:nvSpPr>
          <p:cNvPr id="10" name="Text 7"/>
          <p:cNvSpPr txBox="1"/>
          <p:nvPr/>
        </p:nvSpPr>
        <p:spPr>
          <a:xfrm>
            <a:off x="8229600" y="4910328"/>
            <a:ext cx="2971800" cy="731520"/>
          </a:xfrm>
          <a:prstGeom prst="rect">
            <a:avLst/>
          </a:prstGeom>
          <a:noFill/>
          <a:ln/>
        </p:spPr>
        <p:txBody>
          <a:bodyPr wrap="square" lIns="0" tIns="0" rIns="0" bIns="0" rtlCol="0" anchor="ctr"/>
          <a:lstStyle/>
          <a:p>
            <a:pPr indent="0" marL="0">
              <a:lnSpc>
                <a:spcPts val="1900"/>
              </a:lnSpc>
              <a:buNone/>
            </a:pPr>
            <a:r>
              <a:rPr lang="en-US" sz="1350" i="1" dirty="0">
                <a:solidFill>
                  <a:srgbClr val="129B68"/>
                </a:solidFill>
                <a:latin typeface="Calibri" pitchFamily="34" charset="0"/>
                <a:ea typeface="Calibri" pitchFamily="34" charset="-122"/>
                <a:cs typeface="Calibri" pitchFamily="34" charset="-120"/>
              </a:rPr>
              <a:t>The sharpest separation in the study — H2 is supported.</a:t>
            </a:r>
            <a:endParaRPr lang="en-US" sz="1350" dirty="0"/>
          </a:p>
        </p:txBody>
      </p:sp>
      <p:sp>
        <p:nvSpPr>
          <p:cNvPr id="11" name="Text 8"/>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HELD-OUT EVALUATION · H3</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Result: could the report be grounded?</a:t>
            </a:r>
            <a:endParaRPr lang="en-US" sz="3000" dirty="0"/>
          </a:p>
        </p:txBody>
      </p:sp>
      <p:sp>
        <p:nvSpPr>
          <p:cNvPr id="4" name="Shape 2"/>
          <p:cNvSpPr/>
          <p:nvPr/>
        </p:nvSpPr>
        <p:spPr>
          <a:xfrm>
            <a:off x="640080" y="1572768"/>
            <a:ext cx="7086600" cy="4251960"/>
          </a:xfrm>
          <a:prstGeom prst="roundRect">
            <a:avLst>
              <a:gd name="adj" fmla="val 129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pic>
        <p:nvPicPr>
          <p:cNvPr id="5" name="Image 0" descr="/Users/vishal/ai-statistician/reports/figures/slides/validity.png">    </p:cNvPr>
          <p:cNvPicPr>
            <a:picLocks noChangeAspect="1"/>
          </p:cNvPicPr>
          <p:nvPr/>
        </p:nvPicPr>
        <p:blipFill>
          <a:blip r:embed="rId1"/>
          <a:stretch>
            <a:fillRect/>
          </a:stretch>
        </p:blipFill>
        <p:spPr>
          <a:xfrm>
            <a:off x="841248" y="2118544"/>
            <a:ext cx="6684264" cy="3160409"/>
          </a:xfrm>
          <a:prstGeom prst="rect">
            <a:avLst/>
          </a:prstGeom>
        </p:spPr>
      </p:pic>
      <p:sp>
        <p:nvSpPr>
          <p:cNvPr id="6" name="Shape 3"/>
          <p:cNvSpPr/>
          <p:nvPr/>
        </p:nvSpPr>
        <p:spPr>
          <a:xfrm>
            <a:off x="7909560" y="1572768"/>
            <a:ext cx="3611880" cy="4251960"/>
          </a:xfrm>
          <a:prstGeom prst="roundRect">
            <a:avLst>
              <a:gd name="adj" fmla="val 1519"/>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Text 4"/>
          <p:cNvSpPr txBox="1"/>
          <p:nvPr/>
        </p:nvSpPr>
        <p:spPr>
          <a:xfrm>
            <a:off x="8229600" y="1847088"/>
            <a:ext cx="2971800" cy="274320"/>
          </a:xfrm>
          <a:prstGeom prst="rect">
            <a:avLst/>
          </a:prstGeom>
          <a:noFill/>
          <a:ln/>
        </p:spPr>
        <p:txBody>
          <a:bodyPr wrap="square" lIns="0" tIns="0" rIns="0" bIns="0" rtlCol="0" anchor="ctr"/>
          <a:lstStyle/>
          <a:p>
            <a:pPr indent="0" marL="0">
              <a:buNone/>
            </a:pPr>
            <a:r>
              <a:rPr lang="en-US" sz="1200" b="1" spc="100" kern="0" dirty="0">
                <a:solidFill>
                  <a:srgbClr val="8496A6"/>
                </a:solidFill>
                <a:latin typeface="Calibri" pitchFamily="34" charset="0"/>
                <a:ea typeface="Calibri" pitchFamily="34" charset="-122"/>
                <a:cs typeface="Calibri" pitchFamily="34" charset="-120"/>
              </a:rPr>
              <a:t>DIRECT BASELINE</a:t>
            </a:r>
            <a:endParaRPr lang="en-US" sz="1200" dirty="0"/>
          </a:p>
        </p:txBody>
      </p:sp>
      <p:sp>
        <p:nvSpPr>
          <p:cNvPr id="8" name="Text 5"/>
          <p:cNvSpPr txBox="1"/>
          <p:nvPr/>
        </p:nvSpPr>
        <p:spPr>
          <a:xfrm>
            <a:off x="8229600" y="2139696"/>
            <a:ext cx="2971800" cy="731520"/>
          </a:xfrm>
          <a:prstGeom prst="rect">
            <a:avLst/>
          </a:prstGeom>
          <a:noFill/>
          <a:ln/>
        </p:spPr>
        <p:txBody>
          <a:bodyPr wrap="square" lIns="0" tIns="0" rIns="0" bIns="0" rtlCol="0" anchor="ctr"/>
          <a:lstStyle/>
          <a:p>
            <a:pPr indent="0" marL="0">
              <a:buNone/>
            </a:pPr>
            <a:r>
              <a:rPr lang="en-US" sz="4400" b="1" dirty="0">
                <a:solidFill>
                  <a:srgbClr val="DD6027"/>
                </a:solidFill>
                <a:latin typeface="Cambria" pitchFamily="34" charset="0"/>
                <a:ea typeface="Cambria" pitchFamily="34" charset="-122"/>
                <a:cs typeface="Cambria" pitchFamily="34" charset="-120"/>
              </a:rPr>
              <a:t>43 / 96</a:t>
            </a:r>
            <a:endParaRPr lang="en-US" sz="4400" dirty="0"/>
          </a:p>
        </p:txBody>
      </p:sp>
      <p:sp>
        <p:nvSpPr>
          <p:cNvPr id="9" name="Text 6"/>
          <p:cNvSpPr txBox="1"/>
          <p:nvPr/>
        </p:nvSpPr>
        <p:spPr>
          <a:xfrm>
            <a:off x="8229600" y="2944368"/>
            <a:ext cx="2971800" cy="19202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reports cited a number no tool produced, or a diagnostic never run. The contract rejected every one before it reached a reader.</a:t>
            </a:r>
            <a:endParaRPr lang="en-US" sz="1400" dirty="0"/>
          </a:p>
        </p:txBody>
      </p:sp>
      <p:sp>
        <p:nvSpPr>
          <p:cNvPr id="10" name="Text 7"/>
          <p:cNvSpPr txBox="1"/>
          <p:nvPr/>
        </p:nvSpPr>
        <p:spPr>
          <a:xfrm>
            <a:off x="8229600" y="4910328"/>
            <a:ext cx="2971800" cy="731520"/>
          </a:xfrm>
          <a:prstGeom prst="rect">
            <a:avLst/>
          </a:prstGeom>
          <a:noFill/>
          <a:ln/>
        </p:spPr>
        <p:txBody>
          <a:bodyPr wrap="square" lIns="0" tIns="0" rIns="0" bIns="0" rtlCol="0" anchor="ctr"/>
          <a:lstStyle/>
          <a:p>
            <a:pPr indent="0" marL="0">
              <a:lnSpc>
                <a:spcPts val="1900"/>
              </a:lnSpc>
              <a:buNone/>
            </a:pPr>
            <a:r>
              <a:rPr lang="en-US" sz="1350" i="1" dirty="0">
                <a:solidFill>
                  <a:srgbClr val="DD6027"/>
                </a:solidFill>
                <a:latin typeface="Calibri" pitchFamily="34" charset="0"/>
                <a:ea typeface="Calibri" pitchFamily="34" charset="-122"/>
                <a:cs typeface="Calibri" pitchFamily="34" charset="-120"/>
              </a:rPr>
              <a:t>No fabricated number shipped in any arm — H3 is supported.</a:t>
            </a:r>
            <a:endParaRPr lang="en-US" sz="1350" dirty="0"/>
          </a:p>
        </p:txBody>
      </p:sp>
      <p:sp>
        <p:nvSpPr>
          <p:cNvPr id="11" name="Text 8"/>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HELD-OUT EVALUATION · ERROR ANALYSIS</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Result: where each system fails</a:t>
            </a:r>
            <a:endParaRPr lang="en-US" sz="3000" dirty="0"/>
          </a:p>
        </p:txBody>
      </p:sp>
      <p:sp>
        <p:nvSpPr>
          <p:cNvPr id="4" name="Shape 2"/>
          <p:cNvSpPr/>
          <p:nvPr/>
        </p:nvSpPr>
        <p:spPr>
          <a:xfrm>
            <a:off x="640080" y="1572768"/>
            <a:ext cx="7086600" cy="4251960"/>
          </a:xfrm>
          <a:prstGeom prst="roundRect">
            <a:avLst>
              <a:gd name="adj" fmla="val 129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pic>
        <p:nvPicPr>
          <p:cNvPr id="5" name="Image 0" descr="/Users/vishal/ai-statistician/reports/figures/fig7_heldout_failures.png">    </p:cNvPr>
          <p:cNvPicPr>
            <a:picLocks noChangeAspect="1"/>
          </p:cNvPicPr>
          <p:nvPr/>
        </p:nvPicPr>
        <p:blipFill>
          <a:blip r:embed="rId1"/>
          <a:stretch>
            <a:fillRect/>
          </a:stretch>
        </p:blipFill>
        <p:spPr>
          <a:xfrm>
            <a:off x="841248" y="1931359"/>
            <a:ext cx="6684264" cy="3534777"/>
          </a:xfrm>
          <a:prstGeom prst="rect">
            <a:avLst/>
          </a:prstGeom>
        </p:spPr>
      </p:pic>
      <p:sp>
        <p:nvSpPr>
          <p:cNvPr id="6" name="Shape 3"/>
          <p:cNvSpPr/>
          <p:nvPr/>
        </p:nvSpPr>
        <p:spPr>
          <a:xfrm>
            <a:off x="7909560" y="1572768"/>
            <a:ext cx="3611880" cy="4251960"/>
          </a:xfrm>
          <a:prstGeom prst="roundRect">
            <a:avLst>
              <a:gd name="adj" fmla="val 1519"/>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Text 4"/>
          <p:cNvSpPr txBox="1"/>
          <p:nvPr/>
        </p:nvSpPr>
        <p:spPr>
          <a:xfrm>
            <a:off x="8229600" y="1847088"/>
            <a:ext cx="2971800" cy="274320"/>
          </a:xfrm>
          <a:prstGeom prst="rect">
            <a:avLst/>
          </a:prstGeom>
          <a:noFill/>
          <a:ln/>
        </p:spPr>
        <p:txBody>
          <a:bodyPr wrap="square" lIns="0" tIns="0" rIns="0" bIns="0" rtlCol="0" anchor="ctr"/>
          <a:lstStyle/>
          <a:p>
            <a:pPr indent="0" marL="0">
              <a:buNone/>
            </a:pPr>
            <a:r>
              <a:rPr lang="en-US" sz="1200" b="1" spc="100" kern="0" dirty="0">
                <a:solidFill>
                  <a:srgbClr val="8496A6"/>
                </a:solidFill>
                <a:latin typeface="Calibri" pitchFamily="34" charset="0"/>
                <a:ea typeface="Calibri" pitchFamily="34" charset="-122"/>
                <a:cs typeface="Calibri" pitchFamily="34" charset="-120"/>
              </a:rPr>
              <a:t>DESIGN-VALIDATION FAILURES</a:t>
            </a:r>
            <a:endParaRPr lang="en-US" sz="1200" dirty="0"/>
          </a:p>
        </p:txBody>
      </p:sp>
      <p:sp>
        <p:nvSpPr>
          <p:cNvPr id="8" name="Text 5"/>
          <p:cNvSpPr txBox="1"/>
          <p:nvPr/>
        </p:nvSpPr>
        <p:spPr>
          <a:xfrm>
            <a:off x="8229600" y="2139696"/>
            <a:ext cx="2971800" cy="731520"/>
          </a:xfrm>
          <a:prstGeom prst="rect">
            <a:avLst/>
          </a:prstGeom>
          <a:noFill/>
          <a:ln/>
        </p:spPr>
        <p:txBody>
          <a:bodyPr wrap="square" lIns="0" tIns="0" rIns="0" bIns="0" rtlCol="0" anchor="ctr"/>
          <a:lstStyle/>
          <a:p>
            <a:pPr indent="0" marL="0">
              <a:buNone/>
            </a:pPr>
            <a:r>
              <a:rPr lang="en-US" sz="4400" b="1" dirty="0">
                <a:solidFill>
                  <a:srgbClr val="129B68"/>
                </a:solidFill>
                <a:latin typeface="Cambria" pitchFamily="34" charset="0"/>
                <a:ea typeface="Cambria" pitchFamily="34" charset="-122"/>
                <a:cs typeface="Cambria" pitchFamily="34" charset="-120"/>
              </a:rPr>
              <a:t>20 → 4</a:t>
            </a:r>
            <a:endParaRPr lang="en-US" sz="4400" dirty="0"/>
          </a:p>
        </p:txBody>
      </p:sp>
      <p:sp>
        <p:nvSpPr>
          <p:cNvPr id="9" name="Text 6"/>
          <p:cNvSpPr txBox="1"/>
          <p:nvPr/>
        </p:nvSpPr>
        <p:spPr>
          <a:xfrm>
            <a:off x="8229600" y="2944368"/>
            <a:ext cx="2971800" cy="19202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Tool-only against protocol. The failures that remain in System C are mostly diagnostic reasoning, not design.</a:t>
            </a:r>
            <a:endParaRPr lang="en-US" sz="1400" dirty="0"/>
          </a:p>
        </p:txBody>
      </p:sp>
      <p:sp>
        <p:nvSpPr>
          <p:cNvPr id="10" name="Text 7"/>
          <p:cNvSpPr txBox="1"/>
          <p:nvPr/>
        </p:nvSpPr>
        <p:spPr>
          <a:xfrm>
            <a:off x="8229600" y="4910328"/>
            <a:ext cx="2971800" cy="731520"/>
          </a:xfrm>
          <a:prstGeom prst="rect">
            <a:avLst/>
          </a:prstGeom>
          <a:noFill/>
          <a:ln/>
        </p:spPr>
        <p:txBody>
          <a:bodyPr wrap="square" lIns="0" tIns="0" rIns="0" bIns="0" rtlCol="0" anchor="ctr"/>
          <a:lstStyle/>
          <a:p>
            <a:pPr indent="0" marL="0">
              <a:lnSpc>
                <a:spcPts val="1900"/>
              </a:lnSpc>
              <a:buNone/>
            </a:pPr>
            <a:r>
              <a:rPr lang="en-US" sz="1350" i="1" dirty="0">
                <a:solidFill>
                  <a:srgbClr val="129B68"/>
                </a:solidFill>
                <a:latin typeface="Calibri" pitchFamily="34" charset="0"/>
                <a:ea typeface="Calibri" pitchFamily="34" charset="-122"/>
                <a:cs typeface="Calibri" pitchFamily="34" charset="-120"/>
              </a:rPr>
              <a:t>The protocol removed the failure it was built to remove.</a:t>
            </a:r>
            <a:endParaRPr lang="en-US" sz="1350" dirty="0"/>
          </a:p>
        </p:txBody>
      </p:sp>
      <p:sp>
        <p:nvSpPr>
          <p:cNvPr id="11" name="Text 8"/>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HELD-OUT EVALUATION · RISK–COVERAGE</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Result: the coverage it gave up, and why</a:t>
            </a:r>
            <a:endParaRPr lang="en-US" sz="3000" dirty="0"/>
          </a:p>
        </p:txBody>
      </p:sp>
      <p:sp>
        <p:nvSpPr>
          <p:cNvPr id="4" name="Shape 2"/>
          <p:cNvSpPr/>
          <p:nvPr/>
        </p:nvSpPr>
        <p:spPr>
          <a:xfrm>
            <a:off x="640080" y="1572768"/>
            <a:ext cx="5669280" cy="4251960"/>
          </a:xfrm>
          <a:prstGeom prst="roundRect">
            <a:avLst>
              <a:gd name="adj" fmla="val 129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pic>
        <p:nvPicPr>
          <p:cNvPr id="5" name="Image 0" descr="/Users/vishal/ai-statistician/reports/figures/fig6_heldout_risk_coverage.png">    </p:cNvPr>
          <p:cNvPicPr>
            <a:picLocks noChangeAspect="1"/>
          </p:cNvPicPr>
          <p:nvPr/>
        </p:nvPicPr>
        <p:blipFill>
          <a:blip r:embed="rId1"/>
          <a:stretch>
            <a:fillRect/>
          </a:stretch>
        </p:blipFill>
        <p:spPr>
          <a:xfrm>
            <a:off x="841248" y="1810954"/>
            <a:ext cx="5266944" cy="3775587"/>
          </a:xfrm>
          <a:prstGeom prst="rect">
            <a:avLst/>
          </a:prstGeom>
        </p:spPr>
      </p:pic>
      <p:sp>
        <p:nvSpPr>
          <p:cNvPr id="6" name="Shape 3"/>
          <p:cNvSpPr/>
          <p:nvPr/>
        </p:nvSpPr>
        <p:spPr>
          <a:xfrm>
            <a:off x="6492240" y="1572768"/>
            <a:ext cx="5029200" cy="4251960"/>
          </a:xfrm>
          <a:prstGeom prst="roundRect">
            <a:avLst>
              <a:gd name="adj" fmla="val 129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7" name="Text 4"/>
          <p:cNvSpPr txBox="1"/>
          <p:nvPr/>
        </p:nvSpPr>
        <p:spPr>
          <a:xfrm>
            <a:off x="6812280" y="1847088"/>
            <a:ext cx="4389120" cy="274320"/>
          </a:xfrm>
          <a:prstGeom prst="rect">
            <a:avLst/>
          </a:prstGeom>
          <a:noFill/>
          <a:ln/>
        </p:spPr>
        <p:txBody>
          <a:bodyPr wrap="square" lIns="0" tIns="0" rIns="0" bIns="0" rtlCol="0" anchor="ctr"/>
          <a:lstStyle/>
          <a:p>
            <a:pPr indent="0" marL="0">
              <a:buNone/>
            </a:pPr>
            <a:r>
              <a:rPr lang="en-US" sz="1200" b="1" spc="100" kern="0" dirty="0">
                <a:solidFill>
                  <a:srgbClr val="8496A6"/>
                </a:solidFill>
                <a:latin typeface="Calibri" pitchFamily="34" charset="0"/>
                <a:ea typeface="Calibri" pitchFamily="34" charset="-122"/>
                <a:cs typeface="Calibri" pitchFamily="34" charset="-120"/>
              </a:rPr>
              <a:t>SELECTIVE ACCURACY</a:t>
            </a:r>
            <a:endParaRPr lang="en-US" sz="1200" dirty="0"/>
          </a:p>
        </p:txBody>
      </p:sp>
      <p:sp>
        <p:nvSpPr>
          <p:cNvPr id="8" name="Text 5"/>
          <p:cNvSpPr txBox="1"/>
          <p:nvPr/>
        </p:nvSpPr>
        <p:spPr>
          <a:xfrm>
            <a:off x="6812280" y="2139696"/>
            <a:ext cx="4389120" cy="731520"/>
          </a:xfrm>
          <a:prstGeom prst="rect">
            <a:avLst/>
          </a:prstGeom>
          <a:noFill/>
          <a:ln/>
        </p:spPr>
        <p:txBody>
          <a:bodyPr wrap="square" lIns="0" tIns="0" rIns="0" bIns="0" rtlCol="0" anchor="ctr"/>
          <a:lstStyle/>
          <a:p>
            <a:pPr indent="0" marL="0">
              <a:buNone/>
            </a:pPr>
            <a:r>
              <a:rPr lang="en-US" sz="4400" b="1" dirty="0">
                <a:solidFill>
                  <a:srgbClr val="129B68"/>
                </a:solidFill>
                <a:latin typeface="Cambria" pitchFamily="34" charset="0"/>
                <a:ea typeface="Cambria" pitchFamily="34" charset="-122"/>
                <a:cs typeface="Cambria" pitchFamily="34" charset="-120"/>
              </a:rPr>
              <a:t>87%</a:t>
            </a:r>
            <a:endParaRPr lang="en-US" sz="4400" dirty="0"/>
          </a:p>
        </p:txBody>
      </p:sp>
      <p:sp>
        <p:nvSpPr>
          <p:cNvPr id="9" name="Text 6"/>
          <p:cNvSpPr txBox="1"/>
          <p:nvPr/>
        </p:nvSpPr>
        <p:spPr>
          <a:xfrm>
            <a:off x="6812280" y="2944368"/>
            <a:ext cx="4389120" cy="19202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System C answered 85% of cases and was right on 87% of those. A and B answered nearly everything — 95% and 98% — and were right less often.</a:t>
            </a:r>
            <a:endParaRPr lang="en-US" sz="1400" dirty="0"/>
          </a:p>
        </p:txBody>
      </p:sp>
      <p:sp>
        <p:nvSpPr>
          <p:cNvPr id="10" name="Text 7"/>
          <p:cNvSpPr txBox="1"/>
          <p:nvPr/>
        </p:nvSpPr>
        <p:spPr>
          <a:xfrm>
            <a:off x="6812280" y="4910328"/>
            <a:ext cx="4389120" cy="731520"/>
          </a:xfrm>
          <a:prstGeom prst="rect">
            <a:avLst/>
          </a:prstGeom>
          <a:noFill/>
          <a:ln/>
        </p:spPr>
        <p:txBody>
          <a:bodyPr wrap="square" lIns="0" tIns="0" rIns="0" bIns="0" rtlCol="0" anchor="ctr"/>
          <a:lstStyle/>
          <a:p>
            <a:pPr indent="0" marL="0">
              <a:lnSpc>
                <a:spcPts val="1900"/>
              </a:lnSpc>
              <a:buNone/>
            </a:pPr>
            <a:r>
              <a:rPr lang="en-US" sz="1350" i="1" dirty="0">
                <a:solidFill>
                  <a:srgbClr val="129B68"/>
                </a:solidFill>
                <a:latin typeface="Calibri" pitchFamily="34" charset="0"/>
                <a:ea typeface="Calibri" pitchFamily="34" charset="-122"/>
                <a:cs typeface="Calibri" pitchFamily="34" charset="-120"/>
              </a:rPr>
              <a:t>Declining when it should is what lifts accuracy. It is not caution for its own sake.</a:t>
            </a:r>
            <a:endParaRPr lang="en-US" sz="1350" dirty="0"/>
          </a:p>
        </p:txBody>
      </p:sp>
      <p:sp>
        <p:nvSpPr>
          <p:cNvPr id="11" name="Text 8"/>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FINDINGS</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Hypotheses revisited</a:t>
            </a:r>
            <a:endParaRPr lang="en-US" sz="3000" dirty="0"/>
          </a:p>
        </p:txBody>
      </p:sp>
      <p:sp>
        <p:nvSpPr>
          <p:cNvPr id="4" name="Shape 2"/>
          <p:cNvSpPr/>
          <p:nvPr/>
        </p:nvSpPr>
        <p:spPr>
          <a:xfrm>
            <a:off x="640080" y="1572768"/>
            <a:ext cx="10881360" cy="877824"/>
          </a:xfrm>
          <a:prstGeom prst="roundRect">
            <a:avLst>
              <a:gd name="adj" fmla="val 625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960120" y="1792224"/>
            <a:ext cx="731520" cy="457200"/>
          </a:xfrm>
          <a:prstGeom prst="rect">
            <a:avLst/>
          </a:prstGeom>
          <a:noFill/>
          <a:ln/>
        </p:spPr>
        <p:txBody>
          <a:bodyPr wrap="square" lIns="0" tIns="0" rIns="0" bIns="0" rtlCol="0" anchor="ctr"/>
          <a:lstStyle/>
          <a:p>
            <a:pPr indent="0" marL="0">
              <a:buNone/>
            </a:pPr>
            <a:r>
              <a:rPr lang="en-US" sz="2200" b="1" dirty="0">
                <a:solidFill>
                  <a:srgbClr val="129B68"/>
                </a:solidFill>
                <a:latin typeface="Cambria" pitchFamily="34" charset="0"/>
                <a:ea typeface="Cambria" pitchFamily="34" charset="-122"/>
                <a:cs typeface="Cambria" pitchFamily="34" charset="-120"/>
              </a:rPr>
              <a:t>H1</a:t>
            </a:r>
            <a:endParaRPr lang="en-US" sz="2200" dirty="0"/>
          </a:p>
        </p:txBody>
      </p:sp>
      <p:sp>
        <p:nvSpPr>
          <p:cNvPr id="6" name="Text 4"/>
          <p:cNvSpPr txBox="1"/>
          <p:nvPr/>
        </p:nvSpPr>
        <p:spPr>
          <a:xfrm>
            <a:off x="1737360" y="1837944"/>
            <a:ext cx="18288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Selection</a:t>
            </a:r>
            <a:endParaRPr lang="en-US" sz="1550" dirty="0"/>
          </a:p>
        </p:txBody>
      </p:sp>
      <p:sp>
        <p:nvSpPr>
          <p:cNvPr id="7" name="Shape 5"/>
          <p:cNvSpPr/>
          <p:nvPr/>
        </p:nvSpPr>
        <p:spPr>
          <a:xfrm>
            <a:off x="3611880" y="1819656"/>
            <a:ext cx="1417320" cy="384048"/>
          </a:xfrm>
          <a:prstGeom prst="roundRect">
            <a:avLst>
              <a:gd name="adj" fmla="val 50000"/>
            </a:avLst>
          </a:prstGeom>
          <a:solidFill>
            <a:srgbClr val="129B68"/>
          </a:solidFill>
          <a:ln w="12700">
            <a:solidFill>
              <a:srgbClr val="129B68"/>
            </a:solidFill>
            <a:prstDash val="solid"/>
          </a:ln>
        </p:spPr>
      </p:sp>
      <p:sp>
        <p:nvSpPr>
          <p:cNvPr id="8" name="Text 6"/>
          <p:cNvSpPr txBox="1"/>
          <p:nvPr/>
        </p:nvSpPr>
        <p:spPr>
          <a:xfrm>
            <a:off x="3611880" y="1819656"/>
            <a:ext cx="14173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Supported</a:t>
            </a:r>
            <a:endParaRPr lang="en-US" sz="1250" dirty="0"/>
          </a:p>
        </p:txBody>
      </p:sp>
      <p:sp>
        <p:nvSpPr>
          <p:cNvPr id="9" name="Text 7"/>
          <p:cNvSpPr txBox="1"/>
          <p:nvPr/>
        </p:nvSpPr>
        <p:spPr>
          <a:xfrm>
            <a:off x="5303520" y="1810512"/>
            <a:ext cx="5943600" cy="457200"/>
          </a:xfrm>
          <a:prstGeom prst="rect">
            <a:avLst/>
          </a:prstGeom>
          <a:noFill/>
          <a:ln/>
        </p:spPr>
        <p:txBody>
          <a:bodyPr wrap="square" lIns="0" tIns="0" rIns="0" bIns="0" rtlCol="0" anchor="ctr"/>
          <a:lstStyle/>
          <a:p>
            <a:pPr indent="0" marL="0">
              <a:buNone/>
            </a:pPr>
            <a:r>
              <a:rPr lang="en-US" sz="1400" dirty="0">
                <a:solidFill>
                  <a:srgbClr val="4A5A69"/>
                </a:solidFill>
                <a:latin typeface="Calibri" pitchFamily="34" charset="0"/>
                <a:ea typeface="Calibri" pitchFamily="34" charset="-122"/>
                <a:cs typeface="Calibri" pitchFamily="34" charset="-120"/>
              </a:rPr>
              <a:t>C over B: +25 points, McNemar p = 0.0018, 95% CI [+12.5, +39.6].</a:t>
            </a:r>
            <a:endParaRPr lang="en-US" sz="1400" dirty="0"/>
          </a:p>
        </p:txBody>
      </p:sp>
      <p:sp>
        <p:nvSpPr>
          <p:cNvPr id="10" name="Shape 8"/>
          <p:cNvSpPr/>
          <p:nvPr/>
        </p:nvSpPr>
        <p:spPr>
          <a:xfrm>
            <a:off x="640080" y="2596896"/>
            <a:ext cx="10881360" cy="877824"/>
          </a:xfrm>
          <a:prstGeom prst="roundRect">
            <a:avLst>
              <a:gd name="adj" fmla="val 625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Text 9"/>
          <p:cNvSpPr txBox="1"/>
          <p:nvPr/>
        </p:nvSpPr>
        <p:spPr>
          <a:xfrm>
            <a:off x="960120" y="2816352"/>
            <a:ext cx="731520" cy="457200"/>
          </a:xfrm>
          <a:prstGeom prst="rect">
            <a:avLst/>
          </a:prstGeom>
          <a:noFill/>
          <a:ln/>
        </p:spPr>
        <p:txBody>
          <a:bodyPr wrap="square" lIns="0" tIns="0" rIns="0" bIns="0" rtlCol="0" anchor="ctr"/>
          <a:lstStyle/>
          <a:p>
            <a:pPr indent="0" marL="0">
              <a:buNone/>
            </a:pPr>
            <a:r>
              <a:rPr lang="en-US" sz="2200" b="1" dirty="0">
                <a:solidFill>
                  <a:srgbClr val="129B68"/>
                </a:solidFill>
                <a:latin typeface="Cambria" pitchFamily="34" charset="0"/>
                <a:ea typeface="Cambria" pitchFamily="34" charset="-122"/>
                <a:cs typeface="Cambria" pitchFamily="34" charset="-120"/>
              </a:rPr>
              <a:t>H2</a:t>
            </a:r>
            <a:endParaRPr lang="en-US" sz="2200" dirty="0"/>
          </a:p>
        </p:txBody>
      </p:sp>
      <p:sp>
        <p:nvSpPr>
          <p:cNvPr id="12" name="Text 10"/>
          <p:cNvSpPr txBox="1"/>
          <p:nvPr/>
        </p:nvSpPr>
        <p:spPr>
          <a:xfrm>
            <a:off x="1737360" y="2862072"/>
            <a:ext cx="18288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Abstention</a:t>
            </a:r>
            <a:endParaRPr lang="en-US" sz="1550" dirty="0"/>
          </a:p>
        </p:txBody>
      </p:sp>
      <p:sp>
        <p:nvSpPr>
          <p:cNvPr id="13" name="Shape 11"/>
          <p:cNvSpPr/>
          <p:nvPr/>
        </p:nvSpPr>
        <p:spPr>
          <a:xfrm>
            <a:off x="3611880" y="2843784"/>
            <a:ext cx="1417320" cy="384048"/>
          </a:xfrm>
          <a:prstGeom prst="roundRect">
            <a:avLst>
              <a:gd name="adj" fmla="val 50000"/>
            </a:avLst>
          </a:prstGeom>
          <a:solidFill>
            <a:srgbClr val="129B68"/>
          </a:solidFill>
          <a:ln w="12700">
            <a:solidFill>
              <a:srgbClr val="129B68"/>
            </a:solidFill>
            <a:prstDash val="solid"/>
          </a:ln>
        </p:spPr>
      </p:sp>
      <p:sp>
        <p:nvSpPr>
          <p:cNvPr id="14" name="Text 12"/>
          <p:cNvSpPr txBox="1"/>
          <p:nvPr/>
        </p:nvSpPr>
        <p:spPr>
          <a:xfrm>
            <a:off x="3611880" y="2843784"/>
            <a:ext cx="14173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Supported</a:t>
            </a:r>
            <a:endParaRPr lang="en-US" sz="1250" dirty="0"/>
          </a:p>
        </p:txBody>
      </p:sp>
      <p:sp>
        <p:nvSpPr>
          <p:cNvPr id="15" name="Text 13"/>
          <p:cNvSpPr txBox="1"/>
          <p:nvPr/>
        </p:nvSpPr>
        <p:spPr>
          <a:xfrm>
            <a:off x="5303520" y="2834640"/>
            <a:ext cx="5943600" cy="457200"/>
          </a:xfrm>
          <a:prstGeom prst="rect">
            <a:avLst/>
          </a:prstGeom>
          <a:noFill/>
          <a:ln/>
        </p:spPr>
        <p:txBody>
          <a:bodyPr wrap="square" lIns="0" tIns="0" rIns="0" bIns="0" rtlCol="0" anchor="ctr"/>
          <a:lstStyle/>
          <a:p>
            <a:pPr indent="0" marL="0">
              <a:buNone/>
            </a:pPr>
            <a:r>
              <a:rPr lang="en-US" sz="1400" dirty="0">
                <a:solidFill>
                  <a:srgbClr val="4A5A69"/>
                </a:solidFill>
                <a:latin typeface="Calibri" pitchFamily="34" charset="0"/>
                <a:ea typeface="Calibri" pitchFamily="34" charset="-122"/>
                <a:cs typeface="Calibri" pitchFamily="34" charset="-120"/>
              </a:rPr>
              <a:t>Declined correctly 78% of the time; the tool baseline 0%.</a:t>
            </a:r>
            <a:endParaRPr lang="en-US" sz="1400" dirty="0"/>
          </a:p>
        </p:txBody>
      </p:sp>
      <p:sp>
        <p:nvSpPr>
          <p:cNvPr id="16" name="Shape 14"/>
          <p:cNvSpPr/>
          <p:nvPr/>
        </p:nvSpPr>
        <p:spPr>
          <a:xfrm>
            <a:off x="640080" y="3621024"/>
            <a:ext cx="10881360" cy="877824"/>
          </a:xfrm>
          <a:prstGeom prst="roundRect">
            <a:avLst>
              <a:gd name="adj" fmla="val 625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7" name="Text 15"/>
          <p:cNvSpPr txBox="1"/>
          <p:nvPr/>
        </p:nvSpPr>
        <p:spPr>
          <a:xfrm>
            <a:off x="960120" y="3840480"/>
            <a:ext cx="731520" cy="457200"/>
          </a:xfrm>
          <a:prstGeom prst="rect">
            <a:avLst/>
          </a:prstGeom>
          <a:noFill/>
          <a:ln/>
        </p:spPr>
        <p:txBody>
          <a:bodyPr wrap="square" lIns="0" tIns="0" rIns="0" bIns="0" rtlCol="0" anchor="ctr"/>
          <a:lstStyle/>
          <a:p>
            <a:pPr indent="0" marL="0">
              <a:buNone/>
            </a:pPr>
            <a:r>
              <a:rPr lang="en-US" sz="2200" b="1" dirty="0">
                <a:solidFill>
                  <a:srgbClr val="129B68"/>
                </a:solidFill>
                <a:latin typeface="Cambria" pitchFamily="34" charset="0"/>
                <a:ea typeface="Cambria" pitchFamily="34" charset="-122"/>
                <a:cs typeface="Cambria" pitchFamily="34" charset="-120"/>
              </a:rPr>
              <a:t>H3</a:t>
            </a:r>
            <a:endParaRPr lang="en-US" sz="2200" dirty="0"/>
          </a:p>
        </p:txBody>
      </p:sp>
      <p:sp>
        <p:nvSpPr>
          <p:cNvPr id="18" name="Text 16"/>
          <p:cNvSpPr txBox="1"/>
          <p:nvPr/>
        </p:nvSpPr>
        <p:spPr>
          <a:xfrm>
            <a:off x="1737360" y="3886200"/>
            <a:ext cx="18288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Provenance</a:t>
            </a:r>
            <a:endParaRPr lang="en-US" sz="1550" dirty="0"/>
          </a:p>
        </p:txBody>
      </p:sp>
      <p:sp>
        <p:nvSpPr>
          <p:cNvPr id="19" name="Shape 17"/>
          <p:cNvSpPr/>
          <p:nvPr/>
        </p:nvSpPr>
        <p:spPr>
          <a:xfrm>
            <a:off x="3611880" y="3867912"/>
            <a:ext cx="1417320" cy="384048"/>
          </a:xfrm>
          <a:prstGeom prst="roundRect">
            <a:avLst>
              <a:gd name="adj" fmla="val 50000"/>
            </a:avLst>
          </a:prstGeom>
          <a:solidFill>
            <a:srgbClr val="129B68"/>
          </a:solidFill>
          <a:ln w="12700">
            <a:solidFill>
              <a:srgbClr val="129B68"/>
            </a:solidFill>
            <a:prstDash val="solid"/>
          </a:ln>
        </p:spPr>
      </p:sp>
      <p:sp>
        <p:nvSpPr>
          <p:cNvPr id="20" name="Text 18"/>
          <p:cNvSpPr txBox="1"/>
          <p:nvPr/>
        </p:nvSpPr>
        <p:spPr>
          <a:xfrm>
            <a:off x="3611880" y="3867912"/>
            <a:ext cx="14173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Supported</a:t>
            </a:r>
            <a:endParaRPr lang="en-US" sz="1250" dirty="0"/>
          </a:p>
        </p:txBody>
      </p:sp>
      <p:sp>
        <p:nvSpPr>
          <p:cNvPr id="21" name="Text 19"/>
          <p:cNvSpPr txBox="1"/>
          <p:nvPr/>
        </p:nvSpPr>
        <p:spPr>
          <a:xfrm>
            <a:off x="5303520" y="3858768"/>
            <a:ext cx="5943600" cy="457200"/>
          </a:xfrm>
          <a:prstGeom prst="rect">
            <a:avLst/>
          </a:prstGeom>
          <a:noFill/>
          <a:ln/>
        </p:spPr>
        <p:txBody>
          <a:bodyPr wrap="square" lIns="0" tIns="0" rIns="0" bIns="0" rtlCol="0" anchor="ctr"/>
          <a:lstStyle/>
          <a:p>
            <a:pPr indent="0" marL="0">
              <a:buNone/>
            </a:pPr>
            <a:r>
              <a:rPr lang="en-US" sz="1400" dirty="0">
                <a:solidFill>
                  <a:srgbClr val="4A5A69"/>
                </a:solidFill>
                <a:latin typeface="Calibri" pitchFamily="34" charset="0"/>
                <a:ea typeface="Calibri" pitchFamily="34" charset="-122"/>
                <a:cs typeface="Calibri" pitchFamily="34" charset="-120"/>
              </a:rPr>
              <a:t>51 ungrounded reports rejected across all arms; none reached a reader.</a:t>
            </a:r>
            <a:endParaRPr lang="en-US" sz="1400" dirty="0"/>
          </a:p>
        </p:txBody>
      </p:sp>
      <p:sp>
        <p:nvSpPr>
          <p:cNvPr id="22" name="Shape 20"/>
          <p:cNvSpPr/>
          <p:nvPr/>
        </p:nvSpPr>
        <p:spPr>
          <a:xfrm>
            <a:off x="640080" y="4645152"/>
            <a:ext cx="10881360" cy="877824"/>
          </a:xfrm>
          <a:prstGeom prst="roundRect">
            <a:avLst>
              <a:gd name="adj" fmla="val 625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23" name="Text 21"/>
          <p:cNvSpPr txBox="1"/>
          <p:nvPr/>
        </p:nvSpPr>
        <p:spPr>
          <a:xfrm>
            <a:off x="960120" y="4864608"/>
            <a:ext cx="731520" cy="457200"/>
          </a:xfrm>
          <a:prstGeom prst="rect">
            <a:avLst/>
          </a:prstGeom>
          <a:noFill/>
          <a:ln/>
        </p:spPr>
        <p:txBody>
          <a:bodyPr wrap="square" lIns="0" tIns="0" rIns="0" bIns="0" rtlCol="0" anchor="ctr"/>
          <a:lstStyle/>
          <a:p>
            <a:pPr indent="0" marL="0">
              <a:buNone/>
            </a:pPr>
            <a:r>
              <a:rPr lang="en-US" sz="2200" b="1" dirty="0">
                <a:solidFill>
                  <a:srgbClr val="C8891B"/>
                </a:solidFill>
                <a:latin typeface="Cambria" pitchFamily="34" charset="0"/>
                <a:ea typeface="Cambria" pitchFamily="34" charset="-122"/>
                <a:cs typeface="Cambria" pitchFamily="34" charset="-120"/>
              </a:rPr>
              <a:t>—</a:t>
            </a:r>
            <a:endParaRPr lang="en-US" sz="2200" dirty="0"/>
          </a:p>
        </p:txBody>
      </p:sp>
      <p:sp>
        <p:nvSpPr>
          <p:cNvPr id="24" name="Text 22"/>
          <p:cNvSpPr txBox="1"/>
          <p:nvPr/>
        </p:nvSpPr>
        <p:spPr>
          <a:xfrm>
            <a:off x="1737360" y="4910328"/>
            <a:ext cx="1828800" cy="365760"/>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C over A</a:t>
            </a:r>
            <a:endParaRPr lang="en-US" sz="1550" dirty="0"/>
          </a:p>
        </p:txBody>
      </p:sp>
      <p:sp>
        <p:nvSpPr>
          <p:cNvPr id="25" name="Shape 23"/>
          <p:cNvSpPr/>
          <p:nvPr/>
        </p:nvSpPr>
        <p:spPr>
          <a:xfrm>
            <a:off x="3611880" y="4892040"/>
            <a:ext cx="1417320" cy="384048"/>
          </a:xfrm>
          <a:prstGeom prst="roundRect">
            <a:avLst>
              <a:gd name="adj" fmla="val 50000"/>
            </a:avLst>
          </a:prstGeom>
          <a:solidFill>
            <a:srgbClr val="C8891B"/>
          </a:solidFill>
          <a:ln w="12700">
            <a:solidFill>
              <a:srgbClr val="C8891B"/>
            </a:solidFill>
            <a:prstDash val="solid"/>
          </a:ln>
        </p:spPr>
      </p:sp>
      <p:sp>
        <p:nvSpPr>
          <p:cNvPr id="26" name="Text 24"/>
          <p:cNvSpPr txBox="1"/>
          <p:nvPr/>
        </p:nvSpPr>
        <p:spPr>
          <a:xfrm>
            <a:off x="3611880" y="4892040"/>
            <a:ext cx="14173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Unresolved</a:t>
            </a:r>
            <a:endParaRPr lang="en-US" sz="1250" dirty="0"/>
          </a:p>
        </p:txBody>
      </p:sp>
      <p:sp>
        <p:nvSpPr>
          <p:cNvPr id="27" name="Text 25"/>
          <p:cNvSpPr txBox="1"/>
          <p:nvPr/>
        </p:nvSpPr>
        <p:spPr>
          <a:xfrm>
            <a:off x="5303520" y="4882896"/>
            <a:ext cx="5943600" cy="457200"/>
          </a:xfrm>
          <a:prstGeom prst="rect">
            <a:avLst/>
          </a:prstGeom>
          <a:noFill/>
          <a:ln/>
        </p:spPr>
        <p:txBody>
          <a:bodyPr wrap="square" lIns="0" tIns="0" rIns="0" bIns="0" rtlCol="0" anchor="ctr"/>
          <a:lstStyle/>
          <a:p>
            <a:pPr indent="0" marL="0">
              <a:buNone/>
            </a:pPr>
            <a:r>
              <a:rPr lang="en-US" sz="1400" dirty="0">
                <a:solidFill>
                  <a:srgbClr val="4A5A69"/>
                </a:solidFill>
                <a:latin typeface="Calibri" pitchFamily="34" charset="0"/>
                <a:ea typeface="Calibri" pitchFamily="34" charset="-122"/>
                <a:cs typeface="Calibri" pitchFamily="34" charset="-120"/>
              </a:rPr>
              <a:t>+12.5 points, p = 0.0703. Direction favours C; the sample cannot settle it.</a:t>
            </a:r>
            <a:endParaRPr lang="en-US" sz="1400" dirty="0"/>
          </a:p>
        </p:txBody>
      </p:sp>
      <p:sp>
        <p:nvSpPr>
          <p:cNvPr id="28" name="Text 26"/>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RIGOUR</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Two defects found in the measurement itself</a:t>
            </a:r>
            <a:endParaRPr lang="en-US" sz="3000" dirty="0"/>
          </a:p>
        </p:txBody>
      </p:sp>
      <p:sp>
        <p:nvSpPr>
          <p:cNvPr id="4" name="Shape 2"/>
          <p:cNvSpPr/>
          <p:nvPr/>
        </p:nvSpPr>
        <p:spPr>
          <a:xfrm>
            <a:off x="640080" y="1572768"/>
            <a:ext cx="5394960" cy="3886200"/>
          </a:xfrm>
          <a:prstGeom prst="roundRect">
            <a:avLst>
              <a:gd name="adj" fmla="val 1412"/>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1005840" y="1783080"/>
            <a:ext cx="548640" cy="548640"/>
          </a:xfrm>
          <a:prstGeom prst="rect">
            <a:avLst/>
          </a:prstGeom>
          <a:noFill/>
          <a:ln/>
        </p:spPr>
        <p:txBody>
          <a:bodyPr wrap="square" lIns="0" tIns="0" rIns="0" bIns="0" rtlCol="0" anchor="ctr"/>
          <a:lstStyle/>
          <a:p>
            <a:pPr indent="0" marL="0">
              <a:buNone/>
            </a:pPr>
            <a:r>
              <a:rPr lang="en-US" sz="3200" b="1" dirty="0">
                <a:solidFill>
                  <a:srgbClr val="C8891B"/>
                </a:solidFill>
                <a:latin typeface="Cambria" pitchFamily="34" charset="0"/>
                <a:ea typeface="Cambria" pitchFamily="34" charset="-122"/>
                <a:cs typeface="Cambria" pitchFamily="34" charset="-120"/>
              </a:rPr>
              <a:t>1</a:t>
            </a:r>
            <a:endParaRPr lang="en-US" sz="3200" dirty="0"/>
          </a:p>
        </p:txBody>
      </p:sp>
      <p:sp>
        <p:nvSpPr>
          <p:cNvPr id="6" name="Text 4"/>
          <p:cNvSpPr txBox="1"/>
          <p:nvPr/>
        </p:nvSpPr>
        <p:spPr>
          <a:xfrm>
            <a:off x="1005840" y="2377440"/>
            <a:ext cx="4663440" cy="411480"/>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A rejected report is not a lost run</a:t>
            </a:r>
            <a:endParaRPr lang="en-US" sz="1700" dirty="0"/>
          </a:p>
        </p:txBody>
      </p:sp>
      <p:sp>
        <p:nvSpPr>
          <p:cNvPr id="7" name="Text 5"/>
          <p:cNvSpPr txBox="1"/>
          <p:nvPr/>
        </p:nvSpPr>
        <p:spPr>
          <a:xfrm>
            <a:off x="1005840" y="2852928"/>
            <a:ext cx="4663440" cy="1783080"/>
          </a:xfrm>
          <a:prstGeom prst="rect">
            <a:avLst/>
          </a:prstGeom>
          <a:noFill/>
          <a:ln/>
        </p:spPr>
        <p:txBody>
          <a:bodyPr wrap="square" lIns="0" tIns="0" rIns="0" bIns="0" rtlCol="0" anchor="ctr"/>
          <a:lstStyle/>
          <a:p>
            <a:pPr indent="0" marL="0">
              <a:lnSpc>
                <a:spcPts val="1950"/>
              </a:lnSpc>
              <a:buNone/>
            </a:pPr>
            <a:r>
              <a:rPr lang="en-US" sz="1350" dirty="0">
                <a:solidFill>
                  <a:srgbClr val="4A5A69"/>
                </a:solidFill>
                <a:latin typeface="Calibri" pitchFamily="34" charset="0"/>
                <a:ea typeface="Calibri" pitchFamily="34" charset="-122"/>
                <a:cs typeface="Calibri" pitchFamily="34" charset="-120"/>
              </a:rPr>
              <a:t>51 runs ended in an error. None were infrastructure: each had chosen a method before its report failed the contract, and 37 had chosen correctly. Discarding them — the obvious treatment — lifts the direct baseline from 75.0% to 81.1%.</a:t>
            </a:r>
            <a:endParaRPr lang="en-US" sz="1350" dirty="0"/>
          </a:p>
        </p:txBody>
      </p:sp>
      <p:sp>
        <p:nvSpPr>
          <p:cNvPr id="8" name="Text 6"/>
          <p:cNvSpPr txBox="1"/>
          <p:nvPr/>
        </p:nvSpPr>
        <p:spPr>
          <a:xfrm>
            <a:off x="1005840" y="4736592"/>
            <a:ext cx="4663440" cy="502920"/>
          </a:xfrm>
          <a:prstGeom prst="rect">
            <a:avLst/>
          </a:prstGeom>
          <a:noFill/>
          <a:ln/>
        </p:spPr>
        <p:txBody>
          <a:bodyPr wrap="square" lIns="0" tIns="0" rIns="0" bIns="0" rtlCol="0" anchor="ctr"/>
          <a:lstStyle/>
          <a:p>
            <a:pPr indent="0" marL="0">
              <a:buNone/>
            </a:pPr>
            <a:r>
              <a:rPr lang="en-US" sz="1350" b="1" dirty="0">
                <a:solidFill>
                  <a:srgbClr val="129B68"/>
                </a:solidFill>
                <a:latin typeface="Calibri" pitchFamily="34" charset="0"/>
                <a:ea typeface="Calibri" pitchFamily="34" charset="-122"/>
                <a:cs typeface="Calibri" pitchFamily="34" charset="-120"/>
              </a:rPr>
              <a:t>Fix: score every run that reached a decision.</a:t>
            </a:r>
            <a:endParaRPr lang="en-US" sz="1350" dirty="0"/>
          </a:p>
        </p:txBody>
      </p:sp>
      <p:sp>
        <p:nvSpPr>
          <p:cNvPr id="9" name="Shape 7"/>
          <p:cNvSpPr/>
          <p:nvPr/>
        </p:nvSpPr>
        <p:spPr>
          <a:xfrm>
            <a:off x="6217920" y="1572768"/>
            <a:ext cx="5394960" cy="3886200"/>
          </a:xfrm>
          <a:prstGeom prst="roundRect">
            <a:avLst>
              <a:gd name="adj" fmla="val 1412"/>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0" name="Text 8"/>
          <p:cNvSpPr txBox="1"/>
          <p:nvPr/>
        </p:nvSpPr>
        <p:spPr>
          <a:xfrm>
            <a:off x="6583680" y="1783080"/>
            <a:ext cx="548640" cy="548640"/>
          </a:xfrm>
          <a:prstGeom prst="rect">
            <a:avLst/>
          </a:prstGeom>
          <a:noFill/>
          <a:ln/>
        </p:spPr>
        <p:txBody>
          <a:bodyPr wrap="square" lIns="0" tIns="0" rIns="0" bIns="0" rtlCol="0" anchor="ctr"/>
          <a:lstStyle/>
          <a:p>
            <a:pPr indent="0" marL="0">
              <a:buNone/>
            </a:pPr>
            <a:r>
              <a:rPr lang="en-US" sz="3200" b="1" dirty="0">
                <a:solidFill>
                  <a:srgbClr val="C8891B"/>
                </a:solidFill>
                <a:latin typeface="Cambria" pitchFamily="34" charset="0"/>
                <a:ea typeface="Cambria" pitchFamily="34" charset="-122"/>
                <a:cs typeface="Cambria" pitchFamily="34" charset="-120"/>
              </a:rPr>
              <a:t>2</a:t>
            </a:r>
            <a:endParaRPr lang="en-US" sz="3200" dirty="0"/>
          </a:p>
        </p:txBody>
      </p:sp>
      <p:sp>
        <p:nvSpPr>
          <p:cNvPr id="11" name="Text 9"/>
          <p:cNvSpPr txBox="1"/>
          <p:nvPr/>
        </p:nvSpPr>
        <p:spPr>
          <a:xfrm>
            <a:off x="6583680" y="2377440"/>
            <a:ext cx="4663440" cy="411480"/>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A verdict that changed between sessions</a:t>
            </a:r>
            <a:endParaRPr lang="en-US" sz="1700" dirty="0"/>
          </a:p>
        </p:txBody>
      </p:sp>
      <p:sp>
        <p:nvSpPr>
          <p:cNvPr id="12" name="Text 10"/>
          <p:cNvSpPr txBox="1"/>
          <p:nvPr/>
        </p:nvSpPr>
        <p:spPr>
          <a:xfrm>
            <a:off x="6583680" y="2852928"/>
            <a:ext cx="4663440" cy="1783080"/>
          </a:xfrm>
          <a:prstGeom prst="rect">
            <a:avLst/>
          </a:prstGeom>
          <a:noFill/>
          <a:ln/>
        </p:spPr>
        <p:txBody>
          <a:bodyPr wrap="square" lIns="0" tIns="0" rIns="0" bIns="0" rtlCol="0" anchor="ctr"/>
          <a:lstStyle/>
          <a:p>
            <a:pPr indent="0" marL="0">
              <a:lnSpc>
                <a:spcPts val="1950"/>
              </a:lnSpc>
              <a:buNone/>
            </a:pPr>
            <a:r>
              <a:rPr lang="en-US" sz="1350" dirty="0">
                <a:solidFill>
                  <a:srgbClr val="4A5A69"/>
                </a:solidFill>
                <a:latin typeface="Calibri" pitchFamily="34" charset="0"/>
                <a:ea typeface="Calibri" pitchFamily="34" charset="-122"/>
                <a:cs typeface="Calibri" pitchFamily="34" charset="-120"/>
              </a:rPr>
              <a:t>With two repetitions a disagreement has no majority. The tie was broken by an ordering that varies per interpreter, so the C-over-A p-value moved between 0.016 and 0.125 on identical data — across 0.05.</a:t>
            </a:r>
            <a:endParaRPr lang="en-US" sz="1350" dirty="0"/>
          </a:p>
        </p:txBody>
      </p:sp>
      <p:sp>
        <p:nvSpPr>
          <p:cNvPr id="13" name="Text 11"/>
          <p:cNvSpPr txBox="1"/>
          <p:nvPr/>
        </p:nvSpPr>
        <p:spPr>
          <a:xfrm>
            <a:off x="6583680" y="4736592"/>
            <a:ext cx="4663440" cy="502920"/>
          </a:xfrm>
          <a:prstGeom prst="rect">
            <a:avLst/>
          </a:prstGeom>
          <a:noFill/>
          <a:ln/>
        </p:spPr>
        <p:txBody>
          <a:bodyPr wrap="square" lIns="0" tIns="0" rIns="0" bIns="0" rtlCol="0" anchor="ctr"/>
          <a:lstStyle/>
          <a:p>
            <a:pPr indent="0" marL="0">
              <a:buNone/>
            </a:pPr>
            <a:r>
              <a:rPr lang="en-US" sz="1350" b="1" dirty="0">
                <a:solidFill>
                  <a:srgbClr val="129B68"/>
                </a:solidFill>
                <a:latin typeface="Calibri" pitchFamily="34" charset="0"/>
                <a:ea typeface="Calibri" pitchFamily="34" charset="-122"/>
                <a:cs typeface="Calibri" pitchFamily="34" charset="-120"/>
              </a:rPr>
              <a:t>Fix: ties go to the earliest repetition, enforced by a test.</a:t>
            </a:r>
            <a:endParaRPr lang="en-US" sz="1350" dirty="0"/>
          </a:p>
        </p:txBody>
      </p:sp>
      <p:sp>
        <p:nvSpPr>
          <p:cNvPr id="14" name="Text 12"/>
          <p:cNvSpPr txBox="1"/>
          <p:nvPr/>
        </p:nvSpPr>
        <p:spPr>
          <a:xfrm>
            <a:off x="640080" y="5687568"/>
            <a:ext cx="10881360" cy="411480"/>
          </a:xfrm>
          <a:prstGeom prst="rect">
            <a:avLst/>
          </a:prstGeom>
          <a:noFill/>
          <a:ln/>
        </p:spPr>
        <p:txBody>
          <a:bodyPr wrap="square" lIns="0" tIns="0" rIns="0" bIns="0" rtlCol="0" anchor="ctr"/>
          <a:lstStyle/>
          <a:p>
            <a:pPr indent="0" marL="0">
              <a:buNone/>
            </a:pPr>
            <a:r>
              <a:rPr lang="en-US" sz="1400" i="1" dirty="0">
                <a:solidFill>
                  <a:srgbClr val="4A5A69"/>
                </a:solidFill>
                <a:latin typeface="Calibri" pitchFamily="34" charset="0"/>
                <a:ea typeface="Calibri" pitchFamily="34" charset="-122"/>
                <a:cs typeface="Calibri" pitchFamily="34" charset="-120"/>
              </a:rPr>
              <a:t>Neither raised an error. Both are recorded as formal deviations from the plan.</a:t>
            </a:r>
            <a:endParaRPr lang="en-US" sz="1400" dirty="0"/>
          </a:p>
        </p:txBody>
      </p:sp>
      <p:sp>
        <p:nvSpPr>
          <p:cNvPr id="15" name="Text 13"/>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WHAT THE EVIDENCE DOES NOT SUPPORT</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Limitations and threats to validity</a:t>
            </a:r>
            <a:endParaRPr lang="en-US" sz="3000" dirty="0"/>
          </a:p>
        </p:txBody>
      </p:sp>
      <p:sp>
        <p:nvSpPr>
          <p:cNvPr id="4" name="Shape 2"/>
          <p:cNvSpPr/>
          <p:nvPr/>
        </p:nvSpPr>
        <p:spPr>
          <a:xfrm>
            <a:off x="640080" y="1572768"/>
            <a:ext cx="10881360" cy="731520"/>
          </a:xfrm>
          <a:prstGeom prst="roundRect">
            <a:avLst>
              <a:gd name="adj" fmla="val 750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960120" y="1810512"/>
            <a:ext cx="1828800" cy="274320"/>
          </a:xfrm>
          <a:prstGeom prst="rect">
            <a:avLst/>
          </a:prstGeom>
          <a:noFill/>
          <a:ln/>
        </p:spPr>
        <p:txBody>
          <a:bodyPr wrap="square" lIns="0" tIns="0" rIns="0" bIns="0" rtlCol="0" anchor="ctr"/>
          <a:lstStyle/>
          <a:p>
            <a:pPr indent="0" marL="0">
              <a:buNone/>
            </a:pPr>
            <a:r>
              <a:rPr lang="en-US" sz="1150" b="1" spc="150" kern="0" dirty="0">
                <a:solidFill>
                  <a:srgbClr val="C8891B"/>
                </a:solidFill>
                <a:latin typeface="Calibri" pitchFamily="34" charset="0"/>
                <a:ea typeface="Calibri" pitchFamily="34" charset="-122"/>
                <a:cs typeface="Calibri" pitchFamily="34" charset="-120"/>
              </a:rPr>
              <a:t>MODEL</a:t>
            </a:r>
            <a:endParaRPr lang="en-US" sz="1150" dirty="0"/>
          </a:p>
        </p:txBody>
      </p:sp>
      <p:sp>
        <p:nvSpPr>
          <p:cNvPr id="6" name="Text 4"/>
          <p:cNvSpPr txBox="1"/>
          <p:nvPr/>
        </p:nvSpPr>
        <p:spPr>
          <a:xfrm>
            <a:off x="2880360" y="1691640"/>
            <a:ext cx="8412480" cy="530352"/>
          </a:xfrm>
          <a:prstGeom prst="rect">
            <a:avLst/>
          </a:prstGeom>
          <a:noFill/>
          <a:ln/>
        </p:spPr>
        <p:txBody>
          <a:bodyPr wrap="square" lIns="0" tIns="0" rIns="0" bIns="0" rtlCol="0" anchor="ctr"/>
          <a:lstStyle/>
          <a:p>
            <a:pPr indent="0" marL="0">
              <a:lnSpc>
                <a:spcPts val="1850"/>
              </a:lnSpc>
              <a:buNone/>
            </a:pPr>
            <a:r>
              <a:rPr lang="en-US" sz="1350" dirty="0">
                <a:solidFill>
                  <a:srgbClr val="4A5A69"/>
                </a:solidFill>
                <a:latin typeface="Calibri" pitchFamily="34" charset="0"/>
                <a:ea typeface="Calibri" pitchFamily="34" charset="-122"/>
                <a:cs typeface="Calibri" pitchFamily="34" charset="-120"/>
              </a:rPr>
              <a:t>Held-out claims are scoped to Claude Haiku 4.5. Generalising to frontier models requires re-running the evaluation.</a:t>
            </a:r>
            <a:endParaRPr lang="en-US" sz="1350" dirty="0"/>
          </a:p>
        </p:txBody>
      </p:sp>
      <p:sp>
        <p:nvSpPr>
          <p:cNvPr id="7" name="Shape 5"/>
          <p:cNvSpPr/>
          <p:nvPr/>
        </p:nvSpPr>
        <p:spPr>
          <a:xfrm>
            <a:off x="640080" y="2423160"/>
            <a:ext cx="10881360" cy="731520"/>
          </a:xfrm>
          <a:prstGeom prst="roundRect">
            <a:avLst>
              <a:gd name="adj" fmla="val 750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8" name="Text 6"/>
          <p:cNvSpPr txBox="1"/>
          <p:nvPr/>
        </p:nvSpPr>
        <p:spPr>
          <a:xfrm>
            <a:off x="960120" y="2660904"/>
            <a:ext cx="1828800" cy="274320"/>
          </a:xfrm>
          <a:prstGeom prst="rect">
            <a:avLst/>
          </a:prstGeom>
          <a:noFill/>
          <a:ln/>
        </p:spPr>
        <p:txBody>
          <a:bodyPr wrap="square" lIns="0" tIns="0" rIns="0" bIns="0" rtlCol="0" anchor="ctr"/>
          <a:lstStyle/>
          <a:p>
            <a:pPr indent="0" marL="0">
              <a:buNone/>
            </a:pPr>
            <a:r>
              <a:rPr lang="en-US" sz="1150" b="1" spc="150" kern="0" dirty="0">
                <a:solidFill>
                  <a:srgbClr val="C8891B"/>
                </a:solidFill>
                <a:latin typeface="Calibri" pitchFamily="34" charset="0"/>
                <a:ea typeface="Calibri" pitchFamily="34" charset="-122"/>
                <a:cs typeface="Calibri" pitchFamily="34" charset="-120"/>
              </a:rPr>
              <a:t>POWER</a:t>
            </a:r>
            <a:endParaRPr lang="en-US" sz="1150" dirty="0"/>
          </a:p>
        </p:txBody>
      </p:sp>
      <p:sp>
        <p:nvSpPr>
          <p:cNvPr id="9" name="Text 7"/>
          <p:cNvSpPr txBox="1"/>
          <p:nvPr/>
        </p:nvSpPr>
        <p:spPr>
          <a:xfrm>
            <a:off x="2880360" y="2542032"/>
            <a:ext cx="8412480" cy="530352"/>
          </a:xfrm>
          <a:prstGeom prst="rect">
            <a:avLst/>
          </a:prstGeom>
          <a:noFill/>
          <a:ln/>
        </p:spPr>
        <p:txBody>
          <a:bodyPr wrap="square" lIns="0" tIns="0" rIns="0" bIns="0" rtlCol="0" anchor="ctr"/>
          <a:lstStyle/>
          <a:p>
            <a:pPr indent="0" marL="0">
              <a:lnSpc>
                <a:spcPts val="1850"/>
              </a:lnSpc>
              <a:buNone/>
            </a:pPr>
            <a:r>
              <a:rPr lang="en-US" sz="1350" dirty="0">
                <a:solidFill>
                  <a:srgbClr val="4A5A69"/>
                </a:solidFill>
                <a:latin typeface="Calibri" pitchFamily="34" charset="0"/>
                <a:ea typeface="Calibri" pitchFamily="34" charset="-122"/>
                <a:cs typeface="Calibri" pitchFamily="34" charset="-120"/>
              </a:rPr>
              <a:t>Two repetitions and 48 cases. Enough to establish the primary comparison; not enough to resolve C over A.</a:t>
            </a:r>
            <a:endParaRPr lang="en-US" sz="1350" dirty="0"/>
          </a:p>
        </p:txBody>
      </p:sp>
      <p:sp>
        <p:nvSpPr>
          <p:cNvPr id="10" name="Shape 8"/>
          <p:cNvSpPr/>
          <p:nvPr/>
        </p:nvSpPr>
        <p:spPr>
          <a:xfrm>
            <a:off x="640080" y="3273552"/>
            <a:ext cx="10881360" cy="731520"/>
          </a:xfrm>
          <a:prstGeom prst="roundRect">
            <a:avLst>
              <a:gd name="adj" fmla="val 750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Text 9"/>
          <p:cNvSpPr txBox="1"/>
          <p:nvPr/>
        </p:nvSpPr>
        <p:spPr>
          <a:xfrm>
            <a:off x="960120" y="3511296"/>
            <a:ext cx="1828800" cy="274320"/>
          </a:xfrm>
          <a:prstGeom prst="rect">
            <a:avLst/>
          </a:prstGeom>
          <a:noFill/>
          <a:ln/>
        </p:spPr>
        <p:txBody>
          <a:bodyPr wrap="square" lIns="0" tIns="0" rIns="0" bIns="0" rtlCol="0" anchor="ctr"/>
          <a:lstStyle/>
          <a:p>
            <a:pPr indent="0" marL="0">
              <a:buNone/>
            </a:pPr>
            <a:r>
              <a:rPr lang="en-US" sz="1150" b="1" spc="150" kern="0" dirty="0">
                <a:solidFill>
                  <a:srgbClr val="C8891B"/>
                </a:solidFill>
                <a:latin typeface="Calibri" pitchFamily="34" charset="0"/>
                <a:ea typeface="Calibri" pitchFamily="34" charset="-122"/>
                <a:cs typeface="Calibri" pitchFamily="34" charset="-120"/>
              </a:rPr>
              <a:t>INTERPRETATION</a:t>
            </a:r>
            <a:endParaRPr lang="en-US" sz="1150" dirty="0"/>
          </a:p>
        </p:txBody>
      </p:sp>
      <p:sp>
        <p:nvSpPr>
          <p:cNvPr id="12" name="Text 10"/>
          <p:cNvSpPr txBox="1"/>
          <p:nvPr/>
        </p:nvSpPr>
        <p:spPr>
          <a:xfrm>
            <a:off x="2880360" y="3392424"/>
            <a:ext cx="8412480" cy="530352"/>
          </a:xfrm>
          <a:prstGeom prst="rect">
            <a:avLst/>
          </a:prstGeom>
          <a:noFill/>
          <a:ln/>
        </p:spPr>
        <p:txBody>
          <a:bodyPr wrap="square" lIns="0" tIns="0" rIns="0" bIns="0" rtlCol="0" anchor="ctr"/>
          <a:lstStyle/>
          <a:p>
            <a:pPr indent="0" marL="0">
              <a:lnSpc>
                <a:spcPts val="1850"/>
              </a:lnSpc>
              <a:buNone/>
            </a:pPr>
            <a:r>
              <a:rPr lang="en-US" sz="1350" dirty="0">
                <a:solidFill>
                  <a:srgbClr val="4A5A69"/>
                </a:solidFill>
                <a:latin typeface="Calibri" pitchFamily="34" charset="0"/>
                <a:ea typeface="Calibri" pitchFamily="34" charset="-122"/>
                <a:cs typeface="Calibri" pitchFamily="34" charset="-120"/>
              </a:rPr>
              <a:t>The blinded scoring round failed its reliability check (κ = −0.044). The metric is withheld rather than reported unreliably.</a:t>
            </a:r>
            <a:endParaRPr lang="en-US" sz="1350" dirty="0"/>
          </a:p>
        </p:txBody>
      </p:sp>
      <p:sp>
        <p:nvSpPr>
          <p:cNvPr id="13" name="Shape 11"/>
          <p:cNvSpPr/>
          <p:nvPr/>
        </p:nvSpPr>
        <p:spPr>
          <a:xfrm>
            <a:off x="640080" y="4123944"/>
            <a:ext cx="10881360" cy="731520"/>
          </a:xfrm>
          <a:prstGeom prst="roundRect">
            <a:avLst>
              <a:gd name="adj" fmla="val 750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4" name="Text 12"/>
          <p:cNvSpPr txBox="1"/>
          <p:nvPr/>
        </p:nvSpPr>
        <p:spPr>
          <a:xfrm>
            <a:off x="960120" y="4361688"/>
            <a:ext cx="1828800" cy="274320"/>
          </a:xfrm>
          <a:prstGeom prst="rect">
            <a:avLst/>
          </a:prstGeom>
          <a:noFill/>
          <a:ln/>
        </p:spPr>
        <p:txBody>
          <a:bodyPr wrap="square" lIns="0" tIns="0" rIns="0" bIns="0" rtlCol="0" anchor="ctr"/>
          <a:lstStyle/>
          <a:p>
            <a:pPr indent="0" marL="0">
              <a:buNone/>
            </a:pPr>
            <a:r>
              <a:rPr lang="en-US" sz="1150" b="1" spc="150" kern="0" dirty="0">
                <a:solidFill>
                  <a:srgbClr val="C8891B"/>
                </a:solidFill>
                <a:latin typeface="Calibri" pitchFamily="34" charset="0"/>
                <a:ea typeface="Calibri" pitchFamily="34" charset="-122"/>
                <a:cs typeface="Calibri" pitchFamily="34" charset="-120"/>
              </a:rPr>
              <a:t>REVIEW</a:t>
            </a:r>
            <a:endParaRPr lang="en-US" sz="1150" dirty="0"/>
          </a:p>
        </p:txBody>
      </p:sp>
      <p:sp>
        <p:nvSpPr>
          <p:cNvPr id="15" name="Text 13"/>
          <p:cNvSpPr txBox="1"/>
          <p:nvPr/>
        </p:nvSpPr>
        <p:spPr>
          <a:xfrm>
            <a:off x="2880360" y="4242816"/>
            <a:ext cx="8412480" cy="530352"/>
          </a:xfrm>
          <a:prstGeom prst="rect">
            <a:avLst/>
          </a:prstGeom>
          <a:noFill/>
          <a:ln/>
        </p:spPr>
        <p:txBody>
          <a:bodyPr wrap="square" lIns="0" tIns="0" rIns="0" bIns="0" rtlCol="0" anchor="ctr"/>
          <a:lstStyle/>
          <a:p>
            <a:pPr indent="0" marL="0">
              <a:lnSpc>
                <a:spcPts val="1850"/>
              </a:lnSpc>
              <a:buNone/>
            </a:pPr>
            <a:r>
              <a:rPr lang="en-US" sz="1350" dirty="0">
                <a:solidFill>
                  <a:srgbClr val="4A5A69"/>
                </a:solidFill>
                <a:latin typeface="Calibri" pitchFamily="34" charset="0"/>
                <a:ea typeface="Calibri" pitchFamily="34" charset="-122"/>
                <a:cs typeface="Calibri" pitchFamily="34" charset="-120"/>
              </a:rPr>
              <a:t>No independent second reviewer for the 16 public-data labels.</a:t>
            </a:r>
            <a:endParaRPr lang="en-US" sz="1350" dirty="0"/>
          </a:p>
        </p:txBody>
      </p:sp>
      <p:sp>
        <p:nvSpPr>
          <p:cNvPr id="16" name="Shape 14"/>
          <p:cNvSpPr/>
          <p:nvPr/>
        </p:nvSpPr>
        <p:spPr>
          <a:xfrm>
            <a:off x="640080" y="4974336"/>
            <a:ext cx="10881360" cy="731520"/>
          </a:xfrm>
          <a:prstGeom prst="roundRect">
            <a:avLst>
              <a:gd name="adj" fmla="val 7500"/>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7" name="Text 15"/>
          <p:cNvSpPr txBox="1"/>
          <p:nvPr/>
        </p:nvSpPr>
        <p:spPr>
          <a:xfrm>
            <a:off x="960120" y="5212080"/>
            <a:ext cx="1828800" cy="274320"/>
          </a:xfrm>
          <a:prstGeom prst="rect">
            <a:avLst/>
          </a:prstGeom>
          <a:noFill/>
          <a:ln/>
        </p:spPr>
        <p:txBody>
          <a:bodyPr wrap="square" lIns="0" tIns="0" rIns="0" bIns="0" rtlCol="0" anchor="ctr"/>
          <a:lstStyle/>
          <a:p>
            <a:pPr indent="0" marL="0">
              <a:buNone/>
            </a:pPr>
            <a:r>
              <a:rPr lang="en-US" sz="1150" b="1" spc="150" kern="0" dirty="0">
                <a:solidFill>
                  <a:srgbClr val="C8891B"/>
                </a:solidFill>
                <a:latin typeface="Calibri" pitchFamily="34" charset="0"/>
                <a:ea typeface="Calibri" pitchFamily="34" charset="-122"/>
                <a:cs typeface="Calibri" pitchFamily="34" charset="-120"/>
              </a:rPr>
              <a:t>SCOPE</a:t>
            </a:r>
            <a:endParaRPr lang="en-US" sz="1150" dirty="0"/>
          </a:p>
        </p:txBody>
      </p:sp>
      <p:sp>
        <p:nvSpPr>
          <p:cNvPr id="18" name="Text 16"/>
          <p:cNvSpPr txBox="1"/>
          <p:nvPr/>
        </p:nvSpPr>
        <p:spPr>
          <a:xfrm>
            <a:off x="2880360" y="5093208"/>
            <a:ext cx="8412480" cy="530352"/>
          </a:xfrm>
          <a:prstGeom prst="rect">
            <a:avLst/>
          </a:prstGeom>
          <a:noFill/>
          <a:ln/>
        </p:spPr>
        <p:txBody>
          <a:bodyPr wrap="square" lIns="0" tIns="0" rIns="0" bIns="0" rtlCol="0" anchor="ctr"/>
          <a:lstStyle/>
          <a:p>
            <a:pPr indent="0" marL="0">
              <a:lnSpc>
                <a:spcPts val="1850"/>
              </a:lnSpc>
              <a:buNone/>
            </a:pPr>
            <a:r>
              <a:rPr lang="en-US" sz="1350" dirty="0">
                <a:solidFill>
                  <a:srgbClr val="4A5A69"/>
                </a:solidFill>
                <a:latin typeface="Calibri" pitchFamily="34" charset="0"/>
                <a:ea typeface="Calibri" pitchFamily="34" charset="-122"/>
                <a:cs typeface="Calibri" pitchFamily="34" charset="-120"/>
              </a:rPr>
              <a:t>Paired, repeated-measures, mixed, time-series and survival designs are excluded from the library and tested only as abstention cases.</a:t>
            </a:r>
            <a:endParaRPr lang="en-US" sz="1350" dirty="0"/>
          </a:p>
        </p:txBody>
      </p:sp>
      <p:sp>
        <p:nvSpPr>
          <p:cNvPr id="19" name="Text 17"/>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Contributions</a:t>
            </a:r>
            <a:endParaRPr lang="en-US" sz="3000" dirty="0"/>
          </a:p>
        </p:txBody>
      </p:sp>
      <p:sp>
        <p:nvSpPr>
          <p:cNvPr id="4" name="Shape 2"/>
          <p:cNvSpPr/>
          <p:nvPr/>
        </p:nvSpPr>
        <p:spPr>
          <a:xfrm>
            <a:off x="640080" y="1572768"/>
            <a:ext cx="10881360" cy="1207008"/>
          </a:xfrm>
          <a:prstGeom prst="roundRect">
            <a:avLst>
              <a:gd name="adj" fmla="val 454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Shape 3"/>
          <p:cNvSpPr/>
          <p:nvPr/>
        </p:nvSpPr>
        <p:spPr>
          <a:xfrm>
            <a:off x="1005840" y="1938528"/>
            <a:ext cx="475488" cy="475488"/>
          </a:xfrm>
          <a:prstGeom prst="ellipse">
            <a:avLst/>
          </a:prstGeom>
          <a:solidFill>
            <a:srgbClr val="129B68"/>
          </a:solidFill>
          <a:ln w="12700">
            <a:solidFill>
              <a:srgbClr val="129B68"/>
            </a:solidFill>
            <a:prstDash val="solid"/>
          </a:ln>
        </p:spPr>
      </p:sp>
      <p:sp>
        <p:nvSpPr>
          <p:cNvPr id="6" name="Text 4"/>
          <p:cNvSpPr txBox="1"/>
          <p:nvPr/>
        </p:nvSpPr>
        <p:spPr>
          <a:xfrm>
            <a:off x="1005840" y="19385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737360" y="1801368"/>
            <a:ext cx="9509760" cy="384048"/>
          </a:xfrm>
          <a:prstGeom prst="rect">
            <a:avLst/>
          </a:prstGeom>
          <a:noFill/>
          <a:ln/>
        </p:spPr>
        <p:txBody>
          <a:bodyPr wrap="square" lIns="0" tIns="0" rIns="0" bIns="0" rtlCol="0" anchor="ctr"/>
          <a:lstStyle/>
          <a:p>
            <a:pPr indent="0" marL="0">
              <a:buNone/>
            </a:pPr>
            <a:r>
              <a:rPr lang="en-US" sz="1800" b="1" dirty="0">
                <a:solidFill>
                  <a:srgbClr val="16222E"/>
                </a:solidFill>
                <a:latin typeface="Cambria" pitchFamily="34" charset="0"/>
                <a:ea typeface="Cambria" pitchFamily="34" charset="-122"/>
                <a:cs typeface="Cambria" pitchFamily="34" charset="-120"/>
              </a:rPr>
              <a:t>Controlled evidence</a:t>
            </a:r>
            <a:endParaRPr lang="en-US" sz="1800" dirty="0"/>
          </a:p>
        </p:txBody>
      </p:sp>
      <p:sp>
        <p:nvSpPr>
          <p:cNvPr id="8" name="Text 6"/>
          <p:cNvSpPr txBox="1"/>
          <p:nvPr/>
        </p:nvSpPr>
        <p:spPr>
          <a:xfrm>
            <a:off x="1737360" y="2212848"/>
            <a:ext cx="9509760" cy="502920"/>
          </a:xfrm>
          <a:prstGeom prst="rect">
            <a:avLst/>
          </a:prstGeom>
          <a:noFill/>
          <a:ln/>
        </p:spPr>
        <p:txBody>
          <a:bodyPr wrap="square" lIns="0" tIns="0" rIns="0" bIns="0" rtlCol="0" anchor="ctr"/>
          <a:lstStyle/>
          <a:p>
            <a:pPr indent="0" marL="0">
              <a:lnSpc>
                <a:spcPts val="1900"/>
              </a:lnSpc>
              <a:buNone/>
            </a:pPr>
            <a:r>
              <a:rPr lang="en-US" sz="1400" dirty="0">
                <a:solidFill>
                  <a:srgbClr val="4A5A69"/>
                </a:solidFill>
                <a:latin typeface="Calibri" pitchFamily="34" charset="0"/>
                <a:ea typeface="Calibri" pitchFamily="34" charset="-122"/>
                <a:cs typeface="Calibri" pitchFamily="34" charset="-120"/>
              </a:rPr>
              <a:t>A three-arm ablation over one shared core, showing that a decision protocol — not tool access — drives valid method selection.</a:t>
            </a:r>
            <a:endParaRPr lang="en-US" sz="1400" dirty="0"/>
          </a:p>
        </p:txBody>
      </p:sp>
      <p:sp>
        <p:nvSpPr>
          <p:cNvPr id="9" name="Shape 7"/>
          <p:cNvSpPr/>
          <p:nvPr/>
        </p:nvSpPr>
        <p:spPr>
          <a:xfrm>
            <a:off x="640080" y="2944368"/>
            <a:ext cx="10881360" cy="1207008"/>
          </a:xfrm>
          <a:prstGeom prst="roundRect">
            <a:avLst>
              <a:gd name="adj" fmla="val 454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0" name="Shape 8"/>
          <p:cNvSpPr/>
          <p:nvPr/>
        </p:nvSpPr>
        <p:spPr>
          <a:xfrm>
            <a:off x="1005840" y="3310128"/>
            <a:ext cx="475488" cy="475488"/>
          </a:xfrm>
          <a:prstGeom prst="ellipse">
            <a:avLst/>
          </a:prstGeom>
          <a:solidFill>
            <a:srgbClr val="129B68"/>
          </a:solidFill>
          <a:ln w="12700">
            <a:solidFill>
              <a:srgbClr val="129B68"/>
            </a:solidFill>
            <a:prstDash val="solid"/>
          </a:ln>
        </p:spPr>
      </p:sp>
      <p:sp>
        <p:nvSpPr>
          <p:cNvPr id="11" name="Text 9"/>
          <p:cNvSpPr txBox="1"/>
          <p:nvPr/>
        </p:nvSpPr>
        <p:spPr>
          <a:xfrm>
            <a:off x="1005840" y="33101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737360" y="3172968"/>
            <a:ext cx="9509760" cy="384048"/>
          </a:xfrm>
          <a:prstGeom prst="rect">
            <a:avLst/>
          </a:prstGeom>
          <a:noFill/>
          <a:ln/>
        </p:spPr>
        <p:txBody>
          <a:bodyPr wrap="square" lIns="0" tIns="0" rIns="0" bIns="0" rtlCol="0" anchor="ctr"/>
          <a:lstStyle/>
          <a:p>
            <a:pPr indent="0" marL="0">
              <a:buNone/>
            </a:pPr>
            <a:r>
              <a:rPr lang="en-US" sz="1800" b="1" dirty="0">
                <a:solidFill>
                  <a:srgbClr val="16222E"/>
                </a:solidFill>
                <a:latin typeface="Cambria" pitchFamily="34" charset="0"/>
                <a:ea typeface="Cambria" pitchFamily="34" charset="-122"/>
                <a:cs typeface="Cambria" pitchFamily="34" charset="-120"/>
              </a:rPr>
              <a:t>A benchmark that scores declining</a:t>
            </a:r>
            <a:endParaRPr lang="en-US" sz="1800" dirty="0"/>
          </a:p>
        </p:txBody>
      </p:sp>
      <p:sp>
        <p:nvSpPr>
          <p:cNvPr id="13" name="Text 11"/>
          <p:cNvSpPr txBox="1"/>
          <p:nvPr/>
        </p:nvSpPr>
        <p:spPr>
          <a:xfrm>
            <a:off x="1737360" y="3584448"/>
            <a:ext cx="9509760" cy="502920"/>
          </a:xfrm>
          <a:prstGeom prst="rect">
            <a:avLst/>
          </a:prstGeom>
          <a:noFill/>
          <a:ln/>
        </p:spPr>
        <p:txBody>
          <a:bodyPr wrap="square" lIns="0" tIns="0" rIns="0" bIns="0" rtlCol="0" anchor="ctr"/>
          <a:lstStyle/>
          <a:p>
            <a:pPr indent="0" marL="0">
              <a:lnSpc>
                <a:spcPts val="1900"/>
              </a:lnSpc>
              <a:buNone/>
            </a:pPr>
            <a:r>
              <a:rPr lang="en-US" sz="1400" dirty="0">
                <a:solidFill>
                  <a:srgbClr val="4A5A69"/>
                </a:solidFill>
                <a:latin typeface="Calibri" pitchFamily="34" charset="0"/>
                <a:ea typeface="Calibri" pitchFamily="34" charset="-122"/>
                <a:cs typeface="Calibri" pitchFamily="34" charset="-120"/>
              </a:rPr>
              <a:t>64 cases with construction-derived labels, twelve of which reward abstention, turning a scope limit into a measurable behaviour.</a:t>
            </a:r>
            <a:endParaRPr lang="en-US" sz="1400" dirty="0"/>
          </a:p>
        </p:txBody>
      </p:sp>
      <p:sp>
        <p:nvSpPr>
          <p:cNvPr id="14" name="Shape 12"/>
          <p:cNvSpPr/>
          <p:nvPr/>
        </p:nvSpPr>
        <p:spPr>
          <a:xfrm>
            <a:off x="640080" y="4315968"/>
            <a:ext cx="10881360" cy="1207008"/>
          </a:xfrm>
          <a:prstGeom prst="roundRect">
            <a:avLst>
              <a:gd name="adj" fmla="val 4545"/>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5" name="Shape 13"/>
          <p:cNvSpPr/>
          <p:nvPr/>
        </p:nvSpPr>
        <p:spPr>
          <a:xfrm>
            <a:off x="1005840" y="4681728"/>
            <a:ext cx="475488" cy="475488"/>
          </a:xfrm>
          <a:prstGeom prst="ellipse">
            <a:avLst/>
          </a:prstGeom>
          <a:solidFill>
            <a:srgbClr val="129B68"/>
          </a:solidFill>
          <a:ln w="12700">
            <a:solidFill>
              <a:srgbClr val="129B68"/>
            </a:solidFill>
            <a:prstDash val="solid"/>
          </a:ln>
        </p:spPr>
      </p:sp>
      <p:sp>
        <p:nvSpPr>
          <p:cNvPr id="16" name="Text 14"/>
          <p:cNvSpPr txBox="1"/>
          <p:nvPr/>
        </p:nvSpPr>
        <p:spPr>
          <a:xfrm>
            <a:off x="1005840" y="46817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737360" y="4544568"/>
            <a:ext cx="9509760" cy="384048"/>
          </a:xfrm>
          <a:prstGeom prst="rect">
            <a:avLst/>
          </a:prstGeom>
          <a:noFill/>
          <a:ln/>
        </p:spPr>
        <p:txBody>
          <a:bodyPr wrap="square" lIns="0" tIns="0" rIns="0" bIns="0" rtlCol="0" anchor="ctr"/>
          <a:lstStyle/>
          <a:p>
            <a:pPr indent="0" marL="0">
              <a:buNone/>
            </a:pPr>
            <a:r>
              <a:rPr lang="en-US" sz="1800" b="1" dirty="0">
                <a:solidFill>
                  <a:srgbClr val="16222E"/>
                </a:solidFill>
                <a:latin typeface="Cambria" pitchFamily="34" charset="0"/>
                <a:ea typeface="Cambria" pitchFamily="34" charset="-122"/>
                <a:cs typeface="Cambria" pitchFamily="34" charset="-120"/>
              </a:rPr>
              <a:t>Provenance by construction</a:t>
            </a:r>
            <a:endParaRPr lang="en-US" sz="1800" dirty="0"/>
          </a:p>
        </p:txBody>
      </p:sp>
      <p:sp>
        <p:nvSpPr>
          <p:cNvPr id="18" name="Text 16"/>
          <p:cNvSpPr txBox="1"/>
          <p:nvPr/>
        </p:nvSpPr>
        <p:spPr>
          <a:xfrm>
            <a:off x="1737360" y="4956048"/>
            <a:ext cx="9509760" cy="502920"/>
          </a:xfrm>
          <a:prstGeom prst="rect">
            <a:avLst/>
          </a:prstGeom>
          <a:noFill/>
          <a:ln/>
        </p:spPr>
        <p:txBody>
          <a:bodyPr wrap="square" lIns="0" tIns="0" rIns="0" bIns="0" rtlCol="0" anchor="ctr"/>
          <a:lstStyle/>
          <a:p>
            <a:pPr indent="0" marL="0">
              <a:lnSpc>
                <a:spcPts val="1900"/>
              </a:lnSpc>
              <a:buNone/>
            </a:pPr>
            <a:r>
              <a:rPr lang="en-US" sz="1400" dirty="0">
                <a:solidFill>
                  <a:srgbClr val="4A5A69"/>
                </a:solidFill>
                <a:latin typeface="Calibri" pitchFamily="34" charset="0"/>
                <a:ea typeface="Calibri" pitchFamily="34" charset="-122"/>
                <a:cs typeface="Calibri" pitchFamily="34" charset="-120"/>
              </a:rPr>
              <a:t>A report format in which a number without a recorded source cannot exist, rather than one checked for fabrication afterwards.</a:t>
            </a:r>
            <a:endParaRPr lang="en-US" sz="1400" dirty="0"/>
          </a:p>
        </p:txBody>
      </p:sp>
      <p:sp>
        <p:nvSpPr>
          <p:cNvPr id="19" name="Text 17"/>
          <p:cNvSpPr txBox="1"/>
          <p:nvPr/>
        </p:nvSpPr>
        <p:spPr>
          <a:xfrm>
            <a:off x="640080" y="5760720"/>
            <a:ext cx="10881360" cy="411480"/>
          </a:xfrm>
          <a:prstGeom prst="rect">
            <a:avLst/>
          </a:prstGeom>
          <a:noFill/>
          <a:ln/>
        </p:spPr>
        <p:txBody>
          <a:bodyPr wrap="square" lIns="0" tIns="0" rIns="0" bIns="0" rtlCol="0" anchor="ctr"/>
          <a:lstStyle/>
          <a:p>
            <a:pPr indent="0" marL="0">
              <a:buNone/>
            </a:pPr>
            <a:r>
              <a:rPr lang="en-US" sz="1700" b="1" dirty="0">
                <a:solidFill>
                  <a:srgbClr val="129B68"/>
                </a:solidFill>
                <a:latin typeface="Cambria" pitchFamily="34" charset="0"/>
                <a:ea typeface="Cambria" pitchFamily="34" charset="-122"/>
                <a:cs typeface="Cambria" pitchFamily="34" charset="-120"/>
              </a:rPr>
              <a:t>Structure, not tooling, is what makes an LLM a reliable statistician.</a:t>
            </a:r>
            <a:endParaRPr lang="en-US" sz="1700" dirty="0"/>
          </a:p>
        </p:txBody>
      </p:sp>
      <p:sp>
        <p:nvSpPr>
          <p:cNvPr id="20" name="Text 18"/>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640080" y="475488"/>
            <a:ext cx="8229600" cy="256032"/>
          </a:xfrm>
          <a:prstGeom prst="rect">
            <a:avLst/>
          </a:prstGeom>
          <a:noFill/>
          <a:ln/>
        </p:spPr>
        <p:txBody>
          <a:bodyPr wrap="square" lIns="0" tIns="0" rIns="0" bIns="0" rtlCol="0" anchor="ctr"/>
          <a:lstStyle/>
          <a:p>
            <a:pPr indent="0" marL="0">
              <a:buNone/>
            </a:pPr>
            <a:r>
              <a:rPr lang="en-US" sz="1100" b="1" spc="200" kern="0" dirty="0">
                <a:solidFill>
                  <a:srgbClr val="8496A6"/>
                </a:solidFill>
                <a:latin typeface="Calibri" pitchFamily="34" charset="0"/>
                <a:ea typeface="Calibri" pitchFamily="34" charset="-122"/>
                <a:cs typeface="Calibri" pitchFamily="34" charset="-120"/>
              </a:rPr>
              <a:t>NEXT STEPS</a:t>
            </a:r>
            <a:endParaRPr lang="en-US" sz="1100" dirty="0"/>
          </a:p>
        </p:txBody>
      </p:sp>
      <p:sp>
        <p:nvSpPr>
          <p:cNvPr id="3" name="Text 1"/>
          <p:cNvSpPr txBox="1"/>
          <p:nvPr/>
        </p:nvSpPr>
        <p:spPr>
          <a:xfrm>
            <a:off x="640080" y="768096"/>
            <a:ext cx="10881360" cy="658368"/>
          </a:xfrm>
          <a:prstGeom prst="rect">
            <a:avLst/>
          </a:prstGeom>
          <a:noFill/>
          <a:ln/>
        </p:spPr>
        <p:txBody>
          <a:bodyPr wrap="square" lIns="0" tIns="0" rIns="0" bIns="0" rtlCol="0" anchor="ctr"/>
          <a:lstStyle/>
          <a:p>
            <a:pPr indent="0" marL="0">
              <a:buNone/>
            </a:pPr>
            <a:r>
              <a:rPr lang="en-US" sz="3000" b="1" dirty="0">
                <a:solidFill>
                  <a:srgbClr val="16222E"/>
                </a:solidFill>
                <a:latin typeface="Cambria" pitchFamily="34" charset="0"/>
                <a:ea typeface="Cambria" pitchFamily="34" charset="-122"/>
                <a:cs typeface="Cambria" pitchFamily="34" charset="-120"/>
              </a:rPr>
              <a:t>Future work</a:t>
            </a:r>
            <a:endParaRPr lang="en-US" sz="3000" dirty="0"/>
          </a:p>
        </p:txBody>
      </p:sp>
      <p:sp>
        <p:nvSpPr>
          <p:cNvPr id="4" name="Shape 2"/>
          <p:cNvSpPr/>
          <p:nvPr/>
        </p:nvSpPr>
        <p:spPr>
          <a:xfrm>
            <a:off x="640080" y="1572768"/>
            <a:ext cx="5394960" cy="1920240"/>
          </a:xfrm>
          <a:prstGeom prst="roundRect">
            <a:avLst>
              <a:gd name="adj" fmla="val 285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5" name="Text 3"/>
          <p:cNvSpPr txBox="1"/>
          <p:nvPr/>
        </p:nvSpPr>
        <p:spPr>
          <a:xfrm>
            <a:off x="1005840" y="1847088"/>
            <a:ext cx="4663440" cy="384048"/>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Resolve C over A</a:t>
            </a:r>
            <a:endParaRPr lang="en-US" sz="1700" dirty="0"/>
          </a:p>
        </p:txBody>
      </p:sp>
      <p:sp>
        <p:nvSpPr>
          <p:cNvPr id="6" name="Text 4"/>
          <p:cNvSpPr txBox="1"/>
          <p:nvPr/>
        </p:nvSpPr>
        <p:spPr>
          <a:xfrm>
            <a:off x="1005840" y="2322576"/>
            <a:ext cx="4663440" cy="10058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Enlarge the held-out set and repetitions to give the comparison the power it currently lacks.</a:t>
            </a:r>
            <a:endParaRPr lang="en-US" sz="1400" dirty="0"/>
          </a:p>
        </p:txBody>
      </p:sp>
      <p:sp>
        <p:nvSpPr>
          <p:cNvPr id="7" name="Shape 5"/>
          <p:cNvSpPr/>
          <p:nvPr/>
        </p:nvSpPr>
        <p:spPr>
          <a:xfrm>
            <a:off x="6217920" y="1572768"/>
            <a:ext cx="5394960" cy="1920240"/>
          </a:xfrm>
          <a:prstGeom prst="roundRect">
            <a:avLst>
              <a:gd name="adj" fmla="val 285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8" name="Text 6"/>
          <p:cNvSpPr txBox="1"/>
          <p:nvPr/>
        </p:nvSpPr>
        <p:spPr>
          <a:xfrm>
            <a:off x="6583680" y="1847088"/>
            <a:ext cx="4663440" cy="384048"/>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Frontier models</a:t>
            </a:r>
            <a:endParaRPr lang="en-US" sz="1700" dirty="0"/>
          </a:p>
        </p:txBody>
      </p:sp>
      <p:sp>
        <p:nvSpPr>
          <p:cNvPr id="9" name="Text 7"/>
          <p:cNvSpPr txBox="1"/>
          <p:nvPr/>
        </p:nvSpPr>
        <p:spPr>
          <a:xfrm>
            <a:off x="6583680" y="2322576"/>
            <a:ext cx="4663440" cy="10058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Re-run the frozen evaluation on larger models to test whether the protocol's gain persists as base capability rises.</a:t>
            </a:r>
            <a:endParaRPr lang="en-US" sz="1400" dirty="0"/>
          </a:p>
        </p:txBody>
      </p:sp>
      <p:sp>
        <p:nvSpPr>
          <p:cNvPr id="10" name="Shape 8"/>
          <p:cNvSpPr/>
          <p:nvPr/>
        </p:nvSpPr>
        <p:spPr>
          <a:xfrm>
            <a:off x="640080" y="3675888"/>
            <a:ext cx="5394960" cy="1920240"/>
          </a:xfrm>
          <a:prstGeom prst="roundRect">
            <a:avLst>
              <a:gd name="adj" fmla="val 285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1" name="Text 9"/>
          <p:cNvSpPr txBox="1"/>
          <p:nvPr/>
        </p:nvSpPr>
        <p:spPr>
          <a:xfrm>
            <a:off x="1005840" y="3950208"/>
            <a:ext cx="4663440" cy="384048"/>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Interpretation scoring</a:t>
            </a:r>
            <a:endParaRPr lang="en-US" sz="1700" dirty="0"/>
          </a:p>
        </p:txBody>
      </p:sp>
      <p:sp>
        <p:nvSpPr>
          <p:cNvPr id="12" name="Text 10"/>
          <p:cNvSpPr txBox="1"/>
          <p:nvPr/>
        </p:nvSpPr>
        <p:spPr>
          <a:xfrm>
            <a:off x="1005840" y="4425696"/>
            <a:ext cx="4663440" cy="10058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Run a second blinded round with the rebuilt rubric and two independent raters.</a:t>
            </a:r>
            <a:endParaRPr lang="en-US" sz="1400" dirty="0"/>
          </a:p>
        </p:txBody>
      </p:sp>
      <p:sp>
        <p:nvSpPr>
          <p:cNvPr id="13" name="Shape 11"/>
          <p:cNvSpPr/>
          <p:nvPr/>
        </p:nvSpPr>
        <p:spPr>
          <a:xfrm>
            <a:off x="6217920" y="3675888"/>
            <a:ext cx="5394960" cy="1920240"/>
          </a:xfrm>
          <a:prstGeom prst="roundRect">
            <a:avLst>
              <a:gd name="adj" fmla="val 2857"/>
            </a:avLst>
          </a:prstGeom>
          <a:solidFill>
            <a:srgbClr val="FFFFFF"/>
          </a:solidFill>
          <a:ln w="12700">
            <a:solidFill>
              <a:srgbClr val="E2E9F0"/>
            </a:solidFill>
            <a:prstDash val="solid"/>
          </a:ln>
          <a:effectLst>
            <a:outerShdw sx="100000" sy="100000" kx="0" ky="0" algn="bl" rotWithShape="0" blurRad="127000" dist="25400" dir="5400000">
              <a:srgbClr val="9FB0C0">
                <a:alpha val="22000"/>
              </a:srgbClr>
            </a:outerShdw>
          </a:effectLst>
        </p:spPr>
      </p:sp>
      <p:sp>
        <p:nvSpPr>
          <p:cNvPr id="14" name="Text 12"/>
          <p:cNvSpPr txBox="1"/>
          <p:nvPr/>
        </p:nvSpPr>
        <p:spPr>
          <a:xfrm>
            <a:off x="6583680" y="3950208"/>
            <a:ext cx="4663440" cy="384048"/>
          </a:xfrm>
          <a:prstGeom prst="rect">
            <a:avLst/>
          </a:prstGeom>
          <a:noFill/>
          <a:ln/>
        </p:spPr>
        <p:txBody>
          <a:bodyPr wrap="square" lIns="0" tIns="0" rIns="0" bIns="0" rtlCol="0" anchor="ctr"/>
          <a:lstStyle/>
          <a:p>
            <a:pPr indent="0" marL="0">
              <a:buNone/>
            </a:pPr>
            <a:r>
              <a:rPr lang="en-US" sz="1700" b="1" dirty="0">
                <a:solidFill>
                  <a:srgbClr val="16222E"/>
                </a:solidFill>
                <a:latin typeface="Cambria" pitchFamily="34" charset="0"/>
                <a:ea typeface="Cambria" pitchFamily="34" charset="-122"/>
                <a:cs typeface="Cambria" pitchFamily="34" charset="-120"/>
              </a:rPr>
              <a:t>Wider method library</a:t>
            </a:r>
            <a:endParaRPr lang="en-US" sz="1700" dirty="0"/>
          </a:p>
        </p:txBody>
      </p:sp>
      <p:sp>
        <p:nvSpPr>
          <p:cNvPr id="15" name="Text 13"/>
          <p:cNvSpPr txBox="1"/>
          <p:nvPr/>
        </p:nvSpPr>
        <p:spPr>
          <a:xfrm>
            <a:off x="6583680" y="4425696"/>
            <a:ext cx="4663440" cy="1005840"/>
          </a:xfrm>
          <a:prstGeom prst="rect">
            <a:avLst/>
          </a:prstGeom>
          <a:noFill/>
          <a:ln/>
        </p:spPr>
        <p:txBody>
          <a:bodyPr wrap="square" lIns="0" tIns="0" rIns="0" bIns="0" rtlCol="0" anchor="ctr"/>
          <a:lstStyle/>
          <a:p>
            <a:pPr indent="0" marL="0">
              <a:lnSpc>
                <a:spcPts val="2000"/>
              </a:lnSpc>
              <a:buNone/>
            </a:pPr>
            <a:r>
              <a:rPr lang="en-US" sz="1400" dirty="0">
                <a:solidFill>
                  <a:srgbClr val="4A5A69"/>
                </a:solidFill>
                <a:latin typeface="Calibri" pitchFamily="34" charset="0"/>
                <a:ea typeface="Calibri" pitchFamily="34" charset="-122"/>
                <a:cs typeface="Calibri" pitchFamily="34" charset="-120"/>
              </a:rPr>
              <a:t>Extend to paired, mixed-effects and time-series designs now tested only as abstentions.</a:t>
            </a:r>
            <a:endParaRPr lang="en-US" sz="1400" dirty="0"/>
          </a:p>
        </p:txBody>
      </p:sp>
      <p:sp>
        <p:nvSpPr>
          <p:cNvPr id="16" name="Text 14"/>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8496A6"/>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188720"/>
            <a:ext cx="822960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See it running</a:t>
            </a:r>
            <a:endParaRPr lang="en-US" sz="3600" dirty="0"/>
          </a:p>
        </p:txBody>
      </p:sp>
      <p:sp>
        <p:nvSpPr>
          <p:cNvPr id="3" name="Text 1"/>
          <p:cNvSpPr txBox="1"/>
          <p:nvPr/>
        </p:nvSpPr>
        <p:spPr>
          <a:xfrm>
            <a:off x="640080" y="1938528"/>
            <a:ext cx="9144000" cy="548640"/>
          </a:xfrm>
          <a:prstGeom prst="rect">
            <a:avLst/>
          </a:prstGeom>
          <a:noFill/>
          <a:ln/>
        </p:spPr>
        <p:txBody>
          <a:bodyPr wrap="square" lIns="0" tIns="0" rIns="0" bIns="0" rtlCol="0" anchor="ctr"/>
          <a:lstStyle/>
          <a:p>
            <a:pPr indent="0" marL="0">
              <a:buNone/>
            </a:pPr>
            <a:r>
              <a:rPr lang="en-US" sz="1600" dirty="0">
                <a:solidFill>
                  <a:srgbClr val="CFE0F2"/>
                </a:solidFill>
                <a:latin typeface="Calibri" pitchFamily="34" charset="0"/>
                <a:ea typeface="Calibri" pitchFamily="34" charset="-122"/>
                <a:cs typeface="Calibri" pitchFamily="34" charset="-120"/>
              </a:rPr>
              <a:t>Every case, every answer each system gave, and every step it took — inspectable without installing anything.</a:t>
            </a:r>
            <a:endParaRPr lang="en-US" sz="1600" dirty="0"/>
          </a:p>
        </p:txBody>
      </p:sp>
      <p:sp>
        <p:nvSpPr>
          <p:cNvPr id="4" name="Shape 2"/>
          <p:cNvSpPr/>
          <p:nvPr/>
        </p:nvSpPr>
        <p:spPr>
          <a:xfrm>
            <a:off x="640080" y="2788920"/>
            <a:ext cx="5394960" cy="1371600"/>
          </a:xfrm>
          <a:prstGeom prst="roundRect">
            <a:avLst>
              <a:gd name="adj" fmla="val 4000"/>
            </a:avLst>
          </a:prstGeom>
          <a:solidFill>
            <a:srgbClr val="22303D"/>
          </a:solidFill>
          <a:ln w="12700">
            <a:solidFill>
              <a:srgbClr val="35485A"/>
            </a:solidFill>
            <a:prstDash val="solid"/>
          </a:ln>
        </p:spPr>
      </p:sp>
      <p:sp>
        <p:nvSpPr>
          <p:cNvPr id="5" name="Text 3"/>
          <p:cNvSpPr txBox="1"/>
          <p:nvPr/>
        </p:nvSpPr>
        <p:spPr>
          <a:xfrm>
            <a:off x="1005840" y="3017520"/>
            <a:ext cx="4663440" cy="256032"/>
          </a:xfrm>
          <a:prstGeom prst="rect">
            <a:avLst/>
          </a:prstGeom>
          <a:noFill/>
          <a:ln/>
        </p:spPr>
        <p:txBody>
          <a:bodyPr wrap="square" lIns="0" tIns="0" rIns="0" bIns="0" rtlCol="0" anchor="ctr"/>
          <a:lstStyle/>
          <a:p>
            <a:pPr indent="0" marL="0">
              <a:buNone/>
            </a:pPr>
            <a:r>
              <a:rPr lang="en-US" sz="1050" b="1" spc="200" kern="0" dirty="0">
                <a:solidFill>
                  <a:srgbClr val="8496A6"/>
                </a:solidFill>
                <a:latin typeface="Calibri" pitchFamily="34" charset="0"/>
                <a:ea typeface="Calibri" pitchFamily="34" charset="-122"/>
                <a:cs typeface="Calibri" pitchFamily="34" charset="-120"/>
              </a:rPr>
              <a:t>LIVE EVALUATION</a:t>
            </a:r>
            <a:endParaRPr lang="en-US" sz="1050" dirty="0"/>
          </a:p>
        </p:txBody>
      </p:sp>
      <p:sp>
        <p:nvSpPr>
          <p:cNvPr id="6" name="Text 4">
            <a:hlinkClick r:id="rId1" tooltip=""/>
          </p:cNvPr>
          <p:cNvSpPr txBox="1"/>
          <p:nvPr/>
        </p:nvSpPr>
        <p:spPr>
          <a:xfrm>
            <a:off x="1005840" y="3346704"/>
            <a:ext cx="4754880" cy="457200"/>
          </a:xfrm>
          <a:prstGeom prst="rect">
            <a:avLst/>
          </a:prstGeom>
          <a:noFill/>
          <a:ln/>
        </p:spPr>
        <p:txBody>
          <a:bodyPr wrap="square" lIns="0" tIns="0" rIns="0" bIns="0" rtlCol="0" anchor="ctr"/>
          <a:lstStyle/>
          <a:p>
            <a:pPr indent="0" marL="0">
              <a:buNone/>
            </a:pPr>
            <a:r>
              <a:rPr lang="en-US" sz="1700" b="1" u="sng" dirty="0">
                <a:solidFill>
                  <a:srgbClr val="129B6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ai-statistician.netlify.app</a:t>
            </a:r>
            <a:endParaRPr lang="en-US" sz="1700" dirty="0"/>
          </a:p>
        </p:txBody>
      </p:sp>
      <p:sp>
        <p:nvSpPr>
          <p:cNvPr id="7" name="Shape 5"/>
          <p:cNvSpPr/>
          <p:nvPr/>
        </p:nvSpPr>
        <p:spPr>
          <a:xfrm>
            <a:off x="6217920" y="2788920"/>
            <a:ext cx="5394960" cy="1371600"/>
          </a:xfrm>
          <a:prstGeom prst="roundRect">
            <a:avLst>
              <a:gd name="adj" fmla="val 4000"/>
            </a:avLst>
          </a:prstGeom>
          <a:solidFill>
            <a:srgbClr val="22303D"/>
          </a:solidFill>
          <a:ln w="12700">
            <a:solidFill>
              <a:srgbClr val="35485A"/>
            </a:solidFill>
            <a:prstDash val="solid"/>
          </a:ln>
        </p:spPr>
      </p:sp>
      <p:sp>
        <p:nvSpPr>
          <p:cNvPr id="8" name="Text 6"/>
          <p:cNvSpPr txBox="1"/>
          <p:nvPr/>
        </p:nvSpPr>
        <p:spPr>
          <a:xfrm>
            <a:off x="6583680" y="3017520"/>
            <a:ext cx="4663440" cy="256032"/>
          </a:xfrm>
          <a:prstGeom prst="rect">
            <a:avLst/>
          </a:prstGeom>
          <a:noFill/>
          <a:ln/>
        </p:spPr>
        <p:txBody>
          <a:bodyPr wrap="square" lIns="0" tIns="0" rIns="0" bIns="0" rtlCol="0" anchor="ctr"/>
          <a:lstStyle/>
          <a:p>
            <a:pPr indent="0" marL="0">
              <a:buNone/>
            </a:pPr>
            <a:r>
              <a:rPr lang="en-US" sz="1050" b="1" spc="200" kern="0" dirty="0">
                <a:solidFill>
                  <a:srgbClr val="8496A6"/>
                </a:solidFill>
                <a:latin typeface="Calibri" pitchFamily="34" charset="0"/>
                <a:ea typeface="Calibri" pitchFamily="34" charset="-122"/>
                <a:cs typeface="Calibri" pitchFamily="34" charset="-120"/>
              </a:rPr>
              <a:t>SOURCE, DATA AND LOGS</a:t>
            </a:r>
            <a:endParaRPr lang="en-US" sz="1050" dirty="0"/>
          </a:p>
        </p:txBody>
      </p:sp>
      <p:sp>
        <p:nvSpPr>
          <p:cNvPr id="9" name="Text 7">
            <a:hlinkClick r:id="rId2" tooltip=""/>
          </p:cNvPr>
          <p:cNvSpPr txBox="1"/>
          <p:nvPr/>
        </p:nvSpPr>
        <p:spPr>
          <a:xfrm>
            <a:off x="6583680" y="3346704"/>
            <a:ext cx="4754880" cy="457200"/>
          </a:xfrm>
          <a:prstGeom prst="rect">
            <a:avLst/>
          </a:prstGeom>
          <a:noFill/>
          <a:ln/>
        </p:spPr>
        <p:txBody>
          <a:bodyPr wrap="square" lIns="0" tIns="0" rIns="0" bIns="0" rtlCol="0" anchor="ctr"/>
          <a:lstStyle/>
          <a:p>
            <a:pPr indent="0" marL="0">
              <a:buNone/>
            </a:pPr>
            <a:r>
              <a:rPr lang="en-US" sz="1700" b="1" u="sng" dirty="0">
                <a:solidFill>
                  <a:srgbClr val="CFE0F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github.com/Vishal4507/AI_statistician</a:t>
            </a:r>
            <a:endParaRPr lang="en-US" sz="1700" dirty="0"/>
          </a:p>
        </p:txBody>
      </p:sp>
      <p:sp>
        <p:nvSpPr>
          <p:cNvPr id="10" name="Text 8"/>
          <p:cNvSpPr txBox="1"/>
          <p:nvPr/>
        </p:nvSpPr>
        <p:spPr>
          <a:xfrm>
            <a:off x="640080" y="4892040"/>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Thank you — questions welcome.</a:t>
            </a:r>
            <a:endParaRPr lang="en-US" sz="2400" dirty="0"/>
          </a:p>
        </p:txBody>
      </p:sp>
      <p:sp>
        <p:nvSpPr>
          <p:cNvPr id="11" name="Text 9"/>
          <p:cNvSpPr txBox="1"/>
          <p:nvPr/>
        </p:nvSpPr>
        <p:spPr>
          <a:xfrm>
            <a:off x="10972800" y="6327648"/>
            <a:ext cx="548640" cy="274320"/>
          </a:xfrm>
          <a:prstGeom prst="rect">
            <a:avLst/>
          </a:prstGeom>
          <a:noFill/>
          <a:ln/>
        </p:spPr>
        <p:txBody>
          <a:bodyPr wrap="square" lIns="0" tIns="0" rIns="0" bIns="0" rtlCol="0" anchor="ctr"/>
          <a:lstStyle/>
          <a:p>
            <a:pPr algn="r" indent="0" marL="0">
              <a:buNone/>
            </a:pPr>
            <a:r>
              <a:rPr lang="en-US" sz="1000" dirty="0">
                <a:solidFill>
                  <a:srgbClr val="55697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Statistician</dc:title>
  <dc:subject>PptxGenJS Presentation</dc:subject>
  <dc:creator>Vishal Dhinesh Kumar</dc:creator>
  <cp:lastModifiedBy>Vishal Dhinesh Kumar</cp:lastModifiedBy>
  <cp:revision>1</cp:revision>
  <dcterms:created xsi:type="dcterms:W3CDTF">2026-09-21T07:42:30Z</dcterms:created>
  <dcterms:modified xsi:type="dcterms:W3CDTF">2026-09-21T07:42:30Z</dcterms:modified>
</cp:coreProperties>
</file>