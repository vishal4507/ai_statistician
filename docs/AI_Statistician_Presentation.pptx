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yourself and the one-line question. Keep it short.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most important slide. Fluent, correct arithmetic, often invalid.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table looks perfect; the correct answer is to decline.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H1 compares C against B, not A. B is the honest control.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Justify the closed library and the absence of code execution.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Architecture on top, the seven-step protocol below. B can run every check; it lacks the ordering and the permission to stop.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Pre-empt the tautology objection: it is a design property.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Benchmark left, evaluation controls right. The frozen split is the control against tuning to the test.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Name 75, 67, 89. Solid and filled means significant; dashed and hollow means not. Say C over A is unresolved.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 at 100% on grounding: it uses real tools, so its numbers are real. Its failure is choosing the wrong method, not inventing figures.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Totals: A 24, B 32, C 11 failures. Lower coverage with higher accuracy is the signature of declining correctly, not at random.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supported, one unresolved. Keep the unresolved row.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system worked; the measurement had two silent defects.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Deliver calmly. Each limit is known, bounded and disclosed.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 on the one-line conclusion and pause.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time allows, show the Seoul bike case 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hyperlink" Target="https://ai-statistician.netlify.app" TargetMode="External"/><Relationship Id="rId2" Type="http://schemas.openxmlformats.org/officeDocument/2006/relationships/hyperlink" Target="https://github.com/Vishal4507/AI_statistician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0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371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49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PROJECT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737360"/>
            <a:ext cx="10058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Statistician</a:t>
            </a:r>
            <a:endParaRPr lang="en-US" sz="5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65176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29B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Design-aware method selection for LLM statistical analysis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42900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1700" dirty="0">
                <a:solidFill>
                  <a:srgbClr val="CFE0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an explicit decision protocol make an LLM agent choose valid statistical methods more reliably than tool access alone?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457200" cy="457200"/>
          </a:xfrm>
          <a:prstGeom prst="ellipse">
            <a:avLst/>
          </a:prstGeom>
          <a:solidFill>
            <a:srgbClr val="2F6FD0"/>
          </a:solidFill>
          <a:ln w="12700">
            <a:solidFill>
              <a:srgbClr val="2F6F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1243584" y="4434840"/>
            <a:ext cx="457200" cy="457200"/>
          </a:xfrm>
          <a:prstGeom prst="ellipse">
            <a:avLst/>
          </a:prstGeom>
          <a:solidFill>
            <a:srgbClr val="DD6027"/>
          </a:solidFill>
          <a:ln w="12700">
            <a:solidFill>
              <a:srgbClr val="DD602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243584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1847088" y="4434840"/>
            <a:ext cx="457200" cy="457200"/>
          </a:xfrm>
          <a:prstGeom prst="ellipse">
            <a:avLst/>
          </a:prstGeom>
          <a:solidFill>
            <a:srgbClr val="129B68"/>
          </a:solidFill>
          <a:ln w="12700">
            <a:solidFill>
              <a:srgbClr val="129B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847088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56692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Vishal Dhinesh Kumar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5989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49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 Jain School of Global Management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0" y="632764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569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49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PROJECT EXISTS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68096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2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statement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572768"/>
            <a:ext cx="10881360" cy="1499616"/>
          </a:xfrm>
          <a:prstGeom prst="roundRect">
            <a:avLst>
              <a:gd name="adj" fmla="val 3659"/>
            </a:avLst>
          </a:prstGeom>
          <a:solidFill>
            <a:srgbClr val="14202B"/>
          </a:solidFill>
          <a:ln w="12700">
            <a:solidFill>
              <a:srgbClr val="E2E9F0"/>
            </a:solidFill>
            <a:prstDash val="solid"/>
          </a:ln>
          <a:effectLst>
            <a:outerShdw sx="100000" sy="100000" kx="0" ky="0" algn="bl" rotWithShape="0" blurRad="127000" dist="25400" dir="5400000">
              <a:srgbClr val="9FB0C0">
                <a:alpha val="2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051560" y="1755648"/>
            <a:ext cx="1005840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Large language models produce statistical analyses that are fluent, arithmetically correct, and frequently invalid — because validity depends on facts about how the data was collected, which the data itself does not contain.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640080" y="3200400"/>
            <a:ext cx="3474720" cy="260604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E2E9F0"/>
            </a:solidFill>
            <a:prstDash val="solid"/>
          </a:ln>
          <a:effectLst>
            <a:outerShdw sx="100000" sy="100000" kx="0" ky="0" algn="bl" rotWithShape="0" blurRad="127000" dist="25400" dir="5400000">
              <a:srgbClr val="9FB0C0">
                <a:alpha val="2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60120" y="3493008"/>
            <a:ext cx="201168" cy="201168"/>
          </a:xfrm>
          <a:prstGeom prst="ellipse">
            <a:avLst/>
          </a:prstGeom>
          <a:solidFill>
            <a:srgbClr val="2F6FD0"/>
          </a:solidFill>
          <a:ln w="12700">
            <a:solidFill>
              <a:srgbClr val="2F6FD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298448" y="3419856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Invalid method, correct arithmetic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4114800"/>
            <a:ext cx="2880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50"/>
              </a:lnSpc>
              <a:buNone/>
            </a:pPr>
            <a:r>
              <a:rPr lang="en-US" sz="1300" dirty="0">
                <a:solidFill>
                  <a:srgbClr val="4A5A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Independence, pairing, temporal order and clustering are properties of the study design. A method that assumes them can be applied to data that violates them, and every number will still add up.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97680" y="3200400"/>
            <a:ext cx="3474720" cy="260604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E2E9F0"/>
            </a:solidFill>
            <a:prstDash val="solid"/>
          </a:ln>
          <a:effectLst>
            <a:outerShdw sx="100000" sy="100000" kx="0" ky="0" algn="bl" rotWithShape="0" blurRad="127000" dist="25400" dir="5400000">
              <a:srgbClr val="9FB0C0">
                <a:alpha val="2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17720" y="3493008"/>
            <a:ext cx="201168" cy="201168"/>
          </a:xfrm>
          <a:prstGeom prst="ellipse">
            <a:avLst/>
          </a:prstGeom>
          <a:solidFill>
            <a:srgbClr val="DD6027"/>
          </a:solidFill>
          <a:ln w="12700">
            <a:solidFill>
              <a:srgbClr val="DD602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956048" y="3419856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Fabricated numerical detail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617720" y="4114800"/>
            <a:ext cx="2880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50"/>
              </a:lnSpc>
              <a:buNone/>
            </a:pPr>
            <a:r>
              <a:rPr lang="en-US" sz="1300" dirty="0">
                <a:solidFill>
                  <a:srgbClr val="4A5A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can write a plausible statistic that no calculation produced. The prose reads as a result; checking it means redoing the analysis.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955280" y="3200400"/>
            <a:ext cx="3474720" cy="260604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E2E9F0"/>
            </a:solidFill>
            <a:prstDash val="solid"/>
          </a:ln>
          <a:effectLst>
            <a:outerShdw sx="100000" sy="100000" kx="0" ky="0" algn="bl" rotWithShape="0" blurRad="127000" dist="25400" dir="5400000">
              <a:srgbClr val="9FB0C0">
                <a:alpha val="2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275320" y="3493008"/>
            <a:ext cx="201168" cy="201168"/>
          </a:xfrm>
          <a:prstGeom prst="ellipse">
            <a:avLst/>
          </a:prstGeom>
          <a:solidFill>
            <a:srgbClr val="C8891B"/>
          </a:solidFill>
          <a:ln w="12700">
            <a:solidFill>
              <a:srgbClr val="C8891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613648" y="3419856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mechanism to decline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275320" y="4114800"/>
            <a:ext cx="2880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50"/>
              </a:lnSpc>
              <a:buNone/>
            </a:pPr>
            <a:r>
              <a:rPr lang="en-US" sz="1300" dirty="0">
                <a:solidFill>
                  <a:srgbClr val="4A5A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use gives the model the ability to compute. Nothing obliges it to establish that computing is appropriate before it answers.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0" y="632764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49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49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FAILURE, CONCRETELY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68096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2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motivating case from the benchmark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572768"/>
            <a:ext cx="5257800" cy="4160520"/>
          </a:xfrm>
          <a:prstGeom prst="roundRect">
            <a:avLst>
              <a:gd name="adj" fmla="val 1319"/>
            </a:avLst>
          </a:prstGeom>
          <a:solidFill>
            <a:srgbClr val="FFFFFF"/>
          </a:solidFill>
          <a:ln w="12700">
            <a:solidFill>
              <a:srgbClr val="E2E9F0"/>
            </a:solidFill>
            <a:prstDash val="solid"/>
          </a:ln>
          <a:effectLst>
            <a:outerShdw sx="100000" sy="100000" kx="0" ky="0" algn="bl" rotWithShape="0" blurRad="127000" dist="25400" dir="5400000">
              <a:srgbClr val="9FB0C0">
                <a:alpha val="2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005840" y="18288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2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Seoul Bike Sharing  ·  UCI 560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2128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49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8,760 rows — one per hour for a year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2697480"/>
            <a:ext cx="45720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4A5A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Question: does temperature relate to rental demand?</a:t>
            </a:r>
            <a:endParaRPr lang="en-US" sz="14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4A5A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table is a textbook fit for correlation or Poisson regression.</a:t>
            </a:r>
            <a:endParaRPr lang="en-US" sz="14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4A5A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assume observations are independent.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434340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D60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They are not.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005840" y="475488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4A5A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Adjacent hours share weather, commuter cycles and daylight — each row carries information about its neighbours.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63640" y="1572768"/>
            <a:ext cx="5257800" cy="4160520"/>
          </a:xfrm>
          <a:prstGeom prst="roundRect">
            <a:avLst>
              <a:gd name="adj" fmla="val 1319"/>
            </a:avLst>
          </a:prstGeom>
          <a:solidFill>
            <a:srgbClr val="FFFFFF"/>
          </a:solidFill>
          <a:ln w="12700">
            <a:solidFill>
              <a:srgbClr val="E2E9F0"/>
            </a:solidFill>
            <a:prstDash val="solid"/>
          </a:ln>
          <a:effectLst>
            <a:outerShdw sx="100000" sy="100000" kx="0" ky="0" algn="bl" rotWithShape="0" blurRad="127000" dist="25400" dir="5400000">
              <a:srgbClr val="9FB0C0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629400" y="18288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2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a data-only system cannot see it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6629400" y="2331720"/>
            <a:ext cx="4526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4A5A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in the matrix marks the rows as serially dependent. The dependence is a fact about the collection process — known to whoever gathered the data, invisible to anyone reading only the file.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6629400" y="3749040"/>
            <a:ext cx="4526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4A5A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project supplies that fact through a design card, and scores the system on whether it acts on it.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6629400" y="48920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29B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Correct answer: decline to model.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0" y="632764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49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49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BEING TESTED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68096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2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Research question and hypotheses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572768"/>
            <a:ext cx="10881360" cy="1051560"/>
          </a:xfrm>
          <a:prstGeom prst="roundRect">
            <a:avLst>
              <a:gd name="adj" fmla="val 5217"/>
            </a:avLst>
          </a:prstGeom>
          <a:solidFill>
            <a:srgbClr val="14202B"/>
          </a:solidFill>
          <a:ln w="12700">
            <a:solidFill>
              <a:srgbClr val="E2E9F0"/>
            </a:solidFill>
            <a:prstDash val="solid"/>
          </a:ln>
          <a:effectLst>
            <a:outerShdw sx="100000" sy="100000" kx="0" ky="0" algn="bl" rotWithShape="0" blurRad="127000" dist="25400" dir="5400000">
              <a:srgbClr val="9FB0C0">
                <a:alpha val="2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051560" y="1737360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Does an explicit statistical decision protocol improve an LLM agent's selection of valid methods, compared with direct LLM advice and with tool access that has no protocol governing its use?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40080" y="2880360"/>
            <a:ext cx="1088136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9F0"/>
            </a:solidFill>
            <a:prstDash val="solid"/>
          </a:ln>
          <a:effectLst>
            <a:outerShdw sx="100000" sy="100000" kx="0" ky="0" algn="bl" rotWithShape="0" blurRad="127000" dist="25400" dir="5400000">
              <a:srgbClr val="9FB0C0">
                <a:alpha val="2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60120" y="30632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29B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H1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1783080" y="312724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Selection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3749040" y="3081528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4A5A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protocol arm selects an admissible method more often than the tool-enabled baseline.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640080" y="3867912"/>
            <a:ext cx="1088136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9F0"/>
            </a:solidFill>
            <a:prstDash val="solid"/>
          </a:ln>
          <a:effectLst>
            <a:outerShdw sx="100000" sy="100000" kx="0" ky="0" algn="bl" rotWithShape="0" blurRad="127000" dist="25400" dir="5400000">
              <a:srgbClr val="9FB0C0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960120" y="4050792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29B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H2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1783080" y="411480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Abstention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3749040" y="406908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4A5A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protocol arm declines more reliably on designs that no supported method fits — the safety-critical case.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640080" y="4855464"/>
            <a:ext cx="1088136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9F0"/>
            </a:solidFill>
            <a:prstDash val="solid"/>
          </a:ln>
          <a:effectLst>
            <a:outerShdw sx="100000" sy="100000" kx="0" ky="0" algn="bl" rotWithShape="0" blurRad="127000" dist="25400" dir="5400000">
              <a:srgbClr val="9FB0C0">
                <a:alpha val="22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960120" y="5038344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29B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H3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1783080" y="510235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Provenance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3749040" y="5056632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4A5A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Schema-level provenance prevents fabricated numbers from reaching a finished report.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0" y="632764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49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49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WAS BUILT, AND WHAT WAS RULED OUT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68096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2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Scope and design decisions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572768"/>
            <a:ext cx="5486400" cy="4206240"/>
          </a:xfrm>
          <a:prstGeom prst="roundRect">
            <a:avLst>
              <a:gd name="adj" fmla="val 1304"/>
            </a:avLst>
          </a:prstGeom>
          <a:solidFill>
            <a:srgbClr val="FFFFFF"/>
          </a:solidFill>
          <a:ln w="12700">
            <a:solidFill>
              <a:srgbClr val="E2E9F0"/>
            </a:solidFill>
            <a:prstDash val="solid"/>
          </a:ln>
          <a:effectLst>
            <a:outerShdw sx="100000" sy="100000" kx="0" ky="0" algn="bl" rotWithShape="0" blurRad="127000" dist="25400" dir="5400000">
              <a:srgbClr val="9FB0C0">
                <a:alpha val="2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005840" y="181051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2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closed library of 14 methods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331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groups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3017520" y="233172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4A5A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t · Welch t · Mann–Whitney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2862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or more groups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3017520" y="2862072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4A5A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One-way ANOVA · Welch ANOVA · Kruskal–Wallis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005840" y="3392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Categorical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017520" y="3392424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4A5A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Chi-square · Fisher exact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05840" y="3922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Association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3017520" y="3922776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4A5A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Pearson · Spearman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05840" y="4453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Regression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3017520" y="4453128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4A5A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OLS · Logistic · Poisson · Negative binomial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005840" y="50749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8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abstain — a decision, not a method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355080" y="1572768"/>
            <a:ext cx="5166360" cy="1298448"/>
          </a:xfrm>
          <a:prstGeom prst="roundRect">
            <a:avLst>
              <a:gd name="adj" fmla="val 4225"/>
            </a:avLst>
          </a:prstGeom>
          <a:solidFill>
            <a:srgbClr val="FFFFFF"/>
          </a:solidFill>
          <a:ln w="12700">
            <a:solidFill>
              <a:srgbClr val="E2E9F0"/>
            </a:solidFill>
            <a:prstDash val="solid"/>
          </a:ln>
          <a:effectLst>
            <a:outerShdw sx="100000" sy="100000" kx="0" ky="0" algn="bl" rotWithShape="0" blurRad="127000" dist="25400" dir="5400000">
              <a:srgbClr val="9FB0C0">
                <a:alpha val="22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6675120" y="177393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Closed, so it is scorable</a:t>
            </a:r>
            <a:endParaRPr lang="en-US" sz="1550" dirty="0"/>
          </a:p>
        </p:txBody>
      </p:sp>
      <p:sp>
        <p:nvSpPr>
          <p:cNvPr id="19" name="Text 17"/>
          <p:cNvSpPr txBox="1"/>
          <p:nvPr/>
        </p:nvSpPr>
        <p:spPr>
          <a:xfrm>
            <a:off x="6675120" y="2157984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4A5A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open library turns method choice into an essay-grading problem.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355080" y="3008376"/>
            <a:ext cx="5166360" cy="1298448"/>
          </a:xfrm>
          <a:prstGeom prst="roundRect">
            <a:avLst>
              <a:gd name="adj" fmla="val 4225"/>
            </a:avLst>
          </a:prstGeom>
          <a:solidFill>
            <a:srgbClr val="FFFFFF"/>
          </a:solidFill>
          <a:ln w="12700">
            <a:solidFill>
              <a:srgbClr val="E2E9F0"/>
            </a:solidFill>
            <a:prstDash val="solid"/>
          </a:ln>
          <a:effectLst>
            <a:outerShdw sx="100000" sy="100000" kx="0" ky="0" algn="bl" rotWithShape="0" blurRad="127000" dist="25400" dir="5400000">
              <a:srgbClr val="9FB0C0">
                <a:alpha val="22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6675120" y="320954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general code execution</a:t>
            </a:r>
            <a:endParaRPr lang="en-US" sz="1550" dirty="0"/>
          </a:p>
        </p:txBody>
      </p:sp>
      <p:sp>
        <p:nvSpPr>
          <p:cNvPr id="22" name="Text 20"/>
          <p:cNvSpPr txBox="1"/>
          <p:nvPr/>
        </p:nvSpPr>
        <p:spPr>
          <a:xfrm>
            <a:off x="6675120" y="3593592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4A5A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would let the model bypass the policy and make traces incomparable.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355080" y="4443984"/>
            <a:ext cx="5166360" cy="1298448"/>
          </a:xfrm>
          <a:prstGeom prst="roundRect">
            <a:avLst>
              <a:gd name="adj" fmla="val 4225"/>
            </a:avLst>
          </a:prstGeom>
          <a:solidFill>
            <a:srgbClr val="FFFFFF"/>
          </a:solidFill>
          <a:ln w="12700">
            <a:solidFill>
              <a:srgbClr val="E2E9F0"/>
            </a:solidFill>
            <a:prstDash val="solid"/>
          </a:ln>
          <a:effectLst>
            <a:outerShdw sx="100000" sy="100000" kx="0" ky="0" algn="bl" rotWithShape="0" blurRad="127000" dist="25400" dir="5400000">
              <a:srgbClr val="9FB0C0">
                <a:alpha val="22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6675120" y="464515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 scope, measured anyway</a:t>
            </a:r>
            <a:endParaRPr lang="en-US" sz="1550" dirty="0"/>
          </a:p>
        </p:txBody>
      </p:sp>
      <p:sp>
        <p:nvSpPr>
          <p:cNvPr id="25" name="Text 23"/>
          <p:cNvSpPr txBox="1"/>
          <p:nvPr/>
        </p:nvSpPr>
        <p:spPr>
          <a:xfrm>
            <a:off x="6675120" y="502920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4A5A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Paired, repeated-measures, mixed, time-series and survival designs enter the benchmark as abstention cases.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0972800" y="632764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49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49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AND SYSTEM C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68096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2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it works: one shared core, one ordered protocol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572768"/>
            <a:ext cx="347472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9F0"/>
            </a:solidFill>
            <a:prstDash val="solid"/>
          </a:ln>
          <a:effectLst>
            <a:outerShdw sx="100000" sy="100000" kx="0" ky="0" algn="bl" rotWithShape="0" blurRad="127000" dist="25400" dir="5400000">
              <a:srgbClr val="9FB0C0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59536" y="1801368"/>
            <a:ext cx="438912" cy="438912"/>
          </a:xfrm>
          <a:prstGeom prst="ellipse">
            <a:avLst/>
          </a:prstGeom>
          <a:solidFill>
            <a:srgbClr val="2F6FD0"/>
          </a:solidFill>
          <a:ln w="12700">
            <a:solidFill>
              <a:srgbClr val="2F6FD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59536" y="18013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444752" y="1664208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444752" y="1984248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A5A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tools; sees C's step-one diagnostics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297680" y="1572768"/>
            <a:ext cx="347472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9F0"/>
            </a:solidFill>
            <a:prstDash val="solid"/>
          </a:ln>
          <a:effectLst>
            <a:outerShdw sx="100000" sy="100000" kx="0" ky="0" algn="bl" rotWithShape="0" blurRad="127000" dist="25400" dir="5400000">
              <a:srgbClr val="9FB0C0">
                <a:alpha val="2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17136" y="1801368"/>
            <a:ext cx="438912" cy="438912"/>
          </a:xfrm>
          <a:prstGeom prst="ellipse">
            <a:avLst/>
          </a:prstGeom>
          <a:solidFill>
            <a:srgbClr val="DD6027"/>
          </a:solidFill>
          <a:ln w="12700">
            <a:solidFill>
              <a:srgbClr val="DD602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17136" y="18013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5102352" y="1664208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loop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5102352" y="1984248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A5A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tools and schema; no ordering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955280" y="1572768"/>
            <a:ext cx="347472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9F0"/>
            </a:solidFill>
            <a:prstDash val="solid"/>
          </a:ln>
          <a:effectLst>
            <a:outerShdw sx="100000" sy="100000" kx="0" ky="0" algn="bl" rotWithShape="0" blurRad="127000" dist="25400" dir="5400000">
              <a:srgbClr val="9FB0C0">
                <a:alpha val="2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174736" y="1801368"/>
            <a:ext cx="438912" cy="438912"/>
          </a:xfrm>
          <a:prstGeom prst="ellipse">
            <a:avLst/>
          </a:prstGeom>
          <a:solidFill>
            <a:srgbClr val="129B68"/>
          </a:solidFill>
          <a:ln w="12700">
            <a:solidFill>
              <a:srgbClr val="129B6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174736" y="18013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759952" y="1664208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8759952" y="1984248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A5A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 validate the design first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0080" y="2633472"/>
            <a:ext cx="10881360" cy="530352"/>
          </a:xfrm>
          <a:prstGeom prst="roundRect">
            <a:avLst>
              <a:gd name="adj" fmla="val 10345"/>
            </a:avLst>
          </a:prstGeom>
          <a:solidFill>
            <a:srgbClr val="14202B"/>
          </a:solidFill>
          <a:ln w="12700">
            <a:solidFill>
              <a:srgbClr val="E2E9F0"/>
            </a:solidFill>
            <a:prstDash val="solid"/>
          </a:ln>
          <a:effectLst>
            <a:outerShdw sx="100000" sy="100000" kx="0" ky="0" algn="bl" rotWithShape="0" blurRad="127000" dist="25400" dir="5400000">
              <a:srgbClr val="9FB0C0">
                <a:alpha val="22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960120" y="27706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849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CORE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2743200" y="2724912"/>
            <a:ext cx="8595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registry   ·   Result store   ·   Report schema   ·   Trace log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640080" y="3310128"/>
            <a:ext cx="1444752" cy="1810512"/>
          </a:xfrm>
          <a:prstGeom prst="roundRect">
            <a:avLst>
              <a:gd name="adj" fmla="val 3797"/>
            </a:avLst>
          </a:prstGeom>
          <a:solidFill>
            <a:srgbClr val="FFFFFF"/>
          </a:solidFill>
          <a:ln w="12700">
            <a:solidFill>
              <a:srgbClr val="E2E9F0"/>
            </a:solidFill>
            <a:prstDash val="solid"/>
          </a:ln>
          <a:effectLst>
            <a:outerShdw sx="100000" sy="100000" kx="0" ky="0" algn="bl" rotWithShape="0" blurRad="127000" dist="25400" dir="5400000">
              <a:srgbClr val="9FB0C0">
                <a:alpha val="22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786384" y="3419856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8496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24" name="Text 22"/>
          <p:cNvSpPr txBox="1"/>
          <p:nvPr/>
        </p:nvSpPr>
        <p:spPr>
          <a:xfrm>
            <a:off x="786384" y="3858768"/>
            <a:ext cx="12070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786384" y="4389120"/>
            <a:ext cx="12070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A5A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Question, variables, outcome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194560" y="3310128"/>
            <a:ext cx="1444752" cy="1810512"/>
          </a:xfrm>
          <a:prstGeom prst="roundRect">
            <a:avLst>
              <a:gd name="adj" fmla="val 3797"/>
            </a:avLst>
          </a:prstGeom>
          <a:solidFill>
            <a:srgbClr val="EAF6F0"/>
          </a:solidFill>
          <a:ln w="12700">
            <a:solidFill>
              <a:srgbClr val="E2E9F0"/>
            </a:solidFill>
            <a:prstDash val="solid"/>
          </a:ln>
          <a:effectLst>
            <a:outerShdw sx="100000" sy="100000" kx="0" ky="0" algn="bl" rotWithShape="0" blurRad="127000" dist="25400" dir="5400000">
              <a:srgbClr val="9FB0C0">
                <a:alpha val="22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2340864" y="3419856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29B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28" name="Text 26"/>
          <p:cNvSpPr txBox="1"/>
          <p:nvPr/>
        </p:nvSpPr>
        <p:spPr>
          <a:xfrm>
            <a:off x="2340864" y="3858768"/>
            <a:ext cx="12070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design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2340864" y="4389120"/>
            <a:ext cx="12070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A5A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Independence, pairing, time, clustering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749040" y="3310128"/>
            <a:ext cx="1444752" cy="1810512"/>
          </a:xfrm>
          <a:prstGeom prst="roundRect">
            <a:avLst>
              <a:gd name="adj" fmla="val 3797"/>
            </a:avLst>
          </a:prstGeom>
          <a:solidFill>
            <a:srgbClr val="FFFFFF"/>
          </a:solidFill>
          <a:ln w="12700">
            <a:solidFill>
              <a:srgbClr val="E2E9F0"/>
            </a:solidFill>
            <a:prstDash val="solid"/>
          </a:ln>
          <a:effectLst>
            <a:outerShdw sx="100000" sy="100000" kx="0" ky="0" algn="bl" rotWithShape="0" blurRad="127000" dist="25400" dir="5400000">
              <a:srgbClr val="9FB0C0">
                <a:alpha val="22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3895344" y="3419856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8496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32" name="Text 30"/>
          <p:cNvSpPr txBox="1"/>
          <p:nvPr/>
        </p:nvSpPr>
        <p:spPr>
          <a:xfrm>
            <a:off x="3895344" y="3858768"/>
            <a:ext cx="12070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Enumerate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3895344" y="4389120"/>
            <a:ext cx="12070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A5A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 the design admits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5303520" y="3310128"/>
            <a:ext cx="1444752" cy="1810512"/>
          </a:xfrm>
          <a:prstGeom prst="roundRect">
            <a:avLst>
              <a:gd name="adj" fmla="val 3797"/>
            </a:avLst>
          </a:prstGeom>
          <a:solidFill>
            <a:srgbClr val="FFFFFF"/>
          </a:solidFill>
          <a:ln w="12700">
            <a:solidFill>
              <a:srgbClr val="E2E9F0"/>
            </a:solidFill>
            <a:prstDash val="solid"/>
          </a:ln>
          <a:effectLst>
            <a:outerShdw sx="100000" sy="100000" kx="0" ky="0" algn="bl" rotWithShape="0" blurRad="127000" dist="25400" dir="5400000">
              <a:srgbClr val="9FB0C0">
                <a:alpha val="22000"/>
              </a:srgbClr>
            </a:outerShdw>
          </a:effectLst>
        </p:spPr>
      </p:sp>
      <p:sp>
        <p:nvSpPr>
          <p:cNvPr id="35" name="Text 33"/>
          <p:cNvSpPr txBox="1"/>
          <p:nvPr/>
        </p:nvSpPr>
        <p:spPr>
          <a:xfrm>
            <a:off x="5449824" y="3419856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8496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36" name="Text 34"/>
          <p:cNvSpPr txBox="1"/>
          <p:nvPr/>
        </p:nvSpPr>
        <p:spPr>
          <a:xfrm>
            <a:off x="5449824" y="3858768"/>
            <a:ext cx="12070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Diagnose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5449824" y="4389120"/>
            <a:ext cx="12070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A5A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checks that could change the choice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6858000" y="3310128"/>
            <a:ext cx="1444752" cy="1810512"/>
          </a:xfrm>
          <a:prstGeom prst="roundRect">
            <a:avLst>
              <a:gd name="adj" fmla="val 3797"/>
            </a:avLst>
          </a:prstGeom>
          <a:solidFill>
            <a:srgbClr val="EAF6F0"/>
          </a:solidFill>
          <a:ln w="12700">
            <a:solidFill>
              <a:srgbClr val="E2E9F0"/>
            </a:solidFill>
            <a:prstDash val="solid"/>
          </a:ln>
          <a:effectLst>
            <a:outerShdw sx="100000" sy="100000" kx="0" ky="0" algn="bl" rotWithShape="0" blurRad="127000" dist="25400" dir="5400000">
              <a:srgbClr val="9FB0C0">
                <a:alpha val="22000"/>
              </a:srgbClr>
            </a:outerShdw>
          </a:effectLst>
        </p:spPr>
      </p:sp>
      <p:sp>
        <p:nvSpPr>
          <p:cNvPr id="39" name="Text 37"/>
          <p:cNvSpPr txBox="1"/>
          <p:nvPr/>
        </p:nvSpPr>
        <p:spPr>
          <a:xfrm>
            <a:off x="7004304" y="3419856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29B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200" dirty="0"/>
          </a:p>
        </p:txBody>
      </p:sp>
      <p:sp>
        <p:nvSpPr>
          <p:cNvPr id="40" name="Text 38"/>
          <p:cNvSpPr txBox="1"/>
          <p:nvPr/>
        </p:nvSpPr>
        <p:spPr>
          <a:xfrm>
            <a:off x="7004304" y="3858768"/>
            <a:ext cx="12070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or abstain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7004304" y="4389120"/>
            <a:ext cx="12070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A5A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Choose, or decline with a reason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8412480" y="3310128"/>
            <a:ext cx="1444752" cy="1810512"/>
          </a:xfrm>
          <a:prstGeom prst="roundRect">
            <a:avLst>
              <a:gd name="adj" fmla="val 3797"/>
            </a:avLst>
          </a:prstGeom>
          <a:solidFill>
            <a:srgbClr val="FFFFFF"/>
          </a:solidFill>
          <a:ln w="12700">
            <a:solidFill>
              <a:srgbClr val="E2E9F0"/>
            </a:solidFill>
            <a:prstDash val="solid"/>
          </a:ln>
          <a:effectLst>
            <a:outerShdw sx="100000" sy="100000" kx="0" ky="0" algn="bl" rotWithShape="0" blurRad="127000" dist="25400" dir="5400000">
              <a:srgbClr val="9FB0C0">
                <a:alpha val="22000"/>
              </a:srgbClr>
            </a:outerShdw>
          </a:effectLst>
        </p:spPr>
      </p:sp>
      <p:sp>
        <p:nvSpPr>
          <p:cNvPr id="43" name="Text 41"/>
          <p:cNvSpPr txBox="1"/>
          <p:nvPr/>
        </p:nvSpPr>
        <p:spPr>
          <a:xfrm>
            <a:off x="8558784" y="3419856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8496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200" dirty="0"/>
          </a:p>
        </p:txBody>
      </p:sp>
      <p:sp>
        <p:nvSpPr>
          <p:cNvPr id="44" name="Text 42"/>
          <p:cNvSpPr txBox="1"/>
          <p:nvPr/>
        </p:nvSpPr>
        <p:spPr>
          <a:xfrm>
            <a:off x="8558784" y="3858768"/>
            <a:ext cx="12070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</a:t>
            </a:r>
            <a:endParaRPr lang="en-US" sz="1300" dirty="0"/>
          </a:p>
        </p:txBody>
      </p:sp>
      <p:sp>
        <p:nvSpPr>
          <p:cNvPr id="45" name="Text 43"/>
          <p:cNvSpPr txBox="1"/>
          <p:nvPr/>
        </p:nvSpPr>
        <p:spPr>
          <a:xfrm>
            <a:off x="8558784" y="4389120"/>
            <a:ext cx="12070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A5A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through a validated library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9966960" y="3310128"/>
            <a:ext cx="1444752" cy="1810512"/>
          </a:xfrm>
          <a:prstGeom prst="roundRect">
            <a:avLst>
              <a:gd name="adj" fmla="val 3797"/>
            </a:avLst>
          </a:prstGeom>
          <a:solidFill>
            <a:srgbClr val="FFFFFF"/>
          </a:solidFill>
          <a:ln w="12700">
            <a:solidFill>
              <a:srgbClr val="E2E9F0"/>
            </a:solidFill>
            <a:prstDash val="solid"/>
          </a:ln>
          <a:effectLst>
            <a:outerShdw sx="100000" sy="100000" kx="0" ky="0" algn="bl" rotWithShape="0" blurRad="127000" dist="25400" dir="5400000">
              <a:srgbClr val="9FB0C0">
                <a:alpha val="22000"/>
              </a:srgbClr>
            </a:outerShdw>
          </a:effectLst>
        </p:spPr>
      </p:sp>
      <p:sp>
        <p:nvSpPr>
          <p:cNvPr id="47" name="Text 45"/>
          <p:cNvSpPr txBox="1"/>
          <p:nvPr/>
        </p:nvSpPr>
        <p:spPr>
          <a:xfrm>
            <a:off x="10113264" y="3419856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8496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2200" dirty="0"/>
          </a:p>
        </p:txBody>
      </p:sp>
      <p:sp>
        <p:nvSpPr>
          <p:cNvPr id="48" name="Text 46"/>
          <p:cNvSpPr txBox="1"/>
          <p:nvPr/>
        </p:nvSpPr>
        <p:spPr>
          <a:xfrm>
            <a:off x="10113264" y="3858768"/>
            <a:ext cx="12070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300" dirty="0"/>
          </a:p>
        </p:txBody>
      </p:sp>
      <p:sp>
        <p:nvSpPr>
          <p:cNvPr id="49" name="Text 47"/>
          <p:cNvSpPr txBox="1"/>
          <p:nvPr/>
        </p:nvSpPr>
        <p:spPr>
          <a:xfrm>
            <a:off x="10113264" y="4389120"/>
            <a:ext cx="12070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A5A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report against every result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640080" y="5285232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i="1" dirty="0">
                <a:solidFill>
                  <a:srgbClr val="4A5A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control flow differs, so baseline fairness is provable from the code layout. Steps 2 and 5 carry the result: design validation removes invalid methods before any diagnostic runs, and step 5 is where the system is allowed to decline.</a:t>
            </a:r>
            <a:endParaRPr lang="en-US" sz="1350" dirty="0"/>
          </a:p>
        </p:txBody>
      </p:sp>
      <p:sp>
        <p:nvSpPr>
          <p:cNvPr id="51" name="Text 49"/>
          <p:cNvSpPr txBox="1"/>
          <p:nvPr/>
        </p:nvSpPr>
        <p:spPr>
          <a:xfrm>
            <a:off x="10972800" y="632764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49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49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CANNOT WRITE A NUMBER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68096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2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provenance contract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72768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2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Rather than inspecting a finished report for fabrication, fabrication is made structurally impossible.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2606040" cy="214884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2700">
            <a:solidFill>
              <a:srgbClr val="E2E9F0"/>
            </a:solidFill>
            <a:prstDash val="solid"/>
          </a:ln>
          <a:effectLst>
            <a:outerShdw sx="100000" sy="100000" kx="0" ky="0" algn="bl" rotWithShape="0" blurRad="127000" dist="25400" dir="5400000">
              <a:srgbClr val="9FB0C0">
                <a:alpha val="22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914400" y="2487168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29B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3035808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Registered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3456432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A5A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tool result is stored under a stable key in a run-scoped store.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410712" y="2286000"/>
            <a:ext cx="2606040" cy="214884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2700">
            <a:solidFill>
              <a:srgbClr val="E2E9F0"/>
            </a:solidFill>
            <a:prstDash val="solid"/>
          </a:ln>
          <a:effectLst>
            <a:outerShdw sx="100000" sy="100000" kx="0" ky="0" algn="bl" rotWithShape="0" blurRad="127000" dist="25400" dir="5400000">
              <a:srgbClr val="9FB0C0">
                <a:alpha val="2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3685032" y="2487168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29B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3685032" y="3035808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Rejected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685032" y="3456432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A5A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report schema refuses raw numeric literals in prose.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181344" y="2286000"/>
            <a:ext cx="2606040" cy="214884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2700">
            <a:solidFill>
              <a:srgbClr val="E2E9F0"/>
            </a:solidFill>
            <a:prstDash val="solid"/>
          </a:ln>
          <a:effectLst>
            <a:outerShdw sx="100000" sy="100000" kx="0" ky="0" algn="bl" rotWithShape="0" blurRad="127000" dist="25400" dir="5400000">
              <a:srgbClr val="9FB0C0">
                <a:alpha val="22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455664" y="2487168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29B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800" dirty="0"/>
          </a:p>
        </p:txBody>
      </p:sp>
      <p:sp>
        <p:nvSpPr>
          <p:cNvPr id="15" name="Text 13"/>
          <p:cNvSpPr txBox="1"/>
          <p:nvPr/>
        </p:nvSpPr>
        <p:spPr>
          <a:xfrm>
            <a:off x="6455664" y="3035808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Referenced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455664" y="3456432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A5A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writes a reference such as {{r7.welch_t.p_value}}.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8951976" y="2286000"/>
            <a:ext cx="2606040" cy="214884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2700">
            <a:solidFill>
              <a:srgbClr val="E2E9F0"/>
            </a:solidFill>
            <a:prstDash val="solid"/>
          </a:ln>
          <a:effectLst>
            <a:outerShdw sx="100000" sy="100000" kx="0" ky="0" algn="bl" rotWithShape="0" blurRad="127000" dist="25400" dir="5400000">
              <a:srgbClr val="9FB0C0">
                <a:alpha val="22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9226296" y="2487168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D60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800" dirty="0"/>
          </a:p>
        </p:txBody>
      </p:sp>
      <p:sp>
        <p:nvSpPr>
          <p:cNvPr id="19" name="Text 17"/>
          <p:cNvSpPr txBox="1"/>
          <p:nvPr/>
        </p:nvSpPr>
        <p:spPr>
          <a:xfrm>
            <a:off x="9226296" y="3035808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Resolved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9226296" y="3456432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A5A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 are substituted at render; an unknown one fails the run.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4681728"/>
            <a:ext cx="108813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E2E9F0"/>
            </a:solidFill>
            <a:prstDash val="solid"/>
          </a:ln>
          <a:effectLst>
            <a:outerShdw sx="100000" sy="100000" kx="0" ky="0" algn="bl" rotWithShape="0" blurRad="127000" dist="25400" dir="5400000">
              <a:srgbClr val="9FB0C0">
                <a:alpha val="22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1005840" y="486460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8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Stated honestly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05840" y="5184648"/>
            <a:ext cx="10149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4A5A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System C this makes numerical fidelity an architectural guarantee, not an empirical finding. Its measurable counterpart is how often the model reached for a reference that did not exist.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10972800" y="632764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49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49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68096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2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Benchmark and evaluation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572768"/>
            <a:ext cx="5257800" cy="4407408"/>
          </a:xfrm>
          <a:prstGeom prst="roundRect">
            <a:avLst>
              <a:gd name="adj" fmla="val 1245"/>
            </a:avLst>
          </a:prstGeom>
          <a:solidFill>
            <a:srgbClr val="FFFFFF"/>
          </a:solidFill>
          <a:ln w="12700">
            <a:solidFill>
              <a:srgbClr val="E2E9F0"/>
            </a:solidFill>
            <a:prstDash val="solid"/>
          </a:ln>
          <a:effectLst>
            <a:outerShdw sx="100000" sy="100000" kx="0" ky="0" algn="bl" rotWithShape="0" blurRad="127000" dist="25400" dir="5400000">
              <a:srgbClr val="9FB0C0">
                <a:alpha val="2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60120" y="178308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49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BENCHMARK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2084832"/>
            <a:ext cx="1143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9B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64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2633472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5A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2148840" y="2084832"/>
            <a:ext cx="1143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F6F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52</a:t>
            </a:r>
            <a:endParaRPr lang="en-US" sz="3200" dirty="0"/>
          </a:p>
        </p:txBody>
      </p:sp>
      <p:sp>
        <p:nvSpPr>
          <p:cNvPr id="9" name="Text 7"/>
          <p:cNvSpPr txBox="1"/>
          <p:nvPr/>
        </p:nvSpPr>
        <p:spPr>
          <a:xfrm>
            <a:off x="2148840" y="2633472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5A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supported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3337560" y="2084832"/>
            <a:ext cx="1143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889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3337560" y="2633472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5A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abstention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4526280" y="2084832"/>
            <a:ext cx="1143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48</a:t>
            </a:r>
            <a:endParaRPr lang="en-US" sz="3200" dirty="0"/>
          </a:p>
        </p:txBody>
      </p:sp>
      <p:sp>
        <p:nvSpPr>
          <p:cNvPr id="13" name="Text 11"/>
          <p:cNvSpPr txBox="1"/>
          <p:nvPr/>
        </p:nvSpPr>
        <p:spPr>
          <a:xfrm>
            <a:off x="4526280" y="2633472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5A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 out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960120" y="3035808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 labels from the realised sample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960120" y="3364992"/>
            <a:ext cx="4663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A5A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facts come from the generator; distributional facts from the data actually drawn. 48 of 64 labels are derived, not judged.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960120" y="418795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Marketing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3337560" y="4187952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5A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45,211 rows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4663440" y="41879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49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UCI 222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960120" y="4517136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 Shoppers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3337560" y="4517136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5A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12,330 rows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4663440" y="4517136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49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UCI 468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960120" y="484632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Seoul Bike Sharing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3337560" y="4846320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5A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8,760 rows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4663440" y="484632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49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UCI 560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960120" y="5175504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Performance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3337560" y="5175504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5A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649 rows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4663440" y="51755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49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UCI 320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63640" y="1572768"/>
            <a:ext cx="5257800" cy="4407408"/>
          </a:xfrm>
          <a:prstGeom prst="roundRect">
            <a:avLst>
              <a:gd name="adj" fmla="val 1245"/>
            </a:avLst>
          </a:prstGeom>
          <a:solidFill>
            <a:srgbClr val="FFFFFF"/>
          </a:solidFill>
          <a:ln w="12700">
            <a:solidFill>
              <a:srgbClr val="E2E9F0"/>
            </a:solidFill>
            <a:prstDash val="solid"/>
          </a:ln>
          <a:effectLst>
            <a:outerShdw sx="100000" sy="100000" kx="0" ky="0" algn="bl" rotWithShape="0" blurRad="127000" dist="25400" dir="5400000">
              <a:srgbClr val="9FB0C0">
                <a:alpha val="22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6583680" y="178308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49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EVALUATION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6583680" y="21031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Frozen split</a:t>
            </a:r>
            <a:endParaRPr lang="en-US" sz="1250" dirty="0"/>
          </a:p>
        </p:txBody>
      </p:sp>
      <p:sp>
        <p:nvSpPr>
          <p:cNvPr id="31" name="Text 29"/>
          <p:cNvSpPr txBox="1"/>
          <p:nvPr/>
        </p:nvSpPr>
        <p:spPr>
          <a:xfrm>
            <a:off x="8138160" y="2103120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A5A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 held-out cases never examined in development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0" y="257860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Frozen prompts</a:t>
            </a:r>
            <a:endParaRPr lang="en-US" sz="1250" dirty="0"/>
          </a:p>
        </p:txBody>
      </p:sp>
      <p:sp>
        <p:nvSpPr>
          <p:cNvPr id="33" name="Text 31"/>
          <p:cNvSpPr txBox="1"/>
          <p:nvPr/>
        </p:nvSpPr>
        <p:spPr>
          <a:xfrm>
            <a:off x="8138160" y="2578608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A5A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 fingerprinted before the held-out run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6583680" y="30540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Repetitions</a:t>
            </a:r>
            <a:endParaRPr lang="en-US" sz="1250" dirty="0"/>
          </a:p>
        </p:txBody>
      </p:sp>
      <p:sp>
        <p:nvSpPr>
          <p:cNvPr id="35" name="Text 33"/>
          <p:cNvSpPr txBox="1"/>
          <p:nvPr/>
        </p:nvSpPr>
        <p:spPr>
          <a:xfrm>
            <a:off x="8138160" y="3054096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A5A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runs per case, 288 graded runs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6583680" y="3529584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Pinned model</a:t>
            </a:r>
            <a:endParaRPr lang="en-US" sz="1250" dirty="0"/>
          </a:p>
        </p:txBody>
      </p:sp>
      <p:sp>
        <p:nvSpPr>
          <p:cNvPr id="37" name="Text 35"/>
          <p:cNvSpPr txBox="1"/>
          <p:nvPr/>
        </p:nvSpPr>
        <p:spPr>
          <a:xfrm>
            <a:off x="8138160" y="3529584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A5A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Haiku 4.5, fixed identifier and effort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6583680" y="4096512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6583680" y="438912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A5A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with Wilson intervals · abstention and unsafe rate · report validity · failure stage</a:t>
            </a:r>
            <a:endParaRPr lang="en-US" sz="1250" dirty="0"/>
          </a:p>
        </p:txBody>
      </p:sp>
      <p:sp>
        <p:nvSpPr>
          <p:cNvPr id="40" name="Text 38"/>
          <p:cNvSpPr txBox="1"/>
          <p:nvPr/>
        </p:nvSpPr>
        <p:spPr>
          <a:xfrm>
            <a:off x="6583680" y="4974336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Inference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6583680" y="5266944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A5A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Per-case majority, then McNemar's exact test with a bootstrap interval.</a:t>
            </a:r>
            <a:endParaRPr lang="en-US" sz="1250" dirty="0"/>
          </a:p>
        </p:txBody>
      </p:sp>
      <p:sp>
        <p:nvSpPr>
          <p:cNvPr id="42" name="Text 40"/>
          <p:cNvSpPr txBox="1"/>
          <p:nvPr/>
        </p:nvSpPr>
        <p:spPr>
          <a:xfrm>
            <a:off x="10972800" y="632764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49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49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 EVALUATION · H1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68096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2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Result: accuracy, and which differences are real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17904"/>
            <a:ext cx="5257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849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METHOD-SELECTION ACCURACY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5257800" cy="2926080"/>
          </a:xfrm>
          <a:prstGeom prst="roundRect">
            <a:avLst>
              <a:gd name="adj" fmla="val 1875"/>
            </a:avLst>
          </a:prstGeom>
          <a:solidFill>
            <a:srgbClr val="FFFFFF"/>
          </a:solidFill>
          <a:ln w="12700">
            <a:solidFill>
              <a:srgbClr val="E2E9F0"/>
            </a:solidFill>
            <a:prstDash val="solid"/>
          </a:ln>
          <a:effectLst>
            <a:outerShdw sx="100000" sy="100000" kx="0" ky="0" algn="bl" rotWithShape="0" blurRad="127000" dist="25400" dir="5400000">
              <a:srgbClr val="9FB0C0">
                <a:alpha val="22000"/>
              </a:srgbClr>
            </a:outerShdw>
          </a:effectLst>
        </p:spPr>
      </p:sp>
      <p:pic>
        <p:nvPicPr>
          <p:cNvPr id="6" name="Image 0" descr="/Users/vishal/ai-statistician/reports/figures/slides/accurac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5805" y="2011680"/>
            <a:ext cx="4726351" cy="25603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40080" y="4901184"/>
            <a:ext cx="525780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9F0"/>
            </a:solidFill>
            <a:prstDash val="solid"/>
          </a:ln>
          <a:effectLst>
            <a:outerShdw sx="100000" sy="100000" kx="0" ky="0" algn="bl" rotWithShape="0" blurRad="127000" dist="25400" dir="5400000">
              <a:srgbClr val="9FB0C0">
                <a:alpha val="22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932688" y="5047488"/>
            <a:ext cx="46725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9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over B: +25 points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932688" y="5394960"/>
            <a:ext cx="467258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A5A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a +10 target. Tools without a protocol scored below no tools at all.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6263640" y="1517904"/>
            <a:ext cx="5257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849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PAIRED COMPARISONS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63640" y="1828800"/>
            <a:ext cx="5257800" cy="2926080"/>
          </a:xfrm>
          <a:prstGeom prst="roundRect">
            <a:avLst>
              <a:gd name="adj" fmla="val 1875"/>
            </a:avLst>
          </a:prstGeom>
          <a:solidFill>
            <a:srgbClr val="FFFFFF"/>
          </a:solidFill>
          <a:ln w="12700">
            <a:solidFill>
              <a:srgbClr val="E2E9F0"/>
            </a:solidFill>
            <a:prstDash val="solid"/>
          </a:ln>
          <a:effectLst>
            <a:outerShdw sx="100000" sy="100000" kx="0" ky="0" algn="bl" rotWithShape="0" blurRad="127000" dist="25400" dir="5400000">
              <a:srgbClr val="9FB0C0">
                <a:alpha val="22000"/>
              </a:srgbClr>
            </a:outerShdw>
          </a:effectLst>
        </p:spPr>
      </p:sp>
      <p:pic>
        <p:nvPicPr>
          <p:cNvPr id="12" name="Image 1" descr="/Users/vishal/ai-statistician/reports/figures/slides/pair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2040039"/>
            <a:ext cx="4892040" cy="2503603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6263640" y="4901184"/>
            <a:ext cx="525780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9F0"/>
            </a:solidFill>
            <a:prstDash val="solid"/>
          </a:ln>
          <a:effectLst>
            <a:outerShdw sx="100000" sy="100000" kx="0" ky="0" algn="bl" rotWithShape="0" blurRad="127000" dist="25400" dir="5400000">
              <a:srgbClr val="9FB0C0">
                <a:alpha val="22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6556248" y="5047488"/>
            <a:ext cx="46725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88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over A: not established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6556248" y="5394960"/>
            <a:ext cx="467258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A5A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over B is significant at p = 0.0018. C over A points the right way but does not clear 0.05.</a:t>
            </a:r>
            <a:endParaRPr lang="en-US" sz="1250" dirty="0"/>
          </a:p>
        </p:txBody>
      </p:sp>
      <p:sp>
        <p:nvSpPr>
          <p:cNvPr id="16" name="Text 12"/>
          <p:cNvSpPr txBox="1"/>
          <p:nvPr/>
        </p:nvSpPr>
        <p:spPr>
          <a:xfrm>
            <a:off x="10972800" y="632764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49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49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 EVALUATION · H2 AND H3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68096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2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Result: declining the invalid, and grounding the report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17904"/>
            <a:ext cx="5257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849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DECLINED ON DESIGN-HAZARD RUNS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5257800" cy="2926080"/>
          </a:xfrm>
          <a:prstGeom prst="roundRect">
            <a:avLst>
              <a:gd name="adj" fmla="val 1875"/>
            </a:avLst>
          </a:prstGeom>
          <a:solidFill>
            <a:srgbClr val="FFFFFF"/>
          </a:solidFill>
          <a:ln w="12700">
            <a:solidFill>
              <a:srgbClr val="E2E9F0"/>
            </a:solidFill>
            <a:prstDash val="solid"/>
          </a:ln>
          <a:effectLst>
            <a:outerShdw sx="100000" sy="100000" kx="0" ky="0" algn="bl" rotWithShape="0" blurRad="127000" dist="25400" dir="5400000">
              <a:srgbClr val="9FB0C0">
                <a:alpha val="22000"/>
              </a:srgbClr>
            </a:outerShdw>
          </a:effectLst>
        </p:spPr>
      </p:sp>
      <p:pic>
        <p:nvPicPr>
          <p:cNvPr id="6" name="Image 0" descr="/Users/vishal/ai-statistician/reports/figures/slides/absten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0610" y="2011680"/>
            <a:ext cx="4636740" cy="25603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40080" y="4901184"/>
            <a:ext cx="525780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9F0"/>
            </a:solidFill>
            <a:prstDash val="solid"/>
          </a:ln>
          <a:effectLst>
            <a:outerShdw sx="100000" sy="100000" kx="0" ky="0" algn="bl" rotWithShape="0" blurRad="127000" dist="25400" dir="5400000">
              <a:srgbClr val="9FB0C0">
                <a:alpha val="22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932688" y="5047488"/>
            <a:ext cx="46725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9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78%, tool baseline 0%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932688" y="5394960"/>
            <a:ext cx="467258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A5A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sharpest separation in the study. H2 is supported.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6263640" y="1517904"/>
            <a:ext cx="5257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849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 PASSING THE PROVENANCE CHECK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63640" y="1828800"/>
            <a:ext cx="5257800" cy="2926080"/>
          </a:xfrm>
          <a:prstGeom prst="roundRect">
            <a:avLst>
              <a:gd name="adj" fmla="val 1875"/>
            </a:avLst>
          </a:prstGeom>
          <a:solidFill>
            <a:srgbClr val="FFFFFF"/>
          </a:solidFill>
          <a:ln w="12700">
            <a:solidFill>
              <a:srgbClr val="E2E9F0"/>
            </a:solidFill>
            <a:prstDash val="solid"/>
          </a:ln>
          <a:effectLst>
            <a:outerShdw sx="100000" sy="100000" kx="0" ky="0" algn="bl" rotWithShape="0" blurRad="127000" dist="25400" dir="5400000">
              <a:srgbClr val="9FB0C0">
                <a:alpha val="22000"/>
              </a:srgbClr>
            </a:outerShdw>
          </a:effectLst>
        </p:spPr>
      </p:sp>
      <p:pic>
        <p:nvPicPr>
          <p:cNvPr id="12" name="Image 1" descr="/Users/vishal/ai-statistician/reports/figures/slides/validit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2135329"/>
            <a:ext cx="4892040" cy="2313021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6263640" y="4901184"/>
            <a:ext cx="525780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9F0"/>
            </a:solidFill>
            <a:prstDash val="solid"/>
          </a:ln>
          <a:effectLst>
            <a:outerShdw sx="100000" sy="100000" kx="0" ky="0" algn="bl" rotWithShape="0" blurRad="127000" dist="25400" dir="5400000">
              <a:srgbClr val="9FB0C0">
                <a:alpha val="22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6556248" y="5047488"/>
            <a:ext cx="46725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9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 of 96 ungrounded reports caught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6556248" y="5394960"/>
            <a:ext cx="467258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A5A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direct baseline. None reached a reader in any arm. H3 is supported.</a:t>
            </a:r>
            <a:endParaRPr lang="en-US" sz="1250" dirty="0"/>
          </a:p>
        </p:txBody>
      </p:sp>
      <p:sp>
        <p:nvSpPr>
          <p:cNvPr id="16" name="Text 12"/>
          <p:cNvSpPr txBox="1"/>
          <p:nvPr/>
        </p:nvSpPr>
        <p:spPr>
          <a:xfrm>
            <a:off x="10972800" y="632764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49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49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 EVALUATION · MECHANISM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68096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2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Result: where each system fails, and what C gave up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17904"/>
            <a:ext cx="5257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849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FAILURES BY STAGE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5257800" cy="2926080"/>
          </a:xfrm>
          <a:prstGeom prst="roundRect">
            <a:avLst>
              <a:gd name="adj" fmla="val 1875"/>
            </a:avLst>
          </a:prstGeom>
          <a:solidFill>
            <a:srgbClr val="FFFFFF"/>
          </a:solidFill>
          <a:ln w="12700">
            <a:solidFill>
              <a:srgbClr val="E2E9F0"/>
            </a:solidFill>
            <a:prstDash val="solid"/>
          </a:ln>
          <a:effectLst>
            <a:outerShdw sx="100000" sy="100000" kx="0" ky="0" algn="bl" rotWithShape="0" blurRad="127000" dist="25400" dir="5400000">
              <a:srgbClr val="9FB0C0">
                <a:alpha val="22000"/>
              </a:srgbClr>
            </a:outerShdw>
          </a:effectLst>
        </p:spPr>
      </p:sp>
      <p:pic>
        <p:nvPicPr>
          <p:cNvPr id="6" name="Image 0" descr="/Users/vishal/ai-statistician/reports/figures/slides/failur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6568" y="2011680"/>
            <a:ext cx="4024823" cy="25603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40080" y="4901184"/>
            <a:ext cx="525780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9F0"/>
            </a:solidFill>
            <a:prstDash val="solid"/>
          </a:ln>
          <a:effectLst>
            <a:outerShdw sx="100000" sy="100000" kx="0" ky="0" algn="bl" rotWithShape="0" blurRad="127000" dist="25400" dir="5400000">
              <a:srgbClr val="9FB0C0">
                <a:alpha val="22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932688" y="5047488"/>
            <a:ext cx="46725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9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Design-validation failures: 20 → 4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932688" y="5394960"/>
            <a:ext cx="467258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A5A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Tool-only against protocol. The protocol removed the failure it was built to remove.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6263640" y="1517904"/>
            <a:ext cx="5257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849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AND ACCURACY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63640" y="1828800"/>
            <a:ext cx="5257800" cy="2926080"/>
          </a:xfrm>
          <a:prstGeom prst="roundRect">
            <a:avLst>
              <a:gd name="adj" fmla="val 1875"/>
            </a:avLst>
          </a:prstGeom>
          <a:solidFill>
            <a:srgbClr val="FFFFFF"/>
          </a:solidFill>
          <a:ln w="12700">
            <a:solidFill>
              <a:srgbClr val="E2E9F0"/>
            </a:solidFill>
            <a:prstDash val="solid"/>
          </a:ln>
          <a:effectLst>
            <a:outerShdw sx="100000" sy="100000" kx="0" ky="0" algn="bl" rotWithShape="0" blurRad="127000" dist="25400" dir="5400000">
              <a:srgbClr val="9FB0C0">
                <a:alpha val="22000"/>
              </a:srgbClr>
            </a:outerShdw>
          </a:effectLst>
        </p:spPr>
      </p:sp>
      <p:pic>
        <p:nvPicPr>
          <p:cNvPr id="12" name="Image 1" descr="/Users/vishal/ai-statistician/reports/figures/slides/covera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4840" y="2011680"/>
            <a:ext cx="4155399" cy="256032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6263640" y="4901184"/>
            <a:ext cx="525780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9F0"/>
            </a:solidFill>
            <a:prstDash val="solid"/>
          </a:ln>
          <a:effectLst>
            <a:outerShdw sx="100000" sy="100000" kx="0" ky="0" algn="bl" rotWithShape="0" blurRad="127000" dist="25400" dir="5400000">
              <a:srgbClr val="9FB0C0">
                <a:alpha val="22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6556248" y="5047488"/>
            <a:ext cx="46725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9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87% accurate on 85% answered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6556248" y="5394960"/>
            <a:ext cx="467258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A5A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and B answered 95% and 98% of cases and were right less often. C declines the right cases.</a:t>
            </a:r>
            <a:endParaRPr lang="en-US" sz="1250" dirty="0"/>
          </a:p>
        </p:txBody>
      </p:sp>
      <p:sp>
        <p:nvSpPr>
          <p:cNvPr id="16" name="Text 12"/>
          <p:cNvSpPr txBox="1"/>
          <p:nvPr/>
        </p:nvSpPr>
        <p:spPr>
          <a:xfrm>
            <a:off x="10972800" y="632764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49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49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68096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2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Hypotheses revisited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572768"/>
            <a:ext cx="10881360" cy="877824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2E9F0"/>
            </a:solidFill>
            <a:prstDash val="solid"/>
          </a:ln>
          <a:effectLst>
            <a:outerShdw sx="100000" sy="100000" kx="0" ky="0" algn="bl" rotWithShape="0" blurRad="127000" dist="25400" dir="5400000">
              <a:srgbClr val="9FB0C0">
                <a:alpha val="2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60120" y="1792224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29B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H1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737360" y="1837944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Selection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3611880" y="1819656"/>
            <a:ext cx="1417320" cy="384048"/>
          </a:xfrm>
          <a:prstGeom prst="roundRect">
            <a:avLst>
              <a:gd name="adj" fmla="val 50000"/>
            </a:avLst>
          </a:prstGeom>
          <a:solidFill>
            <a:srgbClr val="129B68"/>
          </a:solidFill>
          <a:ln w="12700">
            <a:solidFill>
              <a:srgbClr val="129B6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611880" y="1819656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Supported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5303520" y="1810512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A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over B: +25 points, McNemar p = 0.0018, 95% CI [+12.5, +39.6].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2596896"/>
            <a:ext cx="10881360" cy="877824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2E9F0"/>
            </a:solidFill>
            <a:prstDash val="solid"/>
          </a:ln>
          <a:effectLst>
            <a:outerShdw sx="100000" sy="100000" kx="0" ky="0" algn="bl" rotWithShape="0" blurRad="127000" dist="25400" dir="5400000">
              <a:srgbClr val="9FB0C0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960120" y="2816352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29B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H2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1737360" y="28620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Abstention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3611880" y="2843784"/>
            <a:ext cx="1417320" cy="384048"/>
          </a:xfrm>
          <a:prstGeom prst="roundRect">
            <a:avLst>
              <a:gd name="adj" fmla="val 50000"/>
            </a:avLst>
          </a:prstGeom>
          <a:solidFill>
            <a:srgbClr val="129B68"/>
          </a:solidFill>
          <a:ln w="12700">
            <a:solidFill>
              <a:srgbClr val="129B6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611880" y="2843784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Supported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5303520" y="283464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A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Declined correctly 78% of the time; the tool baseline 0%.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40080" y="3621024"/>
            <a:ext cx="10881360" cy="877824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2E9F0"/>
            </a:solidFill>
            <a:prstDash val="solid"/>
          </a:ln>
          <a:effectLst>
            <a:outerShdw sx="100000" sy="100000" kx="0" ky="0" algn="bl" rotWithShape="0" blurRad="127000" dist="25400" dir="5400000">
              <a:srgbClr val="9FB0C0">
                <a:alpha val="2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60120" y="384048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29B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H3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1737360" y="38862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Provenance</a:t>
            </a: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3611880" y="3867912"/>
            <a:ext cx="1417320" cy="384048"/>
          </a:xfrm>
          <a:prstGeom prst="roundRect">
            <a:avLst>
              <a:gd name="adj" fmla="val 50000"/>
            </a:avLst>
          </a:prstGeom>
          <a:solidFill>
            <a:srgbClr val="129B68"/>
          </a:solidFill>
          <a:ln w="12700">
            <a:solidFill>
              <a:srgbClr val="129B6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611880" y="3867912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Supported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5303520" y="3858768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A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 ungrounded reports rejected across all arms; none reached a reader.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40080" y="4645152"/>
            <a:ext cx="10881360" cy="877824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2E9F0"/>
            </a:solidFill>
            <a:prstDash val="solid"/>
          </a:ln>
          <a:effectLst>
            <a:outerShdw sx="100000" sy="100000" kx="0" ky="0" algn="bl" rotWithShape="0" blurRad="127000" dist="25400" dir="5400000">
              <a:srgbClr val="9FB0C0">
                <a:alpha val="22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960120" y="486460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889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—</a:t>
            </a:r>
            <a:endParaRPr lang="en-US" sz="2200" dirty="0"/>
          </a:p>
        </p:txBody>
      </p:sp>
      <p:sp>
        <p:nvSpPr>
          <p:cNvPr id="24" name="Text 22"/>
          <p:cNvSpPr txBox="1"/>
          <p:nvPr/>
        </p:nvSpPr>
        <p:spPr>
          <a:xfrm>
            <a:off x="1737360" y="491032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over A</a:t>
            </a:r>
            <a:endParaRPr lang="en-US" sz="1550" dirty="0"/>
          </a:p>
        </p:txBody>
      </p:sp>
      <p:sp>
        <p:nvSpPr>
          <p:cNvPr id="25" name="Shape 23"/>
          <p:cNvSpPr/>
          <p:nvPr/>
        </p:nvSpPr>
        <p:spPr>
          <a:xfrm>
            <a:off x="3611880" y="4892040"/>
            <a:ext cx="1417320" cy="384048"/>
          </a:xfrm>
          <a:prstGeom prst="roundRect">
            <a:avLst>
              <a:gd name="adj" fmla="val 50000"/>
            </a:avLst>
          </a:prstGeom>
          <a:solidFill>
            <a:srgbClr val="C8891B"/>
          </a:solidFill>
          <a:ln w="12700">
            <a:solidFill>
              <a:srgbClr val="C8891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611880" y="4892040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Unresolved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5303520" y="4882896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A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+12.5 points, p = 0.0703. Direction favours C; the sample cannot settle it.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10972800" y="632764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49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49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RIGOUR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68096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2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defects found in the measurement itself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572768"/>
            <a:ext cx="5394960" cy="3886200"/>
          </a:xfrm>
          <a:prstGeom prst="roundRect">
            <a:avLst>
              <a:gd name="adj" fmla="val 1412"/>
            </a:avLst>
          </a:prstGeom>
          <a:solidFill>
            <a:srgbClr val="FFFFFF"/>
          </a:solidFill>
          <a:ln w="12700">
            <a:solidFill>
              <a:srgbClr val="E2E9F0"/>
            </a:solidFill>
            <a:prstDash val="solid"/>
          </a:ln>
          <a:effectLst>
            <a:outerShdw sx="100000" sy="100000" kx="0" ky="0" algn="bl" rotWithShape="0" blurRad="127000" dist="25400" dir="5400000">
              <a:srgbClr val="9FB0C0">
                <a:alpha val="2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00584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889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37744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2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rejected report is not a lost run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2852928"/>
            <a:ext cx="46634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50"/>
              </a:lnSpc>
              <a:buNone/>
            </a:pPr>
            <a:r>
              <a:rPr lang="en-US" sz="1350" dirty="0">
                <a:solidFill>
                  <a:srgbClr val="4A5A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 runs ended in an error. None were infrastructure: each had chosen a method before its report failed the contract, and 37 had chosen correctly. Discarding them — the obvious treatment — lifts the direct baseline from 75.0% to 81.1%.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4736592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9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score every run that reached a decision.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217920" y="1572768"/>
            <a:ext cx="5394960" cy="3886200"/>
          </a:xfrm>
          <a:prstGeom prst="roundRect">
            <a:avLst>
              <a:gd name="adj" fmla="val 1412"/>
            </a:avLst>
          </a:prstGeom>
          <a:solidFill>
            <a:srgbClr val="FFFFFF"/>
          </a:solidFill>
          <a:ln w="12700">
            <a:solidFill>
              <a:srgbClr val="E2E9F0"/>
            </a:solidFill>
            <a:prstDash val="solid"/>
          </a:ln>
          <a:effectLst>
            <a:outerShdw sx="100000" sy="100000" kx="0" ky="0" algn="bl" rotWithShape="0" blurRad="127000" dist="25400" dir="5400000">
              <a:srgbClr val="9FB0C0">
                <a:alpha val="2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58368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889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6583680" y="237744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2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verdict that changed between sessions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0" y="2852928"/>
            <a:ext cx="46634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50"/>
              </a:lnSpc>
              <a:buNone/>
            </a:pPr>
            <a:r>
              <a:rPr lang="en-US" sz="1350" dirty="0">
                <a:solidFill>
                  <a:srgbClr val="4A5A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two repetitions a disagreement has no majority. The tie was broken by an ordering that varies per interpreter, so the C-over-A p-value moved between 0.016 and 0.125 on identical data — across 0.05.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6583680" y="4736592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9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ties go to the earliest repetition, enforced by a test.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5687568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A5A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Neither raised an error. Both are recorded as formal deviations from the plan.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0" y="632764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49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49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EVIDENCE DOES NOT SUPPORT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68096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2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 and threats to validity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572768"/>
            <a:ext cx="1088136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2E9F0"/>
            </a:solidFill>
            <a:prstDash val="solid"/>
          </a:ln>
          <a:effectLst>
            <a:outerShdw sx="100000" sy="100000" kx="0" ky="0" algn="bl" rotWithShape="0" blurRad="127000" dist="25400" dir="5400000">
              <a:srgbClr val="9FB0C0">
                <a:alpha val="2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60120" y="18105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C88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2880360" y="1691640"/>
            <a:ext cx="8412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50"/>
              </a:lnSpc>
              <a:buNone/>
            </a:pPr>
            <a:r>
              <a:rPr lang="en-US" sz="1350" dirty="0">
                <a:solidFill>
                  <a:srgbClr val="4A5A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 claims are scoped to Claude Haiku 4.5. Generalising to frontier models requires re-running the evaluation.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40080" y="2423160"/>
            <a:ext cx="1088136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2E9F0"/>
            </a:solidFill>
            <a:prstDash val="solid"/>
          </a:ln>
          <a:effectLst>
            <a:outerShdw sx="100000" sy="100000" kx="0" ky="0" algn="bl" rotWithShape="0" blurRad="127000" dist="25400" dir="5400000">
              <a:srgbClr val="9FB0C0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960120" y="266090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C88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2880360" y="2542032"/>
            <a:ext cx="8412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50"/>
              </a:lnSpc>
              <a:buNone/>
            </a:pPr>
            <a:r>
              <a:rPr lang="en-US" sz="1350" dirty="0">
                <a:solidFill>
                  <a:srgbClr val="4A5A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repetitions and 48 cases. Enough to establish the primary comparison; not enough to resolve C over A.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40080" y="3273552"/>
            <a:ext cx="1088136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2E9F0"/>
            </a:solidFill>
            <a:prstDash val="solid"/>
          </a:ln>
          <a:effectLst>
            <a:outerShdw sx="100000" sy="100000" kx="0" ky="0" algn="bl" rotWithShape="0" blurRad="127000" dist="25400" dir="5400000">
              <a:srgbClr val="9FB0C0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960120" y="351129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C88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INTERPRETATION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2880360" y="3392424"/>
            <a:ext cx="8412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50"/>
              </a:lnSpc>
              <a:buNone/>
            </a:pPr>
            <a:r>
              <a:rPr lang="en-US" sz="1350" dirty="0">
                <a:solidFill>
                  <a:srgbClr val="4A5A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blinded scoring round failed its reliability check (κ = −0.044). The metric is withheld rather than reported unreliably.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40080" y="4123944"/>
            <a:ext cx="1088136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2E9F0"/>
            </a:solidFill>
            <a:prstDash val="solid"/>
          </a:ln>
          <a:effectLst>
            <a:outerShdw sx="100000" sy="100000" kx="0" ky="0" algn="bl" rotWithShape="0" blurRad="127000" dist="25400" dir="5400000">
              <a:srgbClr val="9FB0C0">
                <a:alpha val="22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960120" y="43616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C88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2880360" y="4242816"/>
            <a:ext cx="8412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50"/>
              </a:lnSpc>
              <a:buNone/>
            </a:pPr>
            <a:r>
              <a:rPr lang="en-US" sz="1350" dirty="0">
                <a:solidFill>
                  <a:srgbClr val="4A5A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independent second reviewer for the 16 public-data labels.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40080" y="4974336"/>
            <a:ext cx="1088136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2E9F0"/>
            </a:solidFill>
            <a:prstDash val="solid"/>
          </a:ln>
          <a:effectLst>
            <a:outerShdw sx="100000" sy="100000" kx="0" ky="0" algn="bl" rotWithShape="0" blurRad="127000" dist="25400" dir="5400000">
              <a:srgbClr val="9FB0C0">
                <a:alpha val="2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60120" y="5212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C88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2880360" y="5093208"/>
            <a:ext cx="8412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50"/>
              </a:lnSpc>
              <a:buNone/>
            </a:pPr>
            <a:r>
              <a:rPr lang="en-US" sz="1350" dirty="0">
                <a:solidFill>
                  <a:srgbClr val="4A5A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Paired, repeated-measures, mixed, time-series and survival designs are excluded from the library and tested only as abstention cases.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10972800" y="632764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49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49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68096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2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Contributions and next steps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572768"/>
            <a:ext cx="5257800" cy="3931920"/>
          </a:xfrm>
          <a:prstGeom prst="roundRect">
            <a:avLst>
              <a:gd name="adj" fmla="val 1395"/>
            </a:avLst>
          </a:prstGeom>
          <a:solidFill>
            <a:srgbClr val="FFFFFF"/>
          </a:solidFill>
          <a:ln w="12700">
            <a:solidFill>
              <a:srgbClr val="E2E9F0"/>
            </a:solidFill>
            <a:prstDash val="solid"/>
          </a:ln>
          <a:effectLst>
            <a:outerShdw sx="100000" sy="100000" kx="0" ky="0" algn="bl" rotWithShape="0" blurRad="127000" dist="25400" dir="5400000">
              <a:srgbClr val="9FB0C0">
                <a:alpha val="2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60120" y="178308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49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CONTRIBUTES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960120" y="2176272"/>
            <a:ext cx="420624" cy="420624"/>
          </a:xfrm>
          <a:prstGeom prst="ellipse">
            <a:avLst/>
          </a:prstGeom>
          <a:solidFill>
            <a:srgbClr val="129B68"/>
          </a:solidFill>
          <a:ln w="12700">
            <a:solidFill>
              <a:srgbClr val="129B6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21762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536192" y="2157984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Controlled evidence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536192" y="2505456"/>
            <a:ext cx="4114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A5A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decision protocol, not tool access, drives valid method selection.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960120" y="3255264"/>
            <a:ext cx="420624" cy="420624"/>
          </a:xfrm>
          <a:prstGeom prst="ellipse">
            <a:avLst/>
          </a:prstGeom>
          <a:solidFill>
            <a:srgbClr val="129B68"/>
          </a:solidFill>
          <a:ln w="12700">
            <a:solidFill>
              <a:srgbClr val="129B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" y="32552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536192" y="3236976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benchmark that scores declining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536192" y="3584448"/>
            <a:ext cx="4114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A5A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Twelve of 64 cases reward abstention, making it measurable.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960120" y="4334256"/>
            <a:ext cx="420624" cy="420624"/>
          </a:xfrm>
          <a:prstGeom prst="ellipse">
            <a:avLst/>
          </a:prstGeom>
          <a:solidFill>
            <a:srgbClr val="129B68"/>
          </a:solidFill>
          <a:ln w="12700">
            <a:solidFill>
              <a:srgbClr val="129B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60120" y="43342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536192" y="4315968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Provenance by construction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536192" y="4663440"/>
            <a:ext cx="4114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A5A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report format in which an unsourced number cannot exist.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263640" y="1572768"/>
            <a:ext cx="5257800" cy="3931920"/>
          </a:xfrm>
          <a:prstGeom prst="roundRect">
            <a:avLst>
              <a:gd name="adj" fmla="val 1395"/>
            </a:avLst>
          </a:prstGeom>
          <a:solidFill>
            <a:srgbClr val="FFFFFF"/>
          </a:solidFill>
          <a:ln w="12700">
            <a:solidFill>
              <a:srgbClr val="E2E9F0"/>
            </a:solidFill>
            <a:prstDash val="solid"/>
          </a:ln>
          <a:effectLst>
            <a:outerShdw sx="100000" sy="100000" kx="0" ky="0" algn="bl" rotWithShape="0" blurRad="127000" dist="25400" dir="5400000">
              <a:srgbClr val="9FB0C0">
                <a:alpha val="22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6583680" y="178308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49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COMES NEXT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6583680" y="2176272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 C over A</a:t>
            </a:r>
            <a:endParaRPr lang="en-US" sz="1450" dirty="0"/>
          </a:p>
        </p:txBody>
      </p:sp>
      <p:sp>
        <p:nvSpPr>
          <p:cNvPr id="21" name="Text 19"/>
          <p:cNvSpPr txBox="1"/>
          <p:nvPr/>
        </p:nvSpPr>
        <p:spPr>
          <a:xfrm>
            <a:off x="6583680" y="2487168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5A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larger held-out set and more repetitions.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6583680" y="2980944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 models</a:t>
            </a:r>
            <a:endParaRPr lang="en-US" sz="1450" dirty="0"/>
          </a:p>
        </p:txBody>
      </p:sp>
      <p:sp>
        <p:nvSpPr>
          <p:cNvPr id="23" name="Text 21"/>
          <p:cNvSpPr txBox="1"/>
          <p:nvPr/>
        </p:nvSpPr>
        <p:spPr>
          <a:xfrm>
            <a:off x="6583680" y="329184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5A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whether the gain persists as capability rises.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6583680" y="3785616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Interpretation scoring</a:t>
            </a:r>
            <a:endParaRPr lang="en-US" sz="1450" dirty="0"/>
          </a:p>
        </p:txBody>
      </p:sp>
      <p:sp>
        <p:nvSpPr>
          <p:cNvPr id="25" name="Text 23"/>
          <p:cNvSpPr txBox="1"/>
          <p:nvPr/>
        </p:nvSpPr>
        <p:spPr>
          <a:xfrm>
            <a:off x="6583680" y="4096512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5A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second blinded round with the rebuilt rubric.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6583680" y="4590288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Wider library</a:t>
            </a:r>
            <a:endParaRPr lang="en-US" sz="1450" dirty="0"/>
          </a:p>
        </p:txBody>
      </p:sp>
      <p:sp>
        <p:nvSpPr>
          <p:cNvPr id="27" name="Text 25"/>
          <p:cNvSpPr txBox="1"/>
          <p:nvPr/>
        </p:nvSpPr>
        <p:spPr>
          <a:xfrm>
            <a:off x="6583680" y="4901184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5A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Paired, mixed-effects and time-series designs.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566928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9B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Structure, not tooling, is what makes an LLM a reliable statistician.</a:t>
            </a:r>
            <a:endParaRPr lang="en-US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10972800" y="632764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49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20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1887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See it running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938528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FE0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case, every answer each system gave, and every step it took — inspectable without installing anything.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40080" y="2788920"/>
            <a:ext cx="5394960" cy="1371600"/>
          </a:xfrm>
          <a:prstGeom prst="roundRect">
            <a:avLst>
              <a:gd name="adj" fmla="val 4000"/>
            </a:avLst>
          </a:prstGeom>
          <a:solidFill>
            <a:srgbClr val="22303D"/>
          </a:solidFill>
          <a:ln w="12700">
            <a:solidFill>
              <a:srgbClr val="35485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30175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849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EVALUATION</a:t>
            </a:r>
            <a:endParaRPr lang="en-US" sz="1050" dirty="0"/>
          </a:p>
        </p:txBody>
      </p:sp>
      <p:sp>
        <p:nvSpPr>
          <p:cNvPr id="6" name="Text 4">
            <a:hlinkClick r:id="rId1" tooltip=""/>
          </p:cNvPr>
          <p:cNvSpPr txBox="1"/>
          <p:nvPr/>
        </p:nvSpPr>
        <p:spPr>
          <a:xfrm>
            <a:off x="1005840" y="3346704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u="sng" dirty="0">
                <a:solidFill>
                  <a:srgbClr val="129B68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ai-statistician.netlify.app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217920" y="2788920"/>
            <a:ext cx="5394960" cy="1371600"/>
          </a:xfrm>
          <a:prstGeom prst="roundRect">
            <a:avLst>
              <a:gd name="adj" fmla="val 4000"/>
            </a:avLst>
          </a:prstGeom>
          <a:solidFill>
            <a:srgbClr val="22303D"/>
          </a:solidFill>
          <a:ln w="12700">
            <a:solidFill>
              <a:srgbClr val="35485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83680" y="30175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849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SOURCE, DATA AND LOGS</a:t>
            </a:r>
            <a:endParaRPr lang="en-US" sz="1050" dirty="0"/>
          </a:p>
        </p:txBody>
      </p:sp>
      <p:sp>
        <p:nvSpPr>
          <p:cNvPr id="9" name="Text 7">
            <a:hlinkClick r:id="rId2" tooltip=""/>
          </p:cNvPr>
          <p:cNvSpPr txBox="1"/>
          <p:nvPr/>
        </p:nvSpPr>
        <p:spPr>
          <a:xfrm>
            <a:off x="6583680" y="3346704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u="sng" dirty="0">
                <a:solidFill>
                  <a:srgbClr val="CFE0F2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github.com/Vishal4507/AI_statistician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48920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 — questions welcome.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0" y="632764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569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Statistician</dc:title>
  <dc:subject>PptxGenJS Presentation</dc:subject>
  <dc:creator>Vishal Dhinesh Kumar</dc:creator>
  <cp:lastModifiedBy>Vishal Dhinesh Kumar</cp:lastModifiedBy>
  <cp:revision>1</cp:revision>
  <dcterms:created xsi:type="dcterms:W3CDTF">2026-09-21T08:14:50Z</dcterms:created>
  <dcterms:modified xsi:type="dcterms:W3CDTF">2026-09-21T08:14:50Z</dcterms:modified>
</cp:coreProperties>
</file>