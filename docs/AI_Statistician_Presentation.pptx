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Correct choice</c:v>
                </c:pt>
              </c:strCache>
            </c:strRef>
          </c:tx>
          <c:spPr>
            <a:solidFill>
              <a:srgbClr val="2F6FD0"/>
            </a:solidFill>
            <a:effectLst/>
          </c:spPr>
          <c:invertIfNegative val="0"/>
          <c:dLbls>
            <c:numFmt formatCode="0.0&quot;%&quot;" sourceLinked="0"/>
            <c:txPr>
              <a:bodyPr/>
              <a:lstStyle/>
              <a:p>
                <a:pPr>
                  <a:defRPr b="1" i="0" strike="noStrike" sz="1500" u="none">
                    <a:solidFill>
                      <a:srgbClr val="16222E"/>
                    </a:solidFill>
                    <a:latin typeface="Arial"/>
                  </a:defRPr>
                </a:pPr>
              </a:p>
            </c:txPr>
            <c:showLegendKey val="0"/>
            <c:showVal val="1"/>
            <c:showCatName val="0"/>
            <c:showSerName val="0"/>
            <c:showPercent val="0"/>
            <c:showBubbleSize val="0"/>
            <c:showLeaderLines val="0"/>
          </c:dLbls>
          <c:dPt>
            <c:idx val="0"/>
            <c:invertIfNegative val="0"/>
            <c:bubble3D val="0"/>
            <c:spPr>
              <a:solidFill>
                <a:srgbClr val="2F6FD0"/>
              </a:solidFill>
              <a:effectLst/>
            </c:spPr>
          </c:dPt>
          <c:dPt>
            <c:idx val="1"/>
            <c:invertIfNegative val="0"/>
            <c:bubble3D val="0"/>
            <c:spPr>
              <a:solidFill>
                <a:srgbClr val="DD6027"/>
              </a:solidFill>
              <a:effectLst/>
            </c:spPr>
          </c:dPt>
          <c:dPt>
            <c:idx val="2"/>
            <c:invertIfNegative val="0"/>
            <c:bubble3D val="0"/>
            <c:spPr>
              <a:solidFill>
                <a:srgbClr val="129B68"/>
              </a:solidFill>
              <a:effectLst/>
            </c:spPr>
          </c:dPt>
          <c:cat>
            <c:multiLvlStrRef>
              <c:f>Sheet1!$A$2:$A$4</c:f>
              <c:multiLvlStrCache>
                <c:ptCount val="3"/>
                <c:lvl>
                  <c:pt idx="0">
                    <c:v>A · Just ask</c:v>
                  </c:pt>
                  <c:pt idx="1">
                    <c:v>B · Tools only</c:v>
                  </c:pt>
                  <c:pt idx="2">
                    <c:v>C · Tools + procedure</c:v>
                  </c:pt>
                </c:lvl>
              </c:multiLvlStrCache>
            </c:multiLvlStrRef>
          </c:cat>
          <c:val>
            <c:numRef>
              <c:f>Sheet1!$B$2:$B$4</c:f>
              <c:numCache>
                <c:formatCode>General</c:formatCode>
                <c:ptCount val="3"/>
                <c:pt idx="0">
                  <c:v>75</c:v>
                </c:pt>
                <c:pt idx="1">
                  <c:v>66.7</c:v>
                </c:pt>
                <c:pt idx="2">
                  <c:v>88.5</c:v>
                </c:pt>
              </c:numCache>
            </c:numRef>
          </c:val>
        </c:ser>
        <c:dLbls>
          <c:numFmt formatCode="0.0&quot;%&quot;" sourceLinked="0"/>
          <c:txPr>
            <a:bodyPr/>
            <a:lstStyle/>
            <a:p>
              <a:pPr>
                <a:defRPr b="1" i="0" strike="noStrike" sz="1500" u="none">
                  <a:solidFill>
                    <a:srgbClr val="16222E"/>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A5A69"/>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2E9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496A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line: every one of us has asked an AI a question and gotten a confident answer back. This project asks a narrower question — when the task is statistics, is that confident answer actually correct? And can we build something that knows when to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three things people use to judge whether an answer is good — it reads well, the maths checks out, it sounds confident — are exactly the three things that stay true when the method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project in one slide. If the audience takes away only one thing, it should be that the data looked fine and the answer was still wrong, and the reason lives outside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'exactly one way' — that is what makes it an experiment rather than a demo. Same tools, same output format, same everything except whether a procedure governs the order of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share one codebase. The tools, the output format and the model are identical. Only the control flow differs, so the comparison cannot be accused of stacking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menu being closed is what makes the task scorable. If the AI could invent methods, judging its choice would be an essay-grading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that works well: it is the difference between checking a receipt for fraud and building a till that cannot print a line without a scanned barcode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without the sealed set, good results would just mean the instructions had been tuned against the answers. The freeze is what makes the number believable.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B. The version with tools and no procedure scored lower than the version with no tools at all. Tools did not rescue it — the ordering is what carried the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one an examiner will respect most. Do not rush it. The willingness to put the weak comparison on a slide is what separates a measurement from a sales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saying out loud: 43 out of 96. If a person had been reading those reports they would have had to check every figure by hand to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what was hardest: this. The system worked; the way I was measuring it did not, and nothing complained. Finding these required distrusting my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to demonstrate live: open the site, pick the Seoul bike case from slide 3, and show the structured version declining while the others answer. That demo lands better than any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ai-statistician.netlify.app" TargetMode="External"/><Relationship Id="rId2" Type="http://schemas.openxmlformats.org/officeDocument/2006/relationships/hyperlink" Target="https://github.com/Vishal4507/AI_statistician"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847088"/>
            <a:ext cx="950976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Can an AI be trusted</a:t>
            </a:r>
            <a:endParaRPr lang="en-US" sz="4400" dirty="0"/>
          </a:p>
        </p:txBody>
      </p:sp>
      <p:sp>
        <p:nvSpPr>
          <p:cNvPr id="3" name="Text 1"/>
          <p:cNvSpPr txBox="1"/>
          <p:nvPr/>
        </p:nvSpPr>
        <p:spPr>
          <a:xfrm>
            <a:off x="640080" y="2651760"/>
            <a:ext cx="9509760" cy="777240"/>
          </a:xfrm>
          <a:prstGeom prst="rect">
            <a:avLst/>
          </a:prstGeom>
          <a:noFill/>
          <a:ln/>
        </p:spPr>
        <p:txBody>
          <a:bodyPr wrap="square" lIns="0" tIns="0" rIns="0" bIns="0" rtlCol="0" anchor="ctr"/>
          <a:lstStyle/>
          <a:p>
            <a:pPr indent="0" marL="0">
              <a:buNone/>
            </a:pPr>
            <a:r>
              <a:rPr lang="en-US" sz="4400" b="1" dirty="0">
                <a:solidFill>
                  <a:srgbClr val="129B68"/>
                </a:solidFill>
                <a:latin typeface="Cambria" pitchFamily="34" charset="0"/>
                <a:ea typeface="Cambria" pitchFamily="34" charset="-122"/>
                <a:cs typeface="Cambria" pitchFamily="34" charset="-120"/>
              </a:rPr>
              <a:t>to choose the right statistical test?</a:t>
            </a:r>
            <a:endParaRPr lang="en-US" sz="4400" dirty="0"/>
          </a:p>
        </p:txBody>
      </p:sp>
      <p:sp>
        <p:nvSpPr>
          <p:cNvPr id="4" name="Text 2"/>
          <p:cNvSpPr txBox="1"/>
          <p:nvPr/>
        </p:nvSpPr>
        <p:spPr>
          <a:xfrm>
            <a:off x="640080" y="3611880"/>
            <a:ext cx="8778240" cy="457200"/>
          </a:xfrm>
          <a:prstGeom prst="rect">
            <a:avLst/>
          </a:prstGeom>
          <a:noFill/>
          <a:ln/>
        </p:spPr>
        <p:txBody>
          <a:bodyPr wrap="square" lIns="0" tIns="0" rIns="0" bIns="0" rtlCol="0" anchor="ctr"/>
          <a:lstStyle/>
          <a:p>
            <a:pPr indent="0" marL="0">
              <a:buNone/>
            </a:pPr>
            <a:r>
              <a:rPr lang="en-US" sz="1600" dirty="0">
                <a:solidFill>
                  <a:srgbClr val="CFE0F2"/>
                </a:solidFill>
                <a:latin typeface="Calibri" pitchFamily="34" charset="0"/>
                <a:ea typeface="Calibri" pitchFamily="34" charset="-122"/>
                <a:cs typeface="Calibri" pitchFamily="34" charset="-120"/>
              </a:rPr>
              <a:t>Building an AI that knows when it should not answer — and measuring whether that helps.</a:t>
            </a:r>
            <a:endParaRPr lang="en-US" sz="1600" dirty="0"/>
          </a:p>
        </p:txBody>
      </p:sp>
      <p:sp>
        <p:nvSpPr>
          <p:cNvPr id="5" name="Shape 3"/>
          <p:cNvSpPr/>
          <p:nvPr/>
        </p:nvSpPr>
        <p:spPr>
          <a:xfrm>
            <a:off x="640080" y="4343400"/>
            <a:ext cx="475488" cy="475488"/>
          </a:xfrm>
          <a:prstGeom prst="ellipse">
            <a:avLst/>
          </a:prstGeom>
          <a:solidFill>
            <a:srgbClr val="2F6FD0"/>
          </a:solidFill>
          <a:ln w="12700">
            <a:solidFill>
              <a:srgbClr val="2F6FD0"/>
            </a:solidFill>
            <a:prstDash val="solid"/>
          </a:ln>
        </p:spPr>
      </p:sp>
      <p:sp>
        <p:nvSpPr>
          <p:cNvPr id="6" name="Text 4"/>
          <p:cNvSpPr txBox="1"/>
          <p:nvPr/>
        </p:nvSpPr>
        <p:spPr>
          <a:xfrm>
            <a:off x="640080" y="434340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7" name="Shape 5"/>
          <p:cNvSpPr/>
          <p:nvPr/>
        </p:nvSpPr>
        <p:spPr>
          <a:xfrm>
            <a:off x="1261872" y="4343400"/>
            <a:ext cx="475488" cy="475488"/>
          </a:xfrm>
          <a:prstGeom prst="ellipse">
            <a:avLst/>
          </a:prstGeom>
          <a:solidFill>
            <a:srgbClr val="DD6027"/>
          </a:solidFill>
          <a:ln w="12700">
            <a:solidFill>
              <a:srgbClr val="DD6027"/>
            </a:solidFill>
            <a:prstDash val="solid"/>
          </a:ln>
        </p:spPr>
      </p:sp>
      <p:sp>
        <p:nvSpPr>
          <p:cNvPr id="8" name="Text 6"/>
          <p:cNvSpPr txBox="1"/>
          <p:nvPr/>
        </p:nvSpPr>
        <p:spPr>
          <a:xfrm>
            <a:off x="1261872" y="434340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9" name="Shape 7"/>
          <p:cNvSpPr/>
          <p:nvPr/>
        </p:nvSpPr>
        <p:spPr>
          <a:xfrm>
            <a:off x="1883664" y="4343400"/>
            <a:ext cx="475488" cy="475488"/>
          </a:xfrm>
          <a:prstGeom prst="ellipse">
            <a:avLst/>
          </a:prstGeom>
          <a:solidFill>
            <a:srgbClr val="129B68"/>
          </a:solidFill>
          <a:ln w="12700">
            <a:solidFill>
              <a:srgbClr val="129B68"/>
            </a:solidFill>
            <a:prstDash val="solid"/>
          </a:ln>
        </p:spPr>
      </p:sp>
      <p:sp>
        <p:nvSpPr>
          <p:cNvPr id="10" name="Text 8"/>
          <p:cNvSpPr txBox="1"/>
          <p:nvPr/>
        </p:nvSpPr>
        <p:spPr>
          <a:xfrm>
            <a:off x="1883664" y="434340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1" name="Text 9"/>
          <p:cNvSpPr txBox="1"/>
          <p:nvPr/>
        </p:nvSpPr>
        <p:spPr>
          <a:xfrm>
            <a:off x="640080" y="5897880"/>
            <a:ext cx="8229600" cy="292608"/>
          </a:xfrm>
          <a:prstGeom prst="rect">
            <a:avLst/>
          </a:prstGeom>
          <a:noFill/>
          <a:ln/>
        </p:spPr>
        <p:txBody>
          <a:bodyPr wrap="square" lIns="0" tIns="0" rIns="0" bIns="0" rtlCol="0" anchor="ctr"/>
          <a:lstStyle/>
          <a:p>
            <a:pPr indent="0" marL="0">
              <a:buNone/>
            </a:pPr>
            <a:r>
              <a:rPr lang="en-US" sz="1300" dirty="0">
                <a:solidFill>
                  <a:srgbClr val="8496A6"/>
                </a:solidFill>
                <a:latin typeface="Calibri" pitchFamily="34" charset="0"/>
                <a:ea typeface="Calibri" pitchFamily="34" charset="-122"/>
                <a:cs typeface="Calibri" pitchFamily="34" charset="-120"/>
              </a:rPr>
              <a:t>Vishal Dhinesh Kumar   ·   Capstone Project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An AI always gives you an answer</a:t>
            </a:r>
            <a:endParaRPr lang="en-US" sz="3200" dirty="0"/>
          </a:p>
        </p:txBody>
      </p:sp>
      <p:sp>
        <p:nvSpPr>
          <p:cNvPr id="4" name="Text 2"/>
          <p:cNvSpPr txBox="1"/>
          <p:nvPr/>
        </p:nvSpPr>
        <p:spPr>
          <a:xfrm>
            <a:off x="640080" y="1572768"/>
            <a:ext cx="5577840" cy="1005840"/>
          </a:xfrm>
          <a:prstGeom prst="rect">
            <a:avLst/>
          </a:prstGeom>
          <a:noFill/>
          <a:ln/>
        </p:spPr>
        <p:txBody>
          <a:bodyPr wrap="square" lIns="0" tIns="0" rIns="0" bIns="0" rtlCol="0" anchor="ctr"/>
          <a:lstStyle/>
          <a:p>
            <a:pPr indent="0" marL="0">
              <a:lnSpc>
                <a:spcPts val="2400"/>
              </a:lnSpc>
              <a:buNone/>
            </a:pPr>
            <a:r>
              <a:rPr lang="en-US" sz="1600" dirty="0">
                <a:solidFill>
                  <a:srgbClr val="4A5A69"/>
                </a:solidFill>
                <a:latin typeface="Calibri" pitchFamily="34" charset="0"/>
                <a:ea typeface="Calibri" pitchFamily="34" charset="-122"/>
                <a:cs typeface="Calibri" pitchFamily="34" charset="-120"/>
              </a:rPr>
              <a:t>That is the feature. It is also the danger. Ask it to analyse data and it will produce something that reads well, uses the right words, and does the arithmetic correctly.</a:t>
            </a:r>
            <a:endParaRPr lang="en-US" sz="1600" dirty="0"/>
          </a:p>
        </p:txBody>
      </p:sp>
      <p:sp>
        <p:nvSpPr>
          <p:cNvPr id="5" name="Text 3"/>
          <p:cNvSpPr txBox="1"/>
          <p:nvPr/>
        </p:nvSpPr>
        <p:spPr>
          <a:xfrm>
            <a:off x="640080" y="2697480"/>
            <a:ext cx="5577840" cy="457200"/>
          </a:xfrm>
          <a:prstGeom prst="rect">
            <a:avLst/>
          </a:prstGeom>
          <a:noFill/>
          <a:ln/>
        </p:spPr>
        <p:txBody>
          <a:bodyPr wrap="square" lIns="0" tIns="0" rIns="0" bIns="0" rtlCol="0" anchor="ctr"/>
          <a:lstStyle/>
          <a:p>
            <a:pPr indent="0" marL="0">
              <a:buNone/>
            </a:pPr>
            <a:r>
              <a:rPr lang="en-US" sz="2100" b="1" dirty="0">
                <a:solidFill>
                  <a:srgbClr val="16222E"/>
                </a:solidFill>
                <a:latin typeface="Cambria" pitchFamily="34" charset="0"/>
                <a:ea typeface="Cambria" pitchFamily="34" charset="-122"/>
                <a:cs typeface="Cambria" pitchFamily="34" charset="-120"/>
              </a:rPr>
              <a:t>None of that tells you the answer is valid.</a:t>
            </a:r>
            <a:endParaRPr lang="en-US" sz="2100" dirty="0"/>
          </a:p>
        </p:txBody>
      </p:sp>
      <p:sp>
        <p:nvSpPr>
          <p:cNvPr id="6" name="Text 4"/>
          <p:cNvSpPr txBox="1"/>
          <p:nvPr/>
        </p:nvSpPr>
        <p:spPr>
          <a:xfrm>
            <a:off x="640080" y="3246120"/>
            <a:ext cx="5577840" cy="1325880"/>
          </a:xfrm>
          <a:prstGeom prst="rect">
            <a:avLst/>
          </a:prstGeom>
          <a:noFill/>
          <a:ln/>
        </p:spPr>
        <p:txBody>
          <a:bodyPr wrap="square" lIns="0" tIns="0" rIns="0" bIns="0" rtlCol="0" anchor="ctr"/>
          <a:lstStyle/>
          <a:p>
            <a:pPr indent="0" marL="0">
              <a:lnSpc>
                <a:spcPts val="2400"/>
              </a:lnSpc>
              <a:buNone/>
            </a:pPr>
            <a:r>
              <a:rPr lang="en-US" sz="1600" dirty="0">
                <a:solidFill>
                  <a:srgbClr val="4A5A69"/>
                </a:solidFill>
                <a:latin typeface="Calibri" pitchFamily="34" charset="0"/>
                <a:ea typeface="Calibri" pitchFamily="34" charset="-122"/>
                <a:cs typeface="Calibri" pitchFamily="34" charset="-120"/>
              </a:rPr>
              <a:t>Validity depends on how the data was collected — facts a spreadsheet cannot show you. Were these measurements independent? Is the same person in there twice? Are the rows in time order?</a:t>
            </a:r>
            <a:endParaRPr lang="en-US" sz="1600" dirty="0"/>
          </a:p>
        </p:txBody>
      </p:sp>
      <p:sp>
        <p:nvSpPr>
          <p:cNvPr id="7" name="Shape 5"/>
          <p:cNvSpPr/>
          <p:nvPr/>
        </p:nvSpPr>
        <p:spPr>
          <a:xfrm>
            <a:off x="6675120" y="1481328"/>
            <a:ext cx="4846320" cy="3749040"/>
          </a:xfrm>
          <a:prstGeom prst="roundRect">
            <a:avLst>
              <a:gd name="adj" fmla="val 1463"/>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8" name="Text 6"/>
          <p:cNvSpPr txBox="1"/>
          <p:nvPr/>
        </p:nvSpPr>
        <p:spPr>
          <a:xfrm>
            <a:off x="7040880" y="1783080"/>
            <a:ext cx="4114800" cy="329184"/>
          </a:xfrm>
          <a:prstGeom prst="rect">
            <a:avLst/>
          </a:prstGeom>
          <a:noFill/>
          <a:ln/>
        </p:spPr>
        <p:txBody>
          <a:bodyPr wrap="square" lIns="0" tIns="0" rIns="0" bIns="0" rtlCol="0" anchor="ctr"/>
          <a:lstStyle/>
          <a:p>
            <a:pPr indent="0" marL="0">
              <a:buNone/>
            </a:pPr>
            <a:r>
              <a:rPr lang="en-US" sz="1300" b="1" spc="100" kern="0" dirty="0">
                <a:solidFill>
                  <a:srgbClr val="8496A6"/>
                </a:solidFill>
                <a:latin typeface="Calibri" pitchFamily="34" charset="0"/>
                <a:ea typeface="Calibri" pitchFamily="34" charset="-122"/>
                <a:cs typeface="Calibri" pitchFamily="34" charset="-120"/>
              </a:rPr>
              <a:t>The failure nobody notices</a:t>
            </a:r>
            <a:endParaRPr lang="en-US" sz="1300" dirty="0"/>
          </a:p>
        </p:txBody>
      </p:sp>
      <p:sp>
        <p:nvSpPr>
          <p:cNvPr id="9" name="Shape 7"/>
          <p:cNvSpPr/>
          <p:nvPr/>
        </p:nvSpPr>
        <p:spPr>
          <a:xfrm>
            <a:off x="7040880" y="2340864"/>
            <a:ext cx="274320" cy="274320"/>
          </a:xfrm>
          <a:prstGeom prst="ellipse">
            <a:avLst/>
          </a:prstGeom>
          <a:solidFill>
            <a:srgbClr val="129B68"/>
          </a:solidFill>
          <a:ln w="12700">
            <a:solidFill>
              <a:srgbClr val="129B68"/>
            </a:solidFill>
            <a:prstDash val="solid"/>
          </a:ln>
        </p:spPr>
      </p:sp>
      <p:sp>
        <p:nvSpPr>
          <p:cNvPr id="10" name="Text 8"/>
          <p:cNvSpPr txBox="1"/>
          <p:nvPr/>
        </p:nvSpPr>
        <p:spPr>
          <a:xfrm>
            <a:off x="7040880" y="234086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7452360" y="2286000"/>
            <a:ext cx="3749040" cy="310896"/>
          </a:xfrm>
          <a:prstGeom prst="rect">
            <a:avLst/>
          </a:prstGeom>
          <a:noFill/>
          <a:ln/>
        </p:spPr>
        <p:txBody>
          <a:bodyPr wrap="square" lIns="0" tIns="0" rIns="0" bIns="0"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Well written</a:t>
            </a:r>
            <a:endParaRPr lang="en-US" sz="1600" dirty="0"/>
          </a:p>
        </p:txBody>
      </p:sp>
      <p:sp>
        <p:nvSpPr>
          <p:cNvPr id="12" name="Text 10"/>
          <p:cNvSpPr txBox="1"/>
          <p:nvPr/>
        </p:nvSpPr>
        <p:spPr>
          <a:xfrm>
            <a:off x="7452360" y="2596896"/>
            <a:ext cx="3749040" cy="310896"/>
          </a:xfrm>
          <a:prstGeom prst="rect">
            <a:avLst/>
          </a:prstGeom>
          <a:noFill/>
          <a:ln/>
        </p:spPr>
        <p:txBody>
          <a:bodyPr wrap="square" lIns="0" tIns="0" rIns="0" bIns="0" rtlCol="0" anchor="ctr"/>
          <a:lstStyle/>
          <a:p>
            <a:pPr indent="0" marL="0">
              <a:buNone/>
            </a:pPr>
            <a:r>
              <a:rPr lang="en-US" sz="1300" dirty="0">
                <a:solidFill>
                  <a:srgbClr val="4A5A69"/>
                </a:solidFill>
                <a:latin typeface="Calibri" pitchFamily="34" charset="0"/>
                <a:ea typeface="Calibri" pitchFamily="34" charset="-122"/>
                <a:cs typeface="Calibri" pitchFamily="34" charset="-120"/>
              </a:rPr>
              <a:t>Reads like a real analysis</a:t>
            </a:r>
            <a:endParaRPr lang="en-US" sz="1300" dirty="0"/>
          </a:p>
        </p:txBody>
      </p:sp>
      <p:sp>
        <p:nvSpPr>
          <p:cNvPr id="13" name="Shape 11"/>
          <p:cNvSpPr/>
          <p:nvPr/>
        </p:nvSpPr>
        <p:spPr>
          <a:xfrm>
            <a:off x="7040880" y="3209544"/>
            <a:ext cx="274320" cy="274320"/>
          </a:xfrm>
          <a:prstGeom prst="ellipse">
            <a:avLst/>
          </a:prstGeom>
          <a:solidFill>
            <a:srgbClr val="129B68"/>
          </a:solidFill>
          <a:ln w="12700">
            <a:solidFill>
              <a:srgbClr val="129B68"/>
            </a:solidFill>
            <a:prstDash val="solid"/>
          </a:ln>
        </p:spPr>
      </p:sp>
      <p:sp>
        <p:nvSpPr>
          <p:cNvPr id="14" name="Text 12"/>
          <p:cNvSpPr txBox="1"/>
          <p:nvPr/>
        </p:nvSpPr>
        <p:spPr>
          <a:xfrm>
            <a:off x="7040880" y="320954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5" name="Text 13"/>
          <p:cNvSpPr txBox="1"/>
          <p:nvPr/>
        </p:nvSpPr>
        <p:spPr>
          <a:xfrm>
            <a:off x="7452360" y="3154680"/>
            <a:ext cx="3749040" cy="310896"/>
          </a:xfrm>
          <a:prstGeom prst="rect">
            <a:avLst/>
          </a:prstGeom>
          <a:noFill/>
          <a:ln/>
        </p:spPr>
        <p:txBody>
          <a:bodyPr wrap="square" lIns="0" tIns="0" rIns="0" bIns="0"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Arithmetic correct</a:t>
            </a:r>
            <a:endParaRPr lang="en-US" sz="1600" dirty="0"/>
          </a:p>
        </p:txBody>
      </p:sp>
      <p:sp>
        <p:nvSpPr>
          <p:cNvPr id="16" name="Text 14"/>
          <p:cNvSpPr txBox="1"/>
          <p:nvPr/>
        </p:nvSpPr>
        <p:spPr>
          <a:xfrm>
            <a:off x="7452360" y="3465576"/>
            <a:ext cx="3749040" cy="310896"/>
          </a:xfrm>
          <a:prstGeom prst="rect">
            <a:avLst/>
          </a:prstGeom>
          <a:noFill/>
          <a:ln/>
        </p:spPr>
        <p:txBody>
          <a:bodyPr wrap="square" lIns="0" tIns="0" rIns="0" bIns="0" rtlCol="0" anchor="ctr"/>
          <a:lstStyle/>
          <a:p>
            <a:pPr indent="0" marL="0">
              <a:buNone/>
            </a:pPr>
            <a:r>
              <a:rPr lang="en-US" sz="1300" dirty="0">
                <a:solidFill>
                  <a:srgbClr val="4A5A69"/>
                </a:solidFill>
                <a:latin typeface="Calibri" pitchFamily="34" charset="0"/>
                <a:ea typeface="Calibri" pitchFamily="34" charset="-122"/>
                <a:cs typeface="Calibri" pitchFamily="34" charset="-120"/>
              </a:rPr>
              <a:t>Every number adds up</a:t>
            </a:r>
            <a:endParaRPr lang="en-US" sz="1300" dirty="0"/>
          </a:p>
        </p:txBody>
      </p:sp>
      <p:sp>
        <p:nvSpPr>
          <p:cNvPr id="17" name="Shape 15"/>
          <p:cNvSpPr/>
          <p:nvPr/>
        </p:nvSpPr>
        <p:spPr>
          <a:xfrm>
            <a:off x="7040880" y="4078224"/>
            <a:ext cx="274320" cy="274320"/>
          </a:xfrm>
          <a:prstGeom prst="ellipse">
            <a:avLst/>
          </a:prstGeom>
          <a:solidFill>
            <a:srgbClr val="DD6027"/>
          </a:solidFill>
          <a:ln w="12700">
            <a:solidFill>
              <a:srgbClr val="DD6027"/>
            </a:solidFill>
            <a:prstDash val="solid"/>
          </a:ln>
        </p:spPr>
      </p:sp>
      <p:sp>
        <p:nvSpPr>
          <p:cNvPr id="18" name="Text 16"/>
          <p:cNvSpPr txBox="1"/>
          <p:nvPr/>
        </p:nvSpPr>
        <p:spPr>
          <a:xfrm>
            <a:off x="7040880" y="4078224"/>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9" name="Text 17"/>
          <p:cNvSpPr txBox="1"/>
          <p:nvPr/>
        </p:nvSpPr>
        <p:spPr>
          <a:xfrm>
            <a:off x="7452360" y="4023360"/>
            <a:ext cx="3749040" cy="310896"/>
          </a:xfrm>
          <a:prstGeom prst="rect">
            <a:avLst/>
          </a:prstGeom>
          <a:noFill/>
          <a:ln/>
        </p:spPr>
        <p:txBody>
          <a:bodyPr wrap="square" lIns="0" tIns="0" rIns="0" bIns="0"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Method invalid</a:t>
            </a:r>
            <a:endParaRPr lang="en-US" sz="1600" dirty="0"/>
          </a:p>
        </p:txBody>
      </p:sp>
      <p:sp>
        <p:nvSpPr>
          <p:cNvPr id="20" name="Text 18"/>
          <p:cNvSpPr txBox="1"/>
          <p:nvPr/>
        </p:nvSpPr>
        <p:spPr>
          <a:xfrm>
            <a:off x="7452360" y="4334256"/>
            <a:ext cx="3749040" cy="310896"/>
          </a:xfrm>
          <a:prstGeom prst="rect">
            <a:avLst/>
          </a:prstGeom>
          <a:noFill/>
          <a:ln/>
        </p:spPr>
        <p:txBody>
          <a:bodyPr wrap="square" lIns="0" tIns="0" rIns="0" bIns="0" rtlCol="0" anchor="ctr"/>
          <a:lstStyle/>
          <a:p>
            <a:pPr indent="0" marL="0">
              <a:buNone/>
            </a:pPr>
            <a:r>
              <a:rPr lang="en-US" sz="1300" dirty="0">
                <a:solidFill>
                  <a:srgbClr val="4A5A69"/>
                </a:solidFill>
                <a:latin typeface="Calibri" pitchFamily="34" charset="0"/>
                <a:ea typeface="Calibri" pitchFamily="34" charset="-122"/>
                <a:cs typeface="Calibri" pitchFamily="34" charset="-120"/>
              </a:rPr>
              <a:t>The wrong test for this data</a:t>
            </a:r>
            <a:endParaRPr lang="en-US" sz="1300" dirty="0"/>
          </a:p>
        </p:txBody>
      </p:sp>
      <p:sp>
        <p:nvSpPr>
          <p:cNvPr id="21" name="Text 19"/>
          <p:cNvSpPr txBox="1"/>
          <p:nvPr/>
        </p:nvSpPr>
        <p:spPr>
          <a:xfrm>
            <a:off x="7040880" y="4718304"/>
            <a:ext cx="4206240" cy="457200"/>
          </a:xfrm>
          <a:prstGeom prst="rect">
            <a:avLst/>
          </a:prstGeom>
          <a:noFill/>
          <a:ln/>
        </p:spPr>
        <p:txBody>
          <a:bodyPr wrap="square" lIns="0" tIns="0" rIns="0" bIns="0" rtlCol="0" anchor="ctr"/>
          <a:lstStyle/>
          <a:p>
            <a:pPr indent="0" marL="0">
              <a:buNone/>
            </a:pPr>
            <a:r>
              <a:rPr lang="en-US" sz="1400" i="1" dirty="0">
                <a:solidFill>
                  <a:srgbClr val="DD6027"/>
                </a:solidFill>
                <a:latin typeface="Calibri" pitchFamily="34" charset="0"/>
                <a:ea typeface="Calibri" pitchFamily="34" charset="-122"/>
                <a:cs typeface="Calibri" pitchFamily="34" charset="-120"/>
              </a:rPr>
              <a:t>A confident, wrong answer is worse than no answer.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WHAT THAT LOOKS LIKE</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A real example from the project</a:t>
            </a:r>
            <a:endParaRPr lang="en-US" sz="3200" dirty="0"/>
          </a:p>
        </p:txBody>
      </p:sp>
      <p:sp>
        <p:nvSpPr>
          <p:cNvPr id="4" name="Shape 2"/>
          <p:cNvSpPr/>
          <p:nvPr/>
        </p:nvSpPr>
        <p:spPr>
          <a:xfrm>
            <a:off x="640080" y="1481328"/>
            <a:ext cx="5212080" cy="3840480"/>
          </a:xfrm>
          <a:prstGeom prst="roundRect">
            <a:avLst>
              <a:gd name="adj" fmla="val 1429"/>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5" name="Text 3"/>
          <p:cNvSpPr txBox="1"/>
          <p:nvPr/>
        </p:nvSpPr>
        <p:spPr>
          <a:xfrm>
            <a:off x="1005840" y="1783080"/>
            <a:ext cx="4480560" cy="365760"/>
          </a:xfrm>
          <a:prstGeom prst="rect">
            <a:avLst/>
          </a:prstGeom>
          <a:noFill/>
          <a:ln/>
        </p:spPr>
        <p:txBody>
          <a:bodyPr wrap="square" lIns="0" tIns="0" rIns="0" bIns="0" rtlCol="0" anchor="ctr"/>
          <a:lstStyle/>
          <a:p>
            <a:pPr indent="0" marL="0">
              <a:buNone/>
            </a:pPr>
            <a:r>
              <a:rPr lang="en-US" sz="2000" b="1" dirty="0">
                <a:solidFill>
                  <a:srgbClr val="16222E"/>
                </a:solidFill>
                <a:latin typeface="Cambria" pitchFamily="34" charset="0"/>
                <a:ea typeface="Cambria" pitchFamily="34" charset="-122"/>
                <a:cs typeface="Cambria" pitchFamily="34" charset="-120"/>
              </a:rPr>
              <a:t>Seoul bike rentals</a:t>
            </a:r>
            <a:endParaRPr lang="en-US" sz="2000" dirty="0"/>
          </a:p>
        </p:txBody>
      </p:sp>
      <p:sp>
        <p:nvSpPr>
          <p:cNvPr id="6" name="Text 4"/>
          <p:cNvSpPr txBox="1"/>
          <p:nvPr/>
        </p:nvSpPr>
        <p:spPr>
          <a:xfrm>
            <a:off x="1005840" y="2176272"/>
            <a:ext cx="4480560" cy="292608"/>
          </a:xfrm>
          <a:prstGeom prst="rect">
            <a:avLst/>
          </a:prstGeom>
          <a:noFill/>
          <a:ln/>
        </p:spPr>
        <p:txBody>
          <a:bodyPr wrap="square" lIns="0" tIns="0" rIns="0" bIns="0" rtlCol="0" anchor="ctr"/>
          <a:lstStyle/>
          <a:p>
            <a:pPr indent="0" marL="0">
              <a:buNone/>
            </a:pPr>
            <a:r>
              <a:rPr lang="en-US" sz="1400" dirty="0">
                <a:solidFill>
                  <a:srgbClr val="8496A6"/>
                </a:solidFill>
                <a:latin typeface="Calibri" pitchFamily="34" charset="0"/>
                <a:ea typeface="Calibri" pitchFamily="34" charset="-122"/>
                <a:cs typeface="Calibri" pitchFamily="34" charset="-120"/>
              </a:rPr>
              <a:t>8,760 rows — one for every hour of a year.</a:t>
            </a:r>
            <a:endParaRPr lang="en-US" sz="1400" dirty="0"/>
          </a:p>
        </p:txBody>
      </p:sp>
      <p:sp>
        <p:nvSpPr>
          <p:cNvPr id="7" name="Text 5"/>
          <p:cNvSpPr txBox="1"/>
          <p:nvPr/>
        </p:nvSpPr>
        <p:spPr>
          <a:xfrm>
            <a:off x="1005840" y="2697480"/>
            <a:ext cx="4480560" cy="1463040"/>
          </a:xfrm>
          <a:prstGeom prst="rect">
            <a:avLst/>
          </a:prstGeom>
          <a:noFill/>
          <a:ln/>
        </p:spPr>
        <p:txBody>
          <a:bodyPr wrap="square" lIns="0" tIns="0" rIns="0" bIns="0" rtlCol="0" anchor="ctr"/>
          <a:lstStyle/>
          <a:p>
            <a:pPr marL="342900" indent="-342900">
              <a:spcAft>
                <a:spcPts val="1000"/>
              </a:spcAft>
              <a:buSzPct val="100000"/>
              <a:buChar char="•"/>
            </a:pPr>
            <a:r>
              <a:rPr lang="en-US" sz="1500" dirty="0">
                <a:solidFill>
                  <a:srgbClr val="4A5A69"/>
                </a:solidFill>
                <a:latin typeface="Calibri" pitchFamily="34" charset="0"/>
                <a:ea typeface="Calibri" pitchFamily="34" charset="-122"/>
                <a:cs typeface="Calibri" pitchFamily="34" charset="-120"/>
              </a:rPr>
              <a:t>Question: does temperature affect how many bikes are rented?</a:t>
            </a:r>
            <a:endParaRPr lang="en-US" sz="1500" dirty="0"/>
          </a:p>
          <a:p>
            <a:pPr marL="342900" indent="-342900">
              <a:spcAft>
                <a:spcPts val="1000"/>
              </a:spcAft>
              <a:buSzPct val="100000"/>
              <a:buChar char="•"/>
            </a:pPr>
            <a:r>
              <a:rPr lang="en-US" sz="1500" dirty="0">
                <a:solidFill>
                  <a:srgbClr val="4A5A69"/>
                </a:solidFill>
                <a:latin typeface="Calibri" pitchFamily="34" charset="0"/>
                <a:ea typeface="Calibri" pitchFamily="34" charset="-122"/>
                <a:cs typeface="Calibri" pitchFamily="34" charset="-120"/>
              </a:rPr>
              <a:t>The table looks perfect for a standard correlation test.</a:t>
            </a:r>
            <a:endParaRPr lang="en-US" sz="1500" dirty="0"/>
          </a:p>
          <a:p>
            <a:pPr marL="342900" indent="-342900">
              <a:spcAft>
                <a:spcPts val="1000"/>
              </a:spcAft>
              <a:buSzPct val="100000"/>
              <a:buChar char="•"/>
            </a:pPr>
            <a:r>
              <a:rPr lang="en-US" sz="1500" dirty="0">
                <a:solidFill>
                  <a:srgbClr val="4A5A69"/>
                </a:solidFill>
                <a:latin typeface="Calibri" pitchFamily="34" charset="0"/>
                <a:ea typeface="Calibri" pitchFamily="34" charset="-122"/>
                <a:cs typeface="Calibri" pitchFamily="34" charset="-120"/>
              </a:rPr>
              <a:t>Every AI tested reached for exactly that test.</a:t>
            </a:r>
            <a:endParaRPr lang="en-US" sz="1500" dirty="0"/>
          </a:p>
        </p:txBody>
      </p:sp>
      <p:sp>
        <p:nvSpPr>
          <p:cNvPr id="8" name="Text 6"/>
          <p:cNvSpPr txBox="1"/>
          <p:nvPr/>
        </p:nvSpPr>
        <p:spPr>
          <a:xfrm>
            <a:off x="1005840" y="4343400"/>
            <a:ext cx="4480560" cy="411480"/>
          </a:xfrm>
          <a:prstGeom prst="rect">
            <a:avLst/>
          </a:prstGeom>
          <a:noFill/>
          <a:ln/>
        </p:spPr>
        <p:txBody>
          <a:bodyPr wrap="square" lIns="0" tIns="0" rIns="0" bIns="0" rtlCol="0" anchor="ctr"/>
          <a:lstStyle/>
          <a:p>
            <a:pPr indent="0" marL="0">
              <a:buNone/>
            </a:pPr>
            <a:r>
              <a:rPr lang="en-US" sz="1900" b="1" dirty="0">
                <a:solidFill>
                  <a:srgbClr val="DD6027"/>
                </a:solidFill>
                <a:latin typeface="Cambria" pitchFamily="34" charset="0"/>
                <a:ea typeface="Cambria" pitchFamily="34" charset="-122"/>
                <a:cs typeface="Cambria" pitchFamily="34" charset="-120"/>
              </a:rPr>
              <a:t>And it is the wrong test.</a:t>
            </a:r>
            <a:endParaRPr lang="en-US" sz="1900" dirty="0"/>
          </a:p>
        </p:txBody>
      </p:sp>
      <p:sp>
        <p:nvSpPr>
          <p:cNvPr id="9" name="Shape 7"/>
          <p:cNvSpPr/>
          <p:nvPr/>
        </p:nvSpPr>
        <p:spPr>
          <a:xfrm>
            <a:off x="6309360" y="1481328"/>
            <a:ext cx="5212080" cy="3840480"/>
          </a:xfrm>
          <a:prstGeom prst="roundRect">
            <a:avLst>
              <a:gd name="adj" fmla="val 1429"/>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0" name="Text 8"/>
          <p:cNvSpPr txBox="1"/>
          <p:nvPr/>
        </p:nvSpPr>
        <p:spPr>
          <a:xfrm>
            <a:off x="6675120" y="1783080"/>
            <a:ext cx="4480560" cy="365760"/>
          </a:xfrm>
          <a:prstGeom prst="rect">
            <a:avLst/>
          </a:prstGeom>
          <a:noFill/>
          <a:ln/>
        </p:spPr>
        <p:txBody>
          <a:bodyPr wrap="square" lIns="0" tIns="0" rIns="0" bIns="0" rtlCol="0" anchor="ctr"/>
          <a:lstStyle/>
          <a:p>
            <a:pPr indent="0" marL="0">
              <a:buNone/>
            </a:pPr>
            <a:r>
              <a:rPr lang="en-US" sz="2000" b="1" dirty="0">
                <a:solidFill>
                  <a:srgbClr val="16222E"/>
                </a:solidFill>
                <a:latin typeface="Cambria" pitchFamily="34" charset="0"/>
                <a:ea typeface="Cambria" pitchFamily="34" charset="-122"/>
                <a:cs typeface="Cambria" pitchFamily="34" charset="-120"/>
              </a:rPr>
              <a:t>Why it is wrong</a:t>
            </a:r>
            <a:endParaRPr lang="en-US" sz="2000" dirty="0"/>
          </a:p>
        </p:txBody>
      </p:sp>
      <p:sp>
        <p:nvSpPr>
          <p:cNvPr id="11" name="Text 9"/>
          <p:cNvSpPr txBox="1"/>
          <p:nvPr/>
        </p:nvSpPr>
        <p:spPr>
          <a:xfrm>
            <a:off x="6675120" y="2240280"/>
            <a:ext cx="4480560" cy="1188720"/>
          </a:xfrm>
          <a:prstGeom prst="rect">
            <a:avLst/>
          </a:prstGeom>
          <a:noFill/>
          <a:ln/>
        </p:spPr>
        <p:txBody>
          <a:bodyPr wrap="square" lIns="0" tIns="0" rIns="0" bIns="0" rtlCol="0" anchor="ctr"/>
          <a:lstStyle/>
          <a:p>
            <a:pPr indent="0" marL="0">
              <a:lnSpc>
                <a:spcPts val="2200"/>
              </a:lnSpc>
              <a:buNone/>
            </a:pPr>
            <a:r>
              <a:rPr lang="en-US" sz="1500" dirty="0">
                <a:solidFill>
                  <a:srgbClr val="4A5A69"/>
                </a:solidFill>
                <a:latin typeface="Calibri" pitchFamily="34" charset="0"/>
                <a:ea typeface="Calibri" pitchFamily="34" charset="-122"/>
                <a:cs typeface="Calibri" pitchFamily="34" charset="-120"/>
              </a:rPr>
              <a:t>That test assumes each row is independent of the others. But 2pm looks like 1pm because it is one hour later on the same day — the rows carry each other's information.</a:t>
            </a:r>
            <a:endParaRPr lang="en-US" sz="1500" dirty="0"/>
          </a:p>
        </p:txBody>
      </p:sp>
      <p:sp>
        <p:nvSpPr>
          <p:cNvPr id="12" name="Text 10"/>
          <p:cNvSpPr txBox="1"/>
          <p:nvPr/>
        </p:nvSpPr>
        <p:spPr>
          <a:xfrm>
            <a:off x="6675120" y="3474720"/>
            <a:ext cx="4480560" cy="822960"/>
          </a:xfrm>
          <a:prstGeom prst="rect">
            <a:avLst/>
          </a:prstGeom>
          <a:noFill/>
          <a:ln/>
        </p:spPr>
        <p:txBody>
          <a:bodyPr wrap="square" lIns="0" tIns="0" rIns="0" bIns="0" rtlCol="0" anchor="ctr"/>
          <a:lstStyle/>
          <a:p>
            <a:pPr indent="0" marL="0">
              <a:lnSpc>
                <a:spcPts val="2200"/>
              </a:lnSpc>
              <a:buNone/>
            </a:pPr>
            <a:r>
              <a:rPr lang="en-US" sz="1500" dirty="0">
                <a:solidFill>
                  <a:srgbClr val="4A5A69"/>
                </a:solidFill>
                <a:latin typeface="Calibri" pitchFamily="34" charset="0"/>
                <a:ea typeface="Calibri" pitchFamily="34" charset="-122"/>
                <a:cs typeface="Calibri" pitchFamily="34" charset="-120"/>
              </a:rPr>
              <a:t>Nothing in the spreadsheet says so. You only know it because you know how the data was collected.</a:t>
            </a:r>
            <a:endParaRPr lang="en-US" sz="1500" dirty="0"/>
          </a:p>
        </p:txBody>
      </p:sp>
      <p:sp>
        <p:nvSpPr>
          <p:cNvPr id="13" name="Text 11"/>
          <p:cNvSpPr txBox="1"/>
          <p:nvPr/>
        </p:nvSpPr>
        <p:spPr>
          <a:xfrm>
            <a:off x="6675120" y="4343400"/>
            <a:ext cx="4480560" cy="411480"/>
          </a:xfrm>
          <a:prstGeom prst="rect">
            <a:avLst/>
          </a:prstGeom>
          <a:noFill/>
          <a:ln/>
        </p:spPr>
        <p:txBody>
          <a:bodyPr wrap="square" lIns="0" tIns="0" rIns="0" bIns="0" rtlCol="0" anchor="ctr"/>
          <a:lstStyle/>
          <a:p>
            <a:pPr indent="0" marL="0">
              <a:buNone/>
            </a:pPr>
            <a:r>
              <a:rPr lang="en-US" sz="1900" b="1" dirty="0">
                <a:solidFill>
                  <a:srgbClr val="129B68"/>
                </a:solidFill>
                <a:latin typeface="Cambria" pitchFamily="34" charset="0"/>
                <a:ea typeface="Cambria" pitchFamily="34" charset="-122"/>
                <a:cs typeface="Cambria" pitchFamily="34" charset="-120"/>
              </a:rPr>
              <a:t>The correct answer is to decline.</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371600"/>
            <a:ext cx="7315200" cy="274320"/>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THE QUESTION</a:t>
            </a:r>
            <a:endParaRPr lang="en-US" sz="1100" dirty="0"/>
          </a:p>
        </p:txBody>
      </p:sp>
      <p:sp>
        <p:nvSpPr>
          <p:cNvPr id="3" name="Text 1"/>
          <p:cNvSpPr txBox="1"/>
          <p:nvPr/>
        </p:nvSpPr>
        <p:spPr>
          <a:xfrm>
            <a:off x="640080" y="1828800"/>
            <a:ext cx="10241280" cy="137160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If you give an AI the right tools, does it use them well?</a:t>
            </a:r>
            <a:endParaRPr lang="en-US" sz="3800" dirty="0"/>
          </a:p>
        </p:txBody>
      </p:sp>
      <p:sp>
        <p:nvSpPr>
          <p:cNvPr id="4" name="Text 2"/>
          <p:cNvSpPr txBox="1"/>
          <p:nvPr/>
        </p:nvSpPr>
        <p:spPr>
          <a:xfrm>
            <a:off x="640080" y="3429000"/>
            <a:ext cx="9326880" cy="822960"/>
          </a:xfrm>
          <a:prstGeom prst="rect">
            <a:avLst/>
          </a:prstGeom>
          <a:noFill/>
          <a:ln/>
        </p:spPr>
        <p:txBody>
          <a:bodyPr wrap="square" lIns="0" tIns="0" rIns="0" bIns="0" rtlCol="0" anchor="ctr"/>
          <a:lstStyle/>
          <a:p>
            <a:pPr indent="0" marL="0">
              <a:lnSpc>
                <a:spcPts val="2800"/>
              </a:lnSpc>
              <a:buNone/>
            </a:pPr>
            <a:r>
              <a:rPr lang="en-US" sz="1800" dirty="0">
                <a:solidFill>
                  <a:srgbClr val="CFE0F2"/>
                </a:solidFill>
                <a:latin typeface="Calibri" pitchFamily="34" charset="0"/>
                <a:ea typeface="Calibri" pitchFamily="34" charset="-122"/>
                <a:cs typeface="Calibri" pitchFamily="34" charset="-120"/>
              </a:rPr>
              <a:t>Or does it also need a fixed procedure telling it what to check, in what order, before it is allowed to answer?</a:t>
            </a:r>
            <a:endParaRPr lang="en-US" sz="1800" dirty="0"/>
          </a:p>
        </p:txBody>
      </p:sp>
      <p:sp>
        <p:nvSpPr>
          <p:cNvPr id="5" name="Text 3"/>
          <p:cNvSpPr txBox="1"/>
          <p:nvPr/>
        </p:nvSpPr>
        <p:spPr>
          <a:xfrm>
            <a:off x="640080" y="4754880"/>
            <a:ext cx="9326880" cy="457200"/>
          </a:xfrm>
          <a:prstGeom prst="rect">
            <a:avLst/>
          </a:prstGeom>
          <a:noFill/>
          <a:ln/>
        </p:spPr>
        <p:txBody>
          <a:bodyPr wrap="square" lIns="0" tIns="0" rIns="0" bIns="0" rtlCol="0" anchor="ctr"/>
          <a:lstStyle/>
          <a:p>
            <a:pPr indent="0" marL="0">
              <a:buNone/>
            </a:pPr>
            <a:r>
              <a:rPr lang="en-US" sz="1600" i="1" dirty="0">
                <a:solidFill>
                  <a:srgbClr val="129B68"/>
                </a:solidFill>
                <a:latin typeface="Calibri" pitchFamily="34" charset="0"/>
                <a:ea typeface="Calibri" pitchFamily="34" charset="-122"/>
                <a:cs typeface="Calibri" pitchFamily="34" charset="-120"/>
              </a:rPr>
              <a:t>To answer that fairly, I built three versions that differ in exactly one 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THE EXPERIMENT</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Three versions, one difference</a:t>
            </a:r>
            <a:endParaRPr lang="en-US" sz="3200" dirty="0"/>
          </a:p>
        </p:txBody>
      </p:sp>
      <p:sp>
        <p:nvSpPr>
          <p:cNvPr id="4" name="Shape 2"/>
          <p:cNvSpPr/>
          <p:nvPr/>
        </p:nvSpPr>
        <p:spPr>
          <a:xfrm>
            <a:off x="640080" y="1572768"/>
            <a:ext cx="10881360" cy="1115568"/>
          </a:xfrm>
          <a:prstGeom prst="roundRect">
            <a:avLst>
              <a:gd name="adj" fmla="val 4918"/>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5" name="Shape 3"/>
          <p:cNvSpPr/>
          <p:nvPr/>
        </p:nvSpPr>
        <p:spPr>
          <a:xfrm>
            <a:off x="1024128" y="1892808"/>
            <a:ext cx="493776" cy="493776"/>
          </a:xfrm>
          <a:prstGeom prst="ellipse">
            <a:avLst/>
          </a:prstGeom>
          <a:solidFill>
            <a:srgbClr val="2F6FD0"/>
          </a:solidFill>
          <a:ln w="12700">
            <a:solidFill>
              <a:srgbClr val="2F6FD0"/>
            </a:solidFill>
            <a:prstDash val="solid"/>
          </a:ln>
        </p:spPr>
      </p:sp>
      <p:sp>
        <p:nvSpPr>
          <p:cNvPr id="6" name="Text 4"/>
          <p:cNvSpPr txBox="1"/>
          <p:nvPr/>
        </p:nvSpPr>
        <p:spPr>
          <a:xfrm>
            <a:off x="1024128" y="1892808"/>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7" name="Text 5"/>
          <p:cNvSpPr txBox="1"/>
          <p:nvPr/>
        </p:nvSpPr>
        <p:spPr>
          <a:xfrm>
            <a:off x="1755648" y="1810512"/>
            <a:ext cx="3200400" cy="347472"/>
          </a:xfrm>
          <a:prstGeom prst="rect">
            <a:avLst/>
          </a:prstGeom>
          <a:noFill/>
          <a:ln/>
        </p:spPr>
        <p:txBody>
          <a:bodyPr wrap="square" lIns="0" tIns="0" rIns="0" bIns="0" rtlCol="0" anchor="ctr"/>
          <a:lstStyle/>
          <a:p>
            <a:pPr indent="0" marL="0">
              <a:buNone/>
            </a:pPr>
            <a:r>
              <a:rPr lang="en-US" sz="1900" b="1" dirty="0">
                <a:solidFill>
                  <a:srgbClr val="16222E"/>
                </a:solidFill>
                <a:latin typeface="Cambria" pitchFamily="34" charset="0"/>
                <a:ea typeface="Cambria" pitchFamily="34" charset="-122"/>
                <a:cs typeface="Cambria" pitchFamily="34" charset="-120"/>
              </a:rPr>
              <a:t>Just ask the AI</a:t>
            </a:r>
            <a:endParaRPr lang="en-US" sz="1900" dirty="0"/>
          </a:p>
        </p:txBody>
      </p:sp>
      <p:sp>
        <p:nvSpPr>
          <p:cNvPr id="8" name="Text 6"/>
          <p:cNvSpPr txBox="1"/>
          <p:nvPr/>
        </p:nvSpPr>
        <p:spPr>
          <a:xfrm>
            <a:off x="5120640" y="1828800"/>
            <a:ext cx="6035040" cy="640080"/>
          </a:xfrm>
          <a:prstGeom prst="rect">
            <a:avLst/>
          </a:prstGeom>
          <a:noFill/>
          <a:ln/>
        </p:spPr>
        <p:txBody>
          <a:bodyPr wrap="square" lIns="0" tIns="0" rIns="0" bIns="0" rtlCol="0" anchor="ctr"/>
          <a:lstStyle/>
          <a:p>
            <a:pPr indent="0" marL="0">
              <a:lnSpc>
                <a:spcPts val="2100"/>
              </a:lnSpc>
              <a:buNone/>
            </a:pPr>
            <a:r>
              <a:rPr lang="en-US" sz="1500" dirty="0">
                <a:solidFill>
                  <a:srgbClr val="4A5A69"/>
                </a:solidFill>
                <a:latin typeface="Calibri" pitchFamily="34" charset="0"/>
                <a:ea typeface="Calibri" pitchFamily="34" charset="-122"/>
                <a:cs typeface="Calibri" pitchFamily="34" charset="-120"/>
              </a:rPr>
              <a:t>No tools. It answers from what it knows, like asking a knowledgeable colleague.</a:t>
            </a:r>
            <a:endParaRPr lang="en-US" sz="1500" dirty="0"/>
          </a:p>
        </p:txBody>
      </p:sp>
      <p:sp>
        <p:nvSpPr>
          <p:cNvPr id="9" name="Shape 7"/>
          <p:cNvSpPr/>
          <p:nvPr/>
        </p:nvSpPr>
        <p:spPr>
          <a:xfrm>
            <a:off x="640080" y="2871216"/>
            <a:ext cx="10881360" cy="1115568"/>
          </a:xfrm>
          <a:prstGeom prst="roundRect">
            <a:avLst>
              <a:gd name="adj" fmla="val 4918"/>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0" name="Shape 8"/>
          <p:cNvSpPr/>
          <p:nvPr/>
        </p:nvSpPr>
        <p:spPr>
          <a:xfrm>
            <a:off x="1024128" y="3191256"/>
            <a:ext cx="493776" cy="493776"/>
          </a:xfrm>
          <a:prstGeom prst="ellipse">
            <a:avLst/>
          </a:prstGeom>
          <a:solidFill>
            <a:srgbClr val="DD6027"/>
          </a:solidFill>
          <a:ln w="12700">
            <a:solidFill>
              <a:srgbClr val="DD6027"/>
            </a:solidFill>
            <a:prstDash val="solid"/>
          </a:ln>
        </p:spPr>
      </p:sp>
      <p:sp>
        <p:nvSpPr>
          <p:cNvPr id="11" name="Text 9"/>
          <p:cNvSpPr txBox="1"/>
          <p:nvPr/>
        </p:nvSpPr>
        <p:spPr>
          <a:xfrm>
            <a:off x="1024128" y="3191256"/>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12" name="Text 10"/>
          <p:cNvSpPr txBox="1"/>
          <p:nvPr/>
        </p:nvSpPr>
        <p:spPr>
          <a:xfrm>
            <a:off x="1755648" y="3108960"/>
            <a:ext cx="3200400" cy="347472"/>
          </a:xfrm>
          <a:prstGeom prst="rect">
            <a:avLst/>
          </a:prstGeom>
          <a:noFill/>
          <a:ln/>
        </p:spPr>
        <p:txBody>
          <a:bodyPr wrap="square" lIns="0" tIns="0" rIns="0" bIns="0" rtlCol="0" anchor="ctr"/>
          <a:lstStyle/>
          <a:p>
            <a:pPr indent="0" marL="0">
              <a:buNone/>
            </a:pPr>
            <a:r>
              <a:rPr lang="en-US" sz="1900" b="1" dirty="0">
                <a:solidFill>
                  <a:srgbClr val="16222E"/>
                </a:solidFill>
                <a:latin typeface="Cambria" pitchFamily="34" charset="0"/>
                <a:ea typeface="Cambria" pitchFamily="34" charset="-122"/>
                <a:cs typeface="Cambria" pitchFamily="34" charset="-120"/>
              </a:rPr>
              <a:t>Give it the tools</a:t>
            </a:r>
            <a:endParaRPr lang="en-US" sz="1900" dirty="0"/>
          </a:p>
        </p:txBody>
      </p:sp>
      <p:sp>
        <p:nvSpPr>
          <p:cNvPr id="13" name="Text 11"/>
          <p:cNvSpPr txBox="1"/>
          <p:nvPr/>
        </p:nvSpPr>
        <p:spPr>
          <a:xfrm>
            <a:off x="5120640" y="3127248"/>
            <a:ext cx="6035040" cy="640080"/>
          </a:xfrm>
          <a:prstGeom prst="rect">
            <a:avLst/>
          </a:prstGeom>
          <a:noFill/>
          <a:ln/>
        </p:spPr>
        <p:txBody>
          <a:bodyPr wrap="square" lIns="0" tIns="0" rIns="0" bIns="0" rtlCol="0" anchor="ctr"/>
          <a:lstStyle/>
          <a:p>
            <a:pPr indent="0" marL="0">
              <a:lnSpc>
                <a:spcPts val="2100"/>
              </a:lnSpc>
              <a:buNone/>
            </a:pPr>
            <a:r>
              <a:rPr lang="en-US" sz="1500" dirty="0">
                <a:solidFill>
                  <a:srgbClr val="4A5A69"/>
                </a:solidFill>
                <a:latin typeface="Calibri" pitchFamily="34" charset="0"/>
                <a:ea typeface="Calibri" pitchFamily="34" charset="-122"/>
                <a:cs typeface="Calibri" pitchFamily="34" charset="-120"/>
              </a:rPr>
              <a:t>It can run real statistical tests, in whatever order it likes. No procedure.</a:t>
            </a:r>
            <a:endParaRPr lang="en-US" sz="1500" dirty="0"/>
          </a:p>
        </p:txBody>
      </p:sp>
      <p:sp>
        <p:nvSpPr>
          <p:cNvPr id="14" name="Shape 12"/>
          <p:cNvSpPr/>
          <p:nvPr/>
        </p:nvSpPr>
        <p:spPr>
          <a:xfrm>
            <a:off x="640080" y="4169664"/>
            <a:ext cx="10881360" cy="1115568"/>
          </a:xfrm>
          <a:prstGeom prst="roundRect">
            <a:avLst>
              <a:gd name="adj" fmla="val 4918"/>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5" name="Shape 13"/>
          <p:cNvSpPr/>
          <p:nvPr/>
        </p:nvSpPr>
        <p:spPr>
          <a:xfrm>
            <a:off x="1024128" y="4489704"/>
            <a:ext cx="493776" cy="493776"/>
          </a:xfrm>
          <a:prstGeom prst="ellipse">
            <a:avLst/>
          </a:prstGeom>
          <a:solidFill>
            <a:srgbClr val="129B68"/>
          </a:solidFill>
          <a:ln w="12700">
            <a:solidFill>
              <a:srgbClr val="129B68"/>
            </a:solidFill>
            <a:prstDash val="solid"/>
          </a:ln>
        </p:spPr>
      </p:sp>
      <p:sp>
        <p:nvSpPr>
          <p:cNvPr id="16" name="Text 14"/>
          <p:cNvSpPr txBox="1"/>
          <p:nvPr/>
        </p:nvSpPr>
        <p:spPr>
          <a:xfrm>
            <a:off x="1024128" y="4489704"/>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17" name="Text 15"/>
          <p:cNvSpPr txBox="1"/>
          <p:nvPr/>
        </p:nvSpPr>
        <p:spPr>
          <a:xfrm>
            <a:off x="1755648" y="4407408"/>
            <a:ext cx="3200400" cy="347472"/>
          </a:xfrm>
          <a:prstGeom prst="rect">
            <a:avLst/>
          </a:prstGeom>
          <a:noFill/>
          <a:ln/>
        </p:spPr>
        <p:txBody>
          <a:bodyPr wrap="square" lIns="0" tIns="0" rIns="0" bIns="0" rtlCol="0" anchor="ctr"/>
          <a:lstStyle/>
          <a:p>
            <a:pPr indent="0" marL="0">
              <a:buNone/>
            </a:pPr>
            <a:r>
              <a:rPr lang="en-US" sz="1900" b="1" dirty="0">
                <a:solidFill>
                  <a:srgbClr val="16222E"/>
                </a:solidFill>
                <a:latin typeface="Cambria" pitchFamily="34" charset="0"/>
                <a:ea typeface="Cambria" pitchFamily="34" charset="-122"/>
                <a:cs typeface="Cambria" pitchFamily="34" charset="-120"/>
              </a:rPr>
              <a:t>Tools plus a procedure</a:t>
            </a:r>
            <a:endParaRPr lang="en-US" sz="1900" dirty="0"/>
          </a:p>
        </p:txBody>
      </p:sp>
      <p:sp>
        <p:nvSpPr>
          <p:cNvPr id="18" name="Text 16"/>
          <p:cNvSpPr txBox="1"/>
          <p:nvPr/>
        </p:nvSpPr>
        <p:spPr>
          <a:xfrm>
            <a:off x="5120640" y="4425696"/>
            <a:ext cx="6035040" cy="640080"/>
          </a:xfrm>
          <a:prstGeom prst="rect">
            <a:avLst/>
          </a:prstGeom>
          <a:noFill/>
          <a:ln/>
        </p:spPr>
        <p:txBody>
          <a:bodyPr wrap="square" lIns="0" tIns="0" rIns="0" bIns="0" rtlCol="0" anchor="ctr"/>
          <a:lstStyle/>
          <a:p>
            <a:pPr indent="0" marL="0">
              <a:lnSpc>
                <a:spcPts val="2100"/>
              </a:lnSpc>
              <a:buNone/>
            </a:pPr>
            <a:r>
              <a:rPr lang="en-US" sz="1500" dirty="0">
                <a:solidFill>
                  <a:srgbClr val="4A5A69"/>
                </a:solidFill>
                <a:latin typeface="Calibri" pitchFamily="34" charset="0"/>
                <a:ea typeface="Calibri" pitchFamily="34" charset="-122"/>
                <a:cs typeface="Calibri" pitchFamily="34" charset="-120"/>
              </a:rPr>
              <a:t>Same tools — but it must check the study design first, and may decline.</a:t>
            </a:r>
            <a:endParaRPr lang="en-US" sz="1500" dirty="0"/>
          </a:p>
        </p:txBody>
      </p:sp>
      <p:sp>
        <p:nvSpPr>
          <p:cNvPr id="19" name="Text 17"/>
          <p:cNvSpPr txBox="1"/>
          <p:nvPr/>
        </p:nvSpPr>
        <p:spPr>
          <a:xfrm>
            <a:off x="640080" y="5577840"/>
            <a:ext cx="10424160" cy="548640"/>
          </a:xfrm>
          <a:prstGeom prst="rect">
            <a:avLst/>
          </a:prstGeom>
          <a:noFill/>
          <a:ln/>
        </p:spPr>
        <p:txBody>
          <a:bodyPr wrap="square" lIns="0" tIns="0" rIns="0" bIns="0" rtlCol="0" anchor="ctr"/>
          <a:lstStyle/>
          <a:p>
            <a:pPr indent="0" marL="0">
              <a:buNone/>
            </a:pPr>
            <a:r>
              <a:rPr lang="en-US" sz="1500" i="1" dirty="0">
                <a:solidFill>
                  <a:srgbClr val="4A5A69"/>
                </a:solidFill>
                <a:latin typeface="Calibri" pitchFamily="34" charset="0"/>
                <a:ea typeface="Calibri" pitchFamily="34" charset="-122"/>
                <a:cs typeface="Calibri" pitchFamily="34" charset="-120"/>
              </a:rPr>
              <a:t>A and B are the honest comparisons. If C wins, it is the procedure that won — not better tools, and not a better model.</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DESIGN IDEA 1</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“I don’t know” is an allowed answer</a:t>
            </a:r>
            <a:endParaRPr lang="en-US" sz="3200" dirty="0"/>
          </a:p>
        </p:txBody>
      </p:sp>
      <p:sp>
        <p:nvSpPr>
          <p:cNvPr id="4" name="Text 2"/>
          <p:cNvSpPr txBox="1"/>
          <p:nvPr/>
        </p:nvSpPr>
        <p:spPr>
          <a:xfrm>
            <a:off x="640080" y="1572768"/>
            <a:ext cx="5486400" cy="914400"/>
          </a:xfrm>
          <a:prstGeom prst="rect">
            <a:avLst/>
          </a:prstGeom>
          <a:noFill/>
          <a:ln/>
        </p:spPr>
        <p:txBody>
          <a:bodyPr wrap="square" lIns="0" tIns="0" rIns="0" bIns="0" rtlCol="0" anchor="ctr"/>
          <a:lstStyle/>
          <a:p>
            <a:pPr indent="0" marL="0">
              <a:lnSpc>
                <a:spcPts val="2400"/>
              </a:lnSpc>
              <a:buNone/>
            </a:pPr>
            <a:r>
              <a:rPr lang="en-US" sz="1600" dirty="0">
                <a:solidFill>
                  <a:srgbClr val="4A5A69"/>
                </a:solidFill>
                <a:latin typeface="Calibri" pitchFamily="34" charset="0"/>
                <a:ea typeface="Calibri" pitchFamily="34" charset="-122"/>
                <a:cs typeface="Calibri" pitchFamily="34" charset="-120"/>
              </a:rPr>
              <a:t>The AI chooses from a fixed menu of 14 statistical methods. It cannot invent one, and it cannot write its own code to escape the menu.</a:t>
            </a:r>
            <a:endParaRPr lang="en-US" sz="1600" dirty="0"/>
          </a:p>
        </p:txBody>
      </p:sp>
      <p:sp>
        <p:nvSpPr>
          <p:cNvPr id="5" name="Text 3"/>
          <p:cNvSpPr txBox="1"/>
          <p:nvPr/>
        </p:nvSpPr>
        <p:spPr>
          <a:xfrm>
            <a:off x="640080" y="2606040"/>
            <a:ext cx="5486400" cy="411480"/>
          </a:xfrm>
          <a:prstGeom prst="rect">
            <a:avLst/>
          </a:prstGeom>
          <a:noFill/>
          <a:ln/>
        </p:spPr>
        <p:txBody>
          <a:bodyPr wrap="square" lIns="0" tIns="0" rIns="0" bIns="0" rtlCol="0" anchor="ctr"/>
          <a:lstStyle/>
          <a:p>
            <a:pPr indent="0" marL="0">
              <a:buNone/>
            </a:pPr>
            <a:r>
              <a:rPr lang="en-US" sz="2100" b="1" dirty="0">
                <a:solidFill>
                  <a:srgbClr val="129B68"/>
                </a:solidFill>
                <a:latin typeface="Cambria" pitchFamily="34" charset="0"/>
                <a:ea typeface="Cambria" pitchFamily="34" charset="-122"/>
                <a:cs typeface="Cambria" pitchFamily="34" charset="-120"/>
              </a:rPr>
              <a:t>There is a fifteenth option: decline.</a:t>
            </a:r>
            <a:endParaRPr lang="en-US" sz="2100" dirty="0"/>
          </a:p>
        </p:txBody>
      </p:sp>
      <p:sp>
        <p:nvSpPr>
          <p:cNvPr id="6" name="Text 4"/>
          <p:cNvSpPr txBox="1"/>
          <p:nvPr/>
        </p:nvSpPr>
        <p:spPr>
          <a:xfrm>
            <a:off x="640080" y="3127248"/>
            <a:ext cx="5486400" cy="914400"/>
          </a:xfrm>
          <a:prstGeom prst="rect">
            <a:avLst/>
          </a:prstGeom>
          <a:noFill/>
          <a:ln/>
        </p:spPr>
        <p:txBody>
          <a:bodyPr wrap="square" lIns="0" tIns="0" rIns="0" bIns="0" rtlCol="0" anchor="ctr"/>
          <a:lstStyle/>
          <a:p>
            <a:pPr indent="0" marL="0">
              <a:lnSpc>
                <a:spcPts val="2400"/>
              </a:lnSpc>
              <a:buNone/>
            </a:pPr>
            <a:r>
              <a:rPr lang="en-US" sz="1600" dirty="0">
                <a:solidFill>
                  <a:srgbClr val="4A5A69"/>
                </a:solidFill>
                <a:latin typeface="Calibri" pitchFamily="34" charset="0"/>
                <a:ea typeface="Calibri" pitchFamily="34" charset="-122"/>
                <a:cs typeface="Calibri" pitchFamily="34" charset="-120"/>
              </a:rPr>
              <a:t>Declining is not a failure. On 12 of the 64 test problems, declining is the only correct answer — the study design rules out every method available.</a:t>
            </a:r>
            <a:endParaRPr lang="en-US" sz="1600" dirty="0"/>
          </a:p>
        </p:txBody>
      </p:sp>
      <p:sp>
        <p:nvSpPr>
          <p:cNvPr id="7" name="Text 5"/>
          <p:cNvSpPr txBox="1"/>
          <p:nvPr/>
        </p:nvSpPr>
        <p:spPr>
          <a:xfrm>
            <a:off x="640080" y="4160520"/>
            <a:ext cx="5486400" cy="731520"/>
          </a:xfrm>
          <a:prstGeom prst="rect">
            <a:avLst/>
          </a:prstGeom>
          <a:noFill/>
          <a:ln/>
        </p:spPr>
        <p:txBody>
          <a:bodyPr wrap="square" lIns="0" tIns="0" rIns="0" bIns="0" rtlCol="0" anchor="ctr"/>
          <a:lstStyle/>
          <a:p>
            <a:pPr indent="0" marL="0">
              <a:lnSpc>
                <a:spcPts val="2200"/>
              </a:lnSpc>
              <a:buNone/>
            </a:pPr>
            <a:r>
              <a:rPr lang="en-US" sz="1500" i="1" dirty="0">
                <a:solidFill>
                  <a:srgbClr val="4A5A69"/>
                </a:solidFill>
                <a:latin typeface="Calibri" pitchFamily="34" charset="0"/>
                <a:ea typeface="Calibri" pitchFamily="34" charset="-122"/>
                <a:cs typeface="Calibri" pitchFamily="34" charset="-120"/>
              </a:rPr>
              <a:t>This turns a limitation into something measurable. Knowing when to stop becomes a score, not an excuse.</a:t>
            </a:r>
            <a:endParaRPr lang="en-US" sz="1500" dirty="0"/>
          </a:p>
        </p:txBody>
      </p:sp>
      <p:sp>
        <p:nvSpPr>
          <p:cNvPr id="8" name="Shape 6"/>
          <p:cNvSpPr/>
          <p:nvPr/>
        </p:nvSpPr>
        <p:spPr>
          <a:xfrm>
            <a:off x="6583680" y="1481328"/>
            <a:ext cx="4937760" cy="3931920"/>
          </a:xfrm>
          <a:prstGeom prst="roundRect">
            <a:avLst>
              <a:gd name="adj" fmla="val 1395"/>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9" name="Text 7"/>
          <p:cNvSpPr txBox="1"/>
          <p:nvPr/>
        </p:nvSpPr>
        <p:spPr>
          <a:xfrm>
            <a:off x="6949440" y="1755648"/>
            <a:ext cx="4206240" cy="347472"/>
          </a:xfrm>
          <a:prstGeom prst="rect">
            <a:avLst/>
          </a:prstGeom>
          <a:noFill/>
          <a:ln/>
        </p:spPr>
        <p:txBody>
          <a:bodyPr wrap="square" lIns="0" tIns="0" rIns="0" bIns="0" rtlCol="0" anchor="ctr"/>
          <a:lstStyle/>
          <a:p>
            <a:pPr indent="0" marL="0">
              <a:buNone/>
            </a:pPr>
            <a:r>
              <a:rPr lang="en-US" sz="1300" b="1" spc="100" kern="0" dirty="0">
                <a:solidFill>
                  <a:srgbClr val="8496A6"/>
                </a:solidFill>
                <a:latin typeface="Calibri" pitchFamily="34" charset="0"/>
                <a:ea typeface="Calibri" pitchFamily="34" charset="-122"/>
                <a:cs typeface="Calibri" pitchFamily="34" charset="-120"/>
              </a:rPr>
              <a:t>64 test problems</a:t>
            </a:r>
            <a:endParaRPr lang="en-US" sz="1300" dirty="0"/>
          </a:p>
        </p:txBody>
      </p:sp>
      <p:sp>
        <p:nvSpPr>
          <p:cNvPr id="10" name="Text 8"/>
          <p:cNvSpPr txBox="1"/>
          <p:nvPr/>
        </p:nvSpPr>
        <p:spPr>
          <a:xfrm>
            <a:off x="6949440" y="2212848"/>
            <a:ext cx="1371600" cy="777240"/>
          </a:xfrm>
          <a:prstGeom prst="rect">
            <a:avLst/>
          </a:prstGeom>
          <a:noFill/>
          <a:ln/>
        </p:spPr>
        <p:txBody>
          <a:bodyPr wrap="square" lIns="0" tIns="0" rIns="0" bIns="0" rtlCol="0" anchor="ctr"/>
          <a:lstStyle/>
          <a:p>
            <a:pPr indent="0" marL="0">
              <a:buNone/>
            </a:pPr>
            <a:r>
              <a:rPr lang="en-US" sz="5200" b="1" dirty="0">
                <a:solidFill>
                  <a:srgbClr val="129B68"/>
                </a:solidFill>
                <a:latin typeface="Cambria" pitchFamily="34" charset="0"/>
                <a:ea typeface="Cambria" pitchFamily="34" charset="-122"/>
                <a:cs typeface="Cambria" pitchFamily="34" charset="-120"/>
              </a:rPr>
              <a:t>52</a:t>
            </a:r>
            <a:endParaRPr lang="en-US" sz="5200" dirty="0"/>
          </a:p>
        </p:txBody>
      </p:sp>
      <p:sp>
        <p:nvSpPr>
          <p:cNvPr id="11" name="Text 9"/>
          <p:cNvSpPr txBox="1"/>
          <p:nvPr/>
        </p:nvSpPr>
        <p:spPr>
          <a:xfrm>
            <a:off x="8366760" y="2487168"/>
            <a:ext cx="2926080" cy="457200"/>
          </a:xfrm>
          <a:prstGeom prst="rect">
            <a:avLst/>
          </a:prstGeom>
          <a:noFill/>
          <a:ln/>
        </p:spPr>
        <p:txBody>
          <a:bodyPr wrap="square" lIns="0" tIns="0" rIns="0" bIns="0" rtlCol="0" anchor="ctr"/>
          <a:lstStyle/>
          <a:p>
            <a:pPr indent="0" marL="0">
              <a:buNone/>
            </a:pPr>
            <a:r>
              <a:rPr lang="en-US" sz="1400" dirty="0">
                <a:solidFill>
                  <a:srgbClr val="4A5A69"/>
                </a:solidFill>
                <a:latin typeface="Calibri" pitchFamily="34" charset="0"/>
                <a:ea typeface="Calibri" pitchFamily="34" charset="-122"/>
                <a:cs typeface="Calibri" pitchFamily="34" charset="-120"/>
              </a:rPr>
              <a:t>have a correct method to use</a:t>
            </a:r>
            <a:endParaRPr lang="en-US" sz="1400" dirty="0"/>
          </a:p>
        </p:txBody>
      </p:sp>
      <p:sp>
        <p:nvSpPr>
          <p:cNvPr id="12" name="Text 10"/>
          <p:cNvSpPr txBox="1"/>
          <p:nvPr/>
        </p:nvSpPr>
        <p:spPr>
          <a:xfrm>
            <a:off x="6949440" y="3291840"/>
            <a:ext cx="1371600" cy="777240"/>
          </a:xfrm>
          <a:prstGeom prst="rect">
            <a:avLst/>
          </a:prstGeom>
          <a:noFill/>
          <a:ln/>
        </p:spPr>
        <p:txBody>
          <a:bodyPr wrap="square" lIns="0" tIns="0" rIns="0" bIns="0" rtlCol="0" anchor="ctr"/>
          <a:lstStyle/>
          <a:p>
            <a:pPr indent="0" marL="0">
              <a:buNone/>
            </a:pPr>
            <a:r>
              <a:rPr lang="en-US" sz="5200" b="1" dirty="0">
                <a:solidFill>
                  <a:srgbClr val="C8891B"/>
                </a:solidFill>
                <a:latin typeface="Cambria" pitchFamily="34" charset="0"/>
                <a:ea typeface="Cambria" pitchFamily="34" charset="-122"/>
                <a:cs typeface="Cambria" pitchFamily="34" charset="-120"/>
              </a:rPr>
              <a:t>12</a:t>
            </a:r>
            <a:endParaRPr lang="en-US" sz="5200" dirty="0"/>
          </a:p>
        </p:txBody>
      </p:sp>
      <p:sp>
        <p:nvSpPr>
          <p:cNvPr id="13" name="Text 11"/>
          <p:cNvSpPr txBox="1"/>
          <p:nvPr/>
        </p:nvSpPr>
        <p:spPr>
          <a:xfrm>
            <a:off x="8366760" y="3474720"/>
            <a:ext cx="2926080" cy="640080"/>
          </a:xfrm>
          <a:prstGeom prst="rect">
            <a:avLst/>
          </a:prstGeom>
          <a:noFill/>
          <a:ln/>
        </p:spPr>
        <p:txBody>
          <a:bodyPr wrap="square" lIns="0" tIns="0" rIns="0" bIns="0" rtlCol="0" anchor="ctr"/>
          <a:lstStyle/>
          <a:p>
            <a:pPr indent="0" marL="0">
              <a:buNone/>
            </a:pPr>
            <a:r>
              <a:rPr lang="en-US" sz="1400" dirty="0">
                <a:solidFill>
                  <a:srgbClr val="4A5A69"/>
                </a:solidFill>
                <a:latin typeface="Calibri" pitchFamily="34" charset="0"/>
                <a:ea typeface="Calibri" pitchFamily="34" charset="-122"/>
                <a:cs typeface="Calibri" pitchFamily="34" charset="-120"/>
              </a:rPr>
              <a:t>have none — declining is the right answer</a:t>
            </a:r>
            <a:endParaRPr lang="en-US" sz="1400" dirty="0"/>
          </a:p>
        </p:txBody>
      </p:sp>
      <p:sp>
        <p:nvSpPr>
          <p:cNvPr id="14" name="Text 12"/>
          <p:cNvSpPr txBox="1"/>
          <p:nvPr/>
        </p:nvSpPr>
        <p:spPr>
          <a:xfrm>
            <a:off x="6949440" y="4434840"/>
            <a:ext cx="4297680" cy="685800"/>
          </a:xfrm>
          <a:prstGeom prst="rect">
            <a:avLst/>
          </a:prstGeom>
          <a:noFill/>
          <a:ln/>
        </p:spPr>
        <p:txBody>
          <a:bodyPr wrap="square" lIns="0" tIns="0" rIns="0" bIns="0" rtlCol="0" anchor="ctr"/>
          <a:lstStyle/>
          <a:p>
            <a:pPr indent="0" marL="0">
              <a:lnSpc>
                <a:spcPts val="1900"/>
              </a:lnSpc>
              <a:buNone/>
            </a:pPr>
            <a:r>
              <a:rPr lang="en-US" sz="1300" i="1" dirty="0">
                <a:solidFill>
                  <a:srgbClr val="8496A6"/>
                </a:solidFill>
                <a:latin typeface="Calibri" pitchFamily="34" charset="0"/>
                <a:ea typeface="Calibri" pitchFamily="34" charset="-122"/>
                <a:cs typeface="Calibri" pitchFamily="34" charset="-120"/>
              </a:rPr>
              <a:t>Those 12 are the safety test. Answering them at all is the dangerous mistake.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DESIGN IDEA 2</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The AI is not allowed to type a number</a:t>
            </a:r>
            <a:endParaRPr lang="en-US" sz="3200" dirty="0"/>
          </a:p>
        </p:txBody>
      </p:sp>
      <p:sp>
        <p:nvSpPr>
          <p:cNvPr id="4" name="Text 2"/>
          <p:cNvSpPr txBox="1"/>
          <p:nvPr/>
        </p:nvSpPr>
        <p:spPr>
          <a:xfrm>
            <a:off x="640080" y="1572768"/>
            <a:ext cx="10424160" cy="749808"/>
          </a:xfrm>
          <a:prstGeom prst="rect">
            <a:avLst/>
          </a:prstGeom>
          <a:noFill/>
          <a:ln/>
        </p:spPr>
        <p:txBody>
          <a:bodyPr wrap="square" lIns="0" tIns="0" rIns="0" bIns="0" rtlCol="0" anchor="ctr"/>
          <a:lstStyle/>
          <a:p>
            <a:pPr indent="0" marL="0">
              <a:lnSpc>
                <a:spcPts val="2500"/>
              </a:lnSpc>
              <a:buNone/>
            </a:pPr>
            <a:r>
              <a:rPr lang="en-US" sz="1700" dirty="0">
                <a:solidFill>
                  <a:srgbClr val="4A5A69"/>
                </a:solidFill>
                <a:latin typeface="Calibri" pitchFamily="34" charset="0"/>
                <a:ea typeface="Calibri" pitchFamily="34" charset="-122"/>
                <a:cs typeface="Calibri" pitchFamily="34" charset="-120"/>
              </a:rPr>
              <a:t>The biggest risk with an AI writing a report is that it produces a convincing number that came from nowhere.</a:t>
            </a:r>
            <a:endParaRPr lang="en-US" sz="1700" dirty="0"/>
          </a:p>
        </p:txBody>
      </p:sp>
      <p:sp>
        <p:nvSpPr>
          <p:cNvPr id="5" name="Text 3"/>
          <p:cNvSpPr txBox="1"/>
          <p:nvPr/>
        </p:nvSpPr>
        <p:spPr>
          <a:xfrm>
            <a:off x="640080" y="2395728"/>
            <a:ext cx="10424160" cy="658368"/>
          </a:xfrm>
          <a:prstGeom prst="rect">
            <a:avLst/>
          </a:prstGeom>
          <a:noFill/>
          <a:ln/>
        </p:spPr>
        <p:txBody>
          <a:bodyPr wrap="square" lIns="0" tIns="0" rIns="0" bIns="0" rtlCol="0" anchor="ctr"/>
          <a:lstStyle/>
          <a:p>
            <a:pPr indent="0" marL="0">
              <a:buNone/>
            </a:pPr>
            <a:r>
              <a:rPr lang="en-US" sz="2000" b="1" dirty="0">
                <a:solidFill>
                  <a:srgbClr val="16222E"/>
                </a:solidFill>
                <a:latin typeface="Cambria" pitchFamily="34" charset="0"/>
                <a:ea typeface="Cambria" pitchFamily="34" charset="-122"/>
                <a:cs typeface="Cambria" pitchFamily="34" charset="-120"/>
              </a:rPr>
              <a:t>Rather than checking the finished report for invented numbers, the system makes inventing them impossible.</a:t>
            </a:r>
            <a:endParaRPr lang="en-US" sz="2000" dirty="0"/>
          </a:p>
        </p:txBody>
      </p:sp>
      <p:sp>
        <p:nvSpPr>
          <p:cNvPr id="6" name="Shape 4"/>
          <p:cNvSpPr/>
          <p:nvPr/>
        </p:nvSpPr>
        <p:spPr>
          <a:xfrm>
            <a:off x="640080" y="3182112"/>
            <a:ext cx="2606040" cy="2057400"/>
          </a:xfrm>
          <a:prstGeom prst="roundRect">
            <a:avLst>
              <a:gd name="adj" fmla="val 26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7" name="Text 5"/>
          <p:cNvSpPr txBox="1"/>
          <p:nvPr/>
        </p:nvSpPr>
        <p:spPr>
          <a:xfrm>
            <a:off x="896112" y="3383280"/>
            <a:ext cx="548640" cy="502920"/>
          </a:xfrm>
          <a:prstGeom prst="rect">
            <a:avLst/>
          </a:prstGeom>
          <a:noFill/>
          <a:ln/>
        </p:spPr>
        <p:txBody>
          <a:bodyPr wrap="square" lIns="0" tIns="0" rIns="0" bIns="0" rtlCol="0" anchor="ctr"/>
          <a:lstStyle/>
          <a:p>
            <a:pPr indent="0" marL="0">
              <a:buNone/>
            </a:pPr>
            <a:r>
              <a:rPr lang="en-US" sz="3000" b="1" dirty="0">
                <a:solidFill>
                  <a:srgbClr val="129B68"/>
                </a:solidFill>
                <a:latin typeface="Cambria" pitchFamily="34" charset="0"/>
                <a:ea typeface="Cambria" pitchFamily="34" charset="-122"/>
                <a:cs typeface="Cambria" pitchFamily="34" charset="-120"/>
              </a:rPr>
              <a:t>1</a:t>
            </a:r>
            <a:endParaRPr lang="en-US" sz="3000" dirty="0"/>
          </a:p>
        </p:txBody>
      </p:sp>
      <p:sp>
        <p:nvSpPr>
          <p:cNvPr id="8" name="Text 6"/>
          <p:cNvSpPr txBox="1"/>
          <p:nvPr/>
        </p:nvSpPr>
        <p:spPr>
          <a:xfrm>
            <a:off x="896112" y="3950208"/>
            <a:ext cx="2148840" cy="438912"/>
          </a:xfrm>
          <a:prstGeom prst="rect">
            <a:avLst/>
          </a:prstGeom>
          <a:noFill/>
          <a:ln/>
        </p:spPr>
        <p:txBody>
          <a:bodyPr wrap="square" lIns="0" tIns="0" rIns="0" bIns="0" rtlCol="0" anchor="ctr"/>
          <a:lstStyle/>
          <a:p>
            <a:pPr indent="0" marL="0">
              <a:buNone/>
            </a:pPr>
            <a:r>
              <a:rPr lang="en-US" sz="1500" b="1" dirty="0">
                <a:solidFill>
                  <a:srgbClr val="16222E"/>
                </a:solidFill>
                <a:latin typeface="Calibri" pitchFamily="34" charset="0"/>
                <a:ea typeface="Calibri" pitchFamily="34" charset="-122"/>
                <a:cs typeface="Calibri" pitchFamily="34" charset="-120"/>
              </a:rPr>
              <a:t>Every result is filed</a:t>
            </a:r>
            <a:endParaRPr lang="en-US" sz="1500" dirty="0"/>
          </a:p>
        </p:txBody>
      </p:sp>
      <p:sp>
        <p:nvSpPr>
          <p:cNvPr id="9" name="Text 7"/>
          <p:cNvSpPr txBox="1"/>
          <p:nvPr/>
        </p:nvSpPr>
        <p:spPr>
          <a:xfrm>
            <a:off x="896112" y="4443984"/>
            <a:ext cx="2148840" cy="713232"/>
          </a:xfrm>
          <a:prstGeom prst="rect">
            <a:avLst/>
          </a:prstGeom>
          <a:noFill/>
          <a:ln/>
        </p:spPr>
        <p:txBody>
          <a:bodyPr wrap="square" lIns="0" tIns="0" rIns="0" bIns="0" rtlCol="0" anchor="ctr"/>
          <a:lstStyle/>
          <a:p>
            <a:pPr indent="0" marL="0">
              <a:lnSpc>
                <a:spcPts val="1700"/>
              </a:lnSpc>
              <a:buNone/>
            </a:pPr>
            <a:r>
              <a:rPr lang="en-US" sz="1250" dirty="0">
                <a:solidFill>
                  <a:srgbClr val="4A5A69"/>
                </a:solidFill>
                <a:latin typeface="Calibri" pitchFamily="34" charset="0"/>
                <a:ea typeface="Calibri" pitchFamily="34" charset="-122"/>
                <a:cs typeface="Calibri" pitchFamily="34" charset="-120"/>
              </a:rPr>
              <a:t>When a real calculation runs, its answer is stored under a label.</a:t>
            </a:r>
            <a:endParaRPr lang="en-US" sz="1250" dirty="0"/>
          </a:p>
        </p:txBody>
      </p:sp>
      <p:sp>
        <p:nvSpPr>
          <p:cNvPr id="10" name="Shape 8"/>
          <p:cNvSpPr/>
          <p:nvPr/>
        </p:nvSpPr>
        <p:spPr>
          <a:xfrm>
            <a:off x="3429000" y="3182112"/>
            <a:ext cx="2606040" cy="2057400"/>
          </a:xfrm>
          <a:prstGeom prst="roundRect">
            <a:avLst>
              <a:gd name="adj" fmla="val 26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1" name="Text 9"/>
          <p:cNvSpPr txBox="1"/>
          <p:nvPr/>
        </p:nvSpPr>
        <p:spPr>
          <a:xfrm>
            <a:off x="3685032" y="3383280"/>
            <a:ext cx="548640" cy="502920"/>
          </a:xfrm>
          <a:prstGeom prst="rect">
            <a:avLst/>
          </a:prstGeom>
          <a:noFill/>
          <a:ln/>
        </p:spPr>
        <p:txBody>
          <a:bodyPr wrap="square" lIns="0" tIns="0" rIns="0" bIns="0" rtlCol="0" anchor="ctr"/>
          <a:lstStyle/>
          <a:p>
            <a:pPr indent="0" marL="0">
              <a:buNone/>
            </a:pPr>
            <a:r>
              <a:rPr lang="en-US" sz="3000" b="1" dirty="0">
                <a:solidFill>
                  <a:srgbClr val="129B68"/>
                </a:solidFill>
                <a:latin typeface="Cambria" pitchFamily="34" charset="0"/>
                <a:ea typeface="Cambria" pitchFamily="34" charset="-122"/>
                <a:cs typeface="Cambria" pitchFamily="34" charset="-120"/>
              </a:rPr>
              <a:t>2</a:t>
            </a:r>
            <a:endParaRPr lang="en-US" sz="3000" dirty="0"/>
          </a:p>
        </p:txBody>
      </p:sp>
      <p:sp>
        <p:nvSpPr>
          <p:cNvPr id="12" name="Text 10"/>
          <p:cNvSpPr txBox="1"/>
          <p:nvPr/>
        </p:nvSpPr>
        <p:spPr>
          <a:xfrm>
            <a:off x="3685032" y="3950208"/>
            <a:ext cx="2148840" cy="438912"/>
          </a:xfrm>
          <a:prstGeom prst="rect">
            <a:avLst/>
          </a:prstGeom>
          <a:noFill/>
          <a:ln/>
        </p:spPr>
        <p:txBody>
          <a:bodyPr wrap="square" lIns="0" tIns="0" rIns="0" bIns="0" rtlCol="0" anchor="ctr"/>
          <a:lstStyle/>
          <a:p>
            <a:pPr indent="0" marL="0">
              <a:buNone/>
            </a:pPr>
            <a:r>
              <a:rPr lang="en-US" sz="1500" b="1" dirty="0">
                <a:solidFill>
                  <a:srgbClr val="16222E"/>
                </a:solidFill>
                <a:latin typeface="Calibri" pitchFamily="34" charset="0"/>
                <a:ea typeface="Calibri" pitchFamily="34" charset="-122"/>
                <a:cs typeface="Calibri" pitchFamily="34" charset="-120"/>
              </a:rPr>
              <a:t>The AI writes labels</a:t>
            </a:r>
            <a:endParaRPr lang="en-US" sz="1500" dirty="0"/>
          </a:p>
        </p:txBody>
      </p:sp>
      <p:sp>
        <p:nvSpPr>
          <p:cNvPr id="13" name="Text 11"/>
          <p:cNvSpPr txBox="1"/>
          <p:nvPr/>
        </p:nvSpPr>
        <p:spPr>
          <a:xfrm>
            <a:off x="3685032" y="4443984"/>
            <a:ext cx="2148840" cy="713232"/>
          </a:xfrm>
          <a:prstGeom prst="rect">
            <a:avLst/>
          </a:prstGeom>
          <a:noFill/>
          <a:ln/>
        </p:spPr>
        <p:txBody>
          <a:bodyPr wrap="square" lIns="0" tIns="0" rIns="0" bIns="0" rtlCol="0" anchor="ctr"/>
          <a:lstStyle/>
          <a:p>
            <a:pPr indent="0" marL="0">
              <a:lnSpc>
                <a:spcPts val="1700"/>
              </a:lnSpc>
              <a:buNone/>
            </a:pPr>
            <a:r>
              <a:rPr lang="en-US" sz="1250" dirty="0">
                <a:solidFill>
                  <a:srgbClr val="4A5A69"/>
                </a:solidFill>
                <a:latin typeface="Calibri" pitchFamily="34" charset="0"/>
                <a:ea typeface="Calibri" pitchFamily="34" charset="-122"/>
                <a:cs typeface="Calibri" pitchFamily="34" charset="-120"/>
              </a:rPr>
              <a:t>In its report it writes the label, never a digit.</a:t>
            </a:r>
            <a:endParaRPr lang="en-US" sz="1250" dirty="0"/>
          </a:p>
        </p:txBody>
      </p:sp>
      <p:sp>
        <p:nvSpPr>
          <p:cNvPr id="14" name="Shape 12"/>
          <p:cNvSpPr/>
          <p:nvPr/>
        </p:nvSpPr>
        <p:spPr>
          <a:xfrm>
            <a:off x="6217920" y="3182112"/>
            <a:ext cx="2606040" cy="2057400"/>
          </a:xfrm>
          <a:prstGeom prst="roundRect">
            <a:avLst>
              <a:gd name="adj" fmla="val 26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5" name="Text 13"/>
          <p:cNvSpPr txBox="1"/>
          <p:nvPr/>
        </p:nvSpPr>
        <p:spPr>
          <a:xfrm>
            <a:off x="6473952" y="3383280"/>
            <a:ext cx="548640" cy="502920"/>
          </a:xfrm>
          <a:prstGeom prst="rect">
            <a:avLst/>
          </a:prstGeom>
          <a:noFill/>
          <a:ln/>
        </p:spPr>
        <p:txBody>
          <a:bodyPr wrap="square" lIns="0" tIns="0" rIns="0" bIns="0" rtlCol="0" anchor="ctr"/>
          <a:lstStyle/>
          <a:p>
            <a:pPr indent="0" marL="0">
              <a:buNone/>
            </a:pPr>
            <a:r>
              <a:rPr lang="en-US" sz="3000" b="1" dirty="0">
                <a:solidFill>
                  <a:srgbClr val="129B68"/>
                </a:solidFill>
                <a:latin typeface="Cambria" pitchFamily="34" charset="0"/>
                <a:ea typeface="Cambria" pitchFamily="34" charset="-122"/>
                <a:cs typeface="Cambria" pitchFamily="34" charset="-120"/>
              </a:rPr>
              <a:t>3</a:t>
            </a:r>
            <a:endParaRPr lang="en-US" sz="3000" dirty="0"/>
          </a:p>
        </p:txBody>
      </p:sp>
      <p:sp>
        <p:nvSpPr>
          <p:cNvPr id="16" name="Text 14"/>
          <p:cNvSpPr txBox="1"/>
          <p:nvPr/>
        </p:nvSpPr>
        <p:spPr>
          <a:xfrm>
            <a:off x="6473952" y="3950208"/>
            <a:ext cx="2148840" cy="438912"/>
          </a:xfrm>
          <a:prstGeom prst="rect">
            <a:avLst/>
          </a:prstGeom>
          <a:noFill/>
          <a:ln/>
        </p:spPr>
        <p:txBody>
          <a:bodyPr wrap="square" lIns="0" tIns="0" rIns="0" bIns="0" rtlCol="0" anchor="ctr"/>
          <a:lstStyle/>
          <a:p>
            <a:pPr indent="0" marL="0">
              <a:buNone/>
            </a:pPr>
            <a:r>
              <a:rPr lang="en-US" sz="1500" b="1" dirty="0">
                <a:solidFill>
                  <a:srgbClr val="16222E"/>
                </a:solidFill>
                <a:latin typeface="Calibri" pitchFamily="34" charset="0"/>
                <a:ea typeface="Calibri" pitchFamily="34" charset="-122"/>
                <a:cs typeface="Calibri" pitchFamily="34" charset="-120"/>
              </a:rPr>
              <a:t>The label is swapped</a:t>
            </a:r>
            <a:endParaRPr lang="en-US" sz="1500" dirty="0"/>
          </a:p>
        </p:txBody>
      </p:sp>
      <p:sp>
        <p:nvSpPr>
          <p:cNvPr id="17" name="Text 15"/>
          <p:cNvSpPr txBox="1"/>
          <p:nvPr/>
        </p:nvSpPr>
        <p:spPr>
          <a:xfrm>
            <a:off x="6473952" y="4443984"/>
            <a:ext cx="2148840" cy="713232"/>
          </a:xfrm>
          <a:prstGeom prst="rect">
            <a:avLst/>
          </a:prstGeom>
          <a:noFill/>
          <a:ln/>
        </p:spPr>
        <p:txBody>
          <a:bodyPr wrap="square" lIns="0" tIns="0" rIns="0" bIns="0" rtlCol="0" anchor="ctr"/>
          <a:lstStyle/>
          <a:p>
            <a:pPr indent="0" marL="0">
              <a:lnSpc>
                <a:spcPts val="1700"/>
              </a:lnSpc>
              <a:buNone/>
            </a:pPr>
            <a:r>
              <a:rPr lang="en-US" sz="1250" dirty="0">
                <a:solidFill>
                  <a:srgbClr val="4A5A69"/>
                </a:solidFill>
                <a:latin typeface="Calibri" pitchFamily="34" charset="0"/>
                <a:ea typeface="Calibri" pitchFamily="34" charset="-122"/>
                <a:cs typeface="Calibri" pitchFamily="34" charset="-120"/>
              </a:rPr>
              <a:t>At the end, each label is replaced by the stored number.</a:t>
            </a:r>
            <a:endParaRPr lang="en-US" sz="1250" dirty="0"/>
          </a:p>
        </p:txBody>
      </p:sp>
      <p:sp>
        <p:nvSpPr>
          <p:cNvPr id="18" name="Shape 16"/>
          <p:cNvSpPr/>
          <p:nvPr/>
        </p:nvSpPr>
        <p:spPr>
          <a:xfrm>
            <a:off x="9006840" y="3182112"/>
            <a:ext cx="2606040" cy="2057400"/>
          </a:xfrm>
          <a:prstGeom prst="roundRect">
            <a:avLst>
              <a:gd name="adj" fmla="val 26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9" name="Text 17"/>
          <p:cNvSpPr txBox="1"/>
          <p:nvPr/>
        </p:nvSpPr>
        <p:spPr>
          <a:xfrm>
            <a:off x="9262872" y="3383280"/>
            <a:ext cx="548640" cy="502920"/>
          </a:xfrm>
          <a:prstGeom prst="rect">
            <a:avLst/>
          </a:prstGeom>
          <a:noFill/>
          <a:ln/>
        </p:spPr>
        <p:txBody>
          <a:bodyPr wrap="square" lIns="0" tIns="0" rIns="0" bIns="0" rtlCol="0" anchor="ctr"/>
          <a:lstStyle/>
          <a:p>
            <a:pPr indent="0" marL="0">
              <a:buNone/>
            </a:pPr>
            <a:r>
              <a:rPr lang="en-US" sz="3000" b="1" dirty="0">
                <a:solidFill>
                  <a:srgbClr val="DD6027"/>
                </a:solidFill>
                <a:latin typeface="Cambria" pitchFamily="34" charset="0"/>
                <a:ea typeface="Cambria" pitchFamily="34" charset="-122"/>
                <a:cs typeface="Cambria" pitchFamily="34" charset="-120"/>
              </a:rPr>
              <a:t>4</a:t>
            </a:r>
            <a:endParaRPr lang="en-US" sz="3000" dirty="0"/>
          </a:p>
        </p:txBody>
      </p:sp>
      <p:sp>
        <p:nvSpPr>
          <p:cNvPr id="20" name="Text 18"/>
          <p:cNvSpPr txBox="1"/>
          <p:nvPr/>
        </p:nvSpPr>
        <p:spPr>
          <a:xfrm>
            <a:off x="9262872" y="3950208"/>
            <a:ext cx="2148840" cy="438912"/>
          </a:xfrm>
          <a:prstGeom prst="rect">
            <a:avLst/>
          </a:prstGeom>
          <a:noFill/>
          <a:ln/>
        </p:spPr>
        <p:txBody>
          <a:bodyPr wrap="square" lIns="0" tIns="0" rIns="0" bIns="0" rtlCol="0" anchor="ctr"/>
          <a:lstStyle/>
          <a:p>
            <a:pPr indent="0" marL="0">
              <a:buNone/>
            </a:pPr>
            <a:r>
              <a:rPr lang="en-US" sz="1500" b="1" dirty="0">
                <a:solidFill>
                  <a:srgbClr val="16222E"/>
                </a:solidFill>
                <a:latin typeface="Calibri" pitchFamily="34" charset="0"/>
                <a:ea typeface="Calibri" pitchFamily="34" charset="-122"/>
                <a:cs typeface="Calibri" pitchFamily="34" charset="-120"/>
              </a:rPr>
              <a:t>Unknown label fails</a:t>
            </a:r>
            <a:endParaRPr lang="en-US" sz="1500" dirty="0"/>
          </a:p>
        </p:txBody>
      </p:sp>
      <p:sp>
        <p:nvSpPr>
          <p:cNvPr id="21" name="Text 19"/>
          <p:cNvSpPr txBox="1"/>
          <p:nvPr/>
        </p:nvSpPr>
        <p:spPr>
          <a:xfrm>
            <a:off x="9262872" y="4443984"/>
            <a:ext cx="2148840" cy="713232"/>
          </a:xfrm>
          <a:prstGeom prst="rect">
            <a:avLst/>
          </a:prstGeom>
          <a:noFill/>
          <a:ln/>
        </p:spPr>
        <p:txBody>
          <a:bodyPr wrap="square" lIns="0" tIns="0" rIns="0" bIns="0" rtlCol="0" anchor="ctr"/>
          <a:lstStyle/>
          <a:p>
            <a:pPr indent="0" marL="0">
              <a:lnSpc>
                <a:spcPts val="1700"/>
              </a:lnSpc>
              <a:buNone/>
            </a:pPr>
            <a:r>
              <a:rPr lang="en-US" sz="1250" dirty="0">
                <a:solidFill>
                  <a:srgbClr val="4A5A69"/>
                </a:solidFill>
                <a:latin typeface="Calibri" pitchFamily="34" charset="0"/>
                <a:ea typeface="Calibri" pitchFamily="34" charset="-122"/>
                <a:cs typeface="Calibri" pitchFamily="34" charset="-120"/>
              </a:rPr>
              <a:t>If it invents a label, the whole run is rejected.</a:t>
            </a:r>
            <a:endParaRPr lang="en-US" sz="1250" dirty="0"/>
          </a:p>
        </p:txBody>
      </p:sp>
      <p:sp>
        <p:nvSpPr>
          <p:cNvPr id="22" name="Text 20"/>
          <p:cNvSpPr txBox="1"/>
          <p:nvPr/>
        </p:nvSpPr>
        <p:spPr>
          <a:xfrm>
            <a:off x="640080" y="5440680"/>
            <a:ext cx="10424160" cy="457200"/>
          </a:xfrm>
          <a:prstGeom prst="rect">
            <a:avLst/>
          </a:prstGeom>
          <a:noFill/>
          <a:ln/>
        </p:spPr>
        <p:txBody>
          <a:bodyPr wrap="square" lIns="0" tIns="0" rIns="0" bIns="0" rtlCol="0" anchor="ctr"/>
          <a:lstStyle/>
          <a:p>
            <a:pPr indent="0" marL="0">
              <a:buNone/>
            </a:pPr>
            <a:r>
              <a:rPr lang="en-US" sz="1500" i="1" dirty="0">
                <a:solidFill>
                  <a:srgbClr val="129B68"/>
                </a:solidFill>
                <a:latin typeface="Calibri" pitchFamily="34" charset="0"/>
                <a:ea typeface="Calibri" pitchFamily="34" charset="-122"/>
                <a:cs typeface="Calibri" pitchFamily="34" charset="-120"/>
              </a:rPr>
              <a:t>Every number in every report traces back to a calculation that actually ran.</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THE METHOD</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How it was tested</a:t>
            </a:r>
            <a:endParaRPr lang="en-US" sz="3200" dirty="0"/>
          </a:p>
        </p:txBody>
      </p:sp>
      <p:sp>
        <p:nvSpPr>
          <p:cNvPr id="4" name="Text 2"/>
          <p:cNvSpPr txBox="1"/>
          <p:nvPr/>
        </p:nvSpPr>
        <p:spPr>
          <a:xfrm>
            <a:off x="640080" y="1600200"/>
            <a:ext cx="2468880" cy="914400"/>
          </a:xfrm>
          <a:prstGeom prst="rect">
            <a:avLst/>
          </a:prstGeom>
          <a:noFill/>
          <a:ln/>
        </p:spPr>
        <p:txBody>
          <a:bodyPr wrap="square" lIns="0" tIns="0" rIns="0" bIns="0" rtlCol="0" anchor="ctr"/>
          <a:lstStyle/>
          <a:p>
            <a:pPr indent="0" marL="0">
              <a:buNone/>
            </a:pPr>
            <a:r>
              <a:rPr lang="en-US" sz="5800" b="1" dirty="0">
                <a:solidFill>
                  <a:srgbClr val="129B68"/>
                </a:solidFill>
                <a:latin typeface="Cambria" pitchFamily="34" charset="0"/>
                <a:ea typeface="Cambria" pitchFamily="34" charset="-122"/>
                <a:cs typeface="Cambria" pitchFamily="34" charset="-120"/>
              </a:rPr>
              <a:t>64</a:t>
            </a:r>
            <a:endParaRPr lang="en-US" sz="5800" dirty="0"/>
          </a:p>
        </p:txBody>
      </p:sp>
      <p:sp>
        <p:nvSpPr>
          <p:cNvPr id="5" name="Text 3"/>
          <p:cNvSpPr txBox="1"/>
          <p:nvPr/>
        </p:nvSpPr>
        <p:spPr>
          <a:xfrm>
            <a:off x="640080" y="2578608"/>
            <a:ext cx="2468880" cy="731520"/>
          </a:xfrm>
          <a:prstGeom prst="rect">
            <a:avLst/>
          </a:prstGeom>
          <a:noFill/>
          <a:ln/>
        </p:spPr>
        <p:txBody>
          <a:bodyPr wrap="square" lIns="0" tIns="0" rIns="0" bIns="0" rtlCol="0" anchor="ctr"/>
          <a:lstStyle/>
          <a:p>
            <a:pPr indent="0" marL="0">
              <a:lnSpc>
                <a:spcPts val="1900"/>
              </a:lnSpc>
              <a:buNone/>
            </a:pPr>
            <a:r>
              <a:rPr lang="en-US" sz="1400" dirty="0">
                <a:solidFill>
                  <a:srgbClr val="4A5A69"/>
                </a:solidFill>
                <a:latin typeface="Calibri" pitchFamily="34" charset="0"/>
                <a:ea typeface="Calibri" pitchFamily="34" charset="-122"/>
                <a:cs typeface="Calibri" pitchFamily="34" charset="-120"/>
              </a:rPr>
              <a:t>problems built</a:t>
            </a:r>
            <a:endParaRPr lang="en-US" sz="1400" dirty="0"/>
          </a:p>
          <a:p>
            <a:pPr indent="0" marL="0">
              <a:lnSpc>
                <a:spcPts val="1900"/>
              </a:lnSpc>
              <a:buNone/>
            </a:pPr>
            <a:r>
              <a:rPr lang="en-US" sz="1400" dirty="0">
                <a:solidFill>
                  <a:srgbClr val="4A5A69"/>
                </a:solidFill>
                <a:latin typeface="Calibri" pitchFamily="34" charset="0"/>
                <a:ea typeface="Calibri" pitchFamily="34" charset="-122"/>
                <a:cs typeface="Calibri" pitchFamily="34" charset="-120"/>
              </a:rPr>
              <a:t>from scratch</a:t>
            </a:r>
            <a:endParaRPr lang="en-US" sz="1400" dirty="0"/>
          </a:p>
        </p:txBody>
      </p:sp>
      <p:sp>
        <p:nvSpPr>
          <p:cNvPr id="6" name="Text 4"/>
          <p:cNvSpPr txBox="1"/>
          <p:nvPr/>
        </p:nvSpPr>
        <p:spPr>
          <a:xfrm>
            <a:off x="3383280" y="1600200"/>
            <a:ext cx="2468880" cy="914400"/>
          </a:xfrm>
          <a:prstGeom prst="rect">
            <a:avLst/>
          </a:prstGeom>
          <a:noFill/>
          <a:ln/>
        </p:spPr>
        <p:txBody>
          <a:bodyPr wrap="square" lIns="0" tIns="0" rIns="0" bIns="0" rtlCol="0" anchor="ctr"/>
          <a:lstStyle/>
          <a:p>
            <a:pPr indent="0" marL="0">
              <a:buNone/>
            </a:pPr>
            <a:r>
              <a:rPr lang="en-US" sz="5800" b="1" dirty="0">
                <a:solidFill>
                  <a:srgbClr val="2F6FD0"/>
                </a:solidFill>
                <a:latin typeface="Cambria" pitchFamily="34" charset="0"/>
                <a:ea typeface="Cambria" pitchFamily="34" charset="-122"/>
                <a:cs typeface="Cambria" pitchFamily="34" charset="-120"/>
              </a:rPr>
              <a:t>48</a:t>
            </a:r>
            <a:endParaRPr lang="en-US" sz="5800" dirty="0"/>
          </a:p>
        </p:txBody>
      </p:sp>
      <p:sp>
        <p:nvSpPr>
          <p:cNvPr id="7" name="Text 5"/>
          <p:cNvSpPr txBox="1"/>
          <p:nvPr/>
        </p:nvSpPr>
        <p:spPr>
          <a:xfrm>
            <a:off x="3383280" y="2578608"/>
            <a:ext cx="2468880" cy="731520"/>
          </a:xfrm>
          <a:prstGeom prst="rect">
            <a:avLst/>
          </a:prstGeom>
          <a:noFill/>
          <a:ln/>
        </p:spPr>
        <p:txBody>
          <a:bodyPr wrap="square" lIns="0" tIns="0" rIns="0" bIns="0" rtlCol="0" anchor="ctr"/>
          <a:lstStyle/>
          <a:p>
            <a:pPr indent="0" marL="0">
              <a:lnSpc>
                <a:spcPts val="1900"/>
              </a:lnSpc>
              <a:buNone/>
            </a:pPr>
            <a:r>
              <a:rPr lang="en-US" sz="1400" dirty="0">
                <a:solidFill>
                  <a:srgbClr val="4A5A69"/>
                </a:solidFill>
                <a:latin typeface="Calibri" pitchFamily="34" charset="0"/>
                <a:ea typeface="Calibri" pitchFamily="34" charset="-122"/>
                <a:cs typeface="Calibri" pitchFamily="34" charset="-120"/>
              </a:rPr>
              <a:t>locked away</a:t>
            </a:r>
            <a:endParaRPr lang="en-US" sz="1400" dirty="0"/>
          </a:p>
          <a:p>
            <a:pPr indent="0" marL="0">
              <a:lnSpc>
                <a:spcPts val="1900"/>
              </a:lnSpc>
              <a:buNone/>
            </a:pPr>
            <a:r>
              <a:rPr lang="en-US" sz="1400" dirty="0">
                <a:solidFill>
                  <a:srgbClr val="4A5A69"/>
                </a:solidFill>
                <a:latin typeface="Calibri" pitchFamily="34" charset="0"/>
                <a:ea typeface="Calibri" pitchFamily="34" charset="-122"/>
                <a:cs typeface="Calibri" pitchFamily="34" charset="-120"/>
              </a:rPr>
              <a:t>until the end</a:t>
            </a:r>
            <a:endParaRPr lang="en-US" sz="1400" dirty="0"/>
          </a:p>
        </p:txBody>
      </p:sp>
      <p:sp>
        <p:nvSpPr>
          <p:cNvPr id="8" name="Text 6"/>
          <p:cNvSpPr txBox="1"/>
          <p:nvPr/>
        </p:nvSpPr>
        <p:spPr>
          <a:xfrm>
            <a:off x="6126480" y="1600200"/>
            <a:ext cx="2468880" cy="914400"/>
          </a:xfrm>
          <a:prstGeom prst="rect">
            <a:avLst/>
          </a:prstGeom>
          <a:noFill/>
          <a:ln/>
        </p:spPr>
        <p:txBody>
          <a:bodyPr wrap="square" lIns="0" tIns="0" rIns="0" bIns="0" rtlCol="0" anchor="ctr"/>
          <a:lstStyle/>
          <a:p>
            <a:pPr indent="0" marL="0">
              <a:buNone/>
            </a:pPr>
            <a:r>
              <a:rPr lang="en-US" sz="5800" b="1" dirty="0">
                <a:solidFill>
                  <a:srgbClr val="14202B"/>
                </a:solidFill>
                <a:latin typeface="Cambria" pitchFamily="34" charset="0"/>
                <a:ea typeface="Cambria" pitchFamily="34" charset="-122"/>
                <a:cs typeface="Cambria" pitchFamily="34" charset="-120"/>
              </a:rPr>
              <a:t>288</a:t>
            </a:r>
            <a:endParaRPr lang="en-US" sz="5800" dirty="0"/>
          </a:p>
        </p:txBody>
      </p:sp>
      <p:sp>
        <p:nvSpPr>
          <p:cNvPr id="9" name="Text 7"/>
          <p:cNvSpPr txBox="1"/>
          <p:nvPr/>
        </p:nvSpPr>
        <p:spPr>
          <a:xfrm>
            <a:off x="6126480" y="2578608"/>
            <a:ext cx="2468880" cy="731520"/>
          </a:xfrm>
          <a:prstGeom prst="rect">
            <a:avLst/>
          </a:prstGeom>
          <a:noFill/>
          <a:ln/>
        </p:spPr>
        <p:txBody>
          <a:bodyPr wrap="square" lIns="0" tIns="0" rIns="0" bIns="0" rtlCol="0" anchor="ctr"/>
          <a:lstStyle/>
          <a:p>
            <a:pPr indent="0" marL="0">
              <a:lnSpc>
                <a:spcPts val="1900"/>
              </a:lnSpc>
              <a:buNone/>
            </a:pPr>
            <a:r>
              <a:rPr lang="en-US" sz="1400" dirty="0">
                <a:solidFill>
                  <a:srgbClr val="4A5A69"/>
                </a:solidFill>
                <a:latin typeface="Calibri" pitchFamily="34" charset="0"/>
                <a:ea typeface="Calibri" pitchFamily="34" charset="-122"/>
                <a:cs typeface="Calibri" pitchFamily="34" charset="-120"/>
              </a:rPr>
              <a:t>graded runs</a:t>
            </a:r>
            <a:endParaRPr lang="en-US" sz="1400" dirty="0"/>
          </a:p>
          <a:p>
            <a:pPr indent="0" marL="0">
              <a:lnSpc>
                <a:spcPts val="1900"/>
              </a:lnSpc>
              <a:buNone/>
            </a:pPr>
            <a:r>
              <a:rPr lang="en-US" sz="1400" dirty="0">
                <a:solidFill>
                  <a:srgbClr val="4A5A69"/>
                </a:solidFill>
                <a:latin typeface="Calibri" pitchFamily="34" charset="0"/>
                <a:ea typeface="Calibri" pitchFamily="34" charset="-122"/>
                <a:cs typeface="Calibri" pitchFamily="34" charset="-120"/>
              </a:rPr>
              <a:t>across 3 versions</a:t>
            </a:r>
            <a:endParaRPr lang="en-US" sz="1400" dirty="0"/>
          </a:p>
        </p:txBody>
      </p:sp>
      <p:sp>
        <p:nvSpPr>
          <p:cNvPr id="10" name="Shape 8"/>
          <p:cNvSpPr/>
          <p:nvPr/>
        </p:nvSpPr>
        <p:spPr>
          <a:xfrm>
            <a:off x="9052560" y="1536192"/>
            <a:ext cx="2468880" cy="1920240"/>
          </a:xfrm>
          <a:prstGeom prst="roundRect">
            <a:avLst>
              <a:gd name="adj" fmla="val 285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1" name="Text 9"/>
          <p:cNvSpPr txBox="1"/>
          <p:nvPr/>
        </p:nvSpPr>
        <p:spPr>
          <a:xfrm>
            <a:off x="9326880" y="1783080"/>
            <a:ext cx="1920240" cy="1463040"/>
          </a:xfrm>
          <a:prstGeom prst="rect">
            <a:avLst/>
          </a:prstGeom>
          <a:noFill/>
          <a:ln/>
        </p:spPr>
        <p:txBody>
          <a:bodyPr wrap="square" lIns="0" tIns="0" rIns="0" bIns="0" rtlCol="0" anchor="ctr"/>
          <a:lstStyle/>
          <a:p>
            <a:pPr indent="0" marL="0">
              <a:lnSpc>
                <a:spcPts val="1700"/>
              </a:lnSpc>
              <a:buNone/>
            </a:pPr>
            <a:r>
              <a:rPr lang="en-US" sz="1250" dirty="0">
                <a:solidFill>
                  <a:srgbClr val="4A5A69"/>
                </a:solidFill>
                <a:latin typeface="Calibri" pitchFamily="34" charset="0"/>
                <a:ea typeface="Calibri" pitchFamily="34" charset="-122"/>
                <a:cs typeface="Calibri" pitchFamily="34" charset="-120"/>
              </a:rPr>
              <a:t>Half the problems came from real public datasets, half were built so the correct answer is known by construction.</a:t>
            </a:r>
            <a:endParaRPr lang="en-US" sz="1250" dirty="0"/>
          </a:p>
        </p:txBody>
      </p:sp>
      <p:sp>
        <p:nvSpPr>
          <p:cNvPr id="12" name="Text 10"/>
          <p:cNvSpPr txBox="1"/>
          <p:nvPr/>
        </p:nvSpPr>
        <p:spPr>
          <a:xfrm>
            <a:off x="640080" y="3749040"/>
            <a:ext cx="10424160" cy="411480"/>
          </a:xfrm>
          <a:prstGeom prst="rect">
            <a:avLst/>
          </a:prstGeom>
          <a:noFill/>
          <a:ln/>
        </p:spPr>
        <p:txBody>
          <a:bodyPr wrap="square" lIns="0" tIns="0" rIns="0" bIns="0" rtlCol="0" anchor="ctr"/>
          <a:lstStyle/>
          <a:p>
            <a:pPr indent="0" marL="0">
              <a:buNone/>
            </a:pPr>
            <a:r>
              <a:rPr lang="en-US" sz="2100" b="1" dirty="0">
                <a:solidFill>
                  <a:srgbClr val="16222E"/>
                </a:solidFill>
                <a:latin typeface="Cambria" pitchFamily="34" charset="0"/>
                <a:ea typeface="Cambria" pitchFamily="34" charset="-122"/>
                <a:cs typeface="Cambria" pitchFamily="34" charset="-120"/>
              </a:rPr>
              <a:t>The part that makes it a fair test</a:t>
            </a:r>
            <a:endParaRPr lang="en-US" sz="2100" dirty="0"/>
          </a:p>
        </p:txBody>
      </p:sp>
      <p:sp>
        <p:nvSpPr>
          <p:cNvPr id="13" name="Text 11"/>
          <p:cNvSpPr txBox="1"/>
          <p:nvPr/>
        </p:nvSpPr>
        <p:spPr>
          <a:xfrm>
            <a:off x="640080" y="4251960"/>
            <a:ext cx="10424160" cy="1371600"/>
          </a:xfrm>
          <a:prstGeom prst="rect">
            <a:avLst/>
          </a:prstGeom>
          <a:noFill/>
          <a:ln/>
        </p:spPr>
        <p:txBody>
          <a:bodyPr wrap="square" lIns="0" tIns="0" rIns="0" bIns="0" rtlCol="0" anchor="ctr"/>
          <a:lstStyle/>
          <a:p>
            <a:pPr marL="342900" indent="-342900">
              <a:spcAft>
                <a:spcPts val="900"/>
              </a:spcAft>
              <a:buSzPct val="100000"/>
              <a:buChar char="•"/>
            </a:pPr>
            <a:r>
              <a:rPr lang="en-US" sz="1500" dirty="0">
                <a:solidFill>
                  <a:srgbClr val="4A5A69"/>
                </a:solidFill>
                <a:latin typeface="Calibri" pitchFamily="34" charset="0"/>
                <a:ea typeface="Calibri" pitchFamily="34" charset="-122"/>
                <a:cs typeface="Calibri" pitchFamily="34" charset="-120"/>
              </a:rPr>
              <a:t>48 of the 64 problems were sealed away and never looked at while building.</a:t>
            </a:r>
            <a:endParaRPr lang="en-US" sz="1500" dirty="0"/>
          </a:p>
          <a:p>
            <a:pPr marL="342900" indent="-342900">
              <a:spcAft>
                <a:spcPts val="900"/>
              </a:spcAft>
              <a:buSzPct val="100000"/>
              <a:buChar char="•"/>
            </a:pPr>
            <a:r>
              <a:rPr lang="en-US" sz="1500" dirty="0">
                <a:solidFill>
                  <a:srgbClr val="4A5A69"/>
                </a:solidFill>
                <a:latin typeface="Calibri" pitchFamily="34" charset="0"/>
                <a:ea typeface="Calibri" pitchFamily="34" charset="-122"/>
                <a:cs typeface="Calibri" pitchFamily="34" charset="-120"/>
              </a:rPr>
              <a:t>The instructions given to the AI were frozen and fingerprinted before those ran.</a:t>
            </a:r>
            <a:endParaRPr lang="en-US" sz="1500" dirty="0"/>
          </a:p>
          <a:p>
            <a:pPr marL="342900" indent="-342900">
              <a:spcAft>
                <a:spcPts val="900"/>
              </a:spcAft>
              <a:buSzPct val="100000"/>
              <a:buChar char="•"/>
            </a:pPr>
            <a:r>
              <a:rPr lang="en-US" sz="1500" dirty="0">
                <a:solidFill>
                  <a:srgbClr val="4A5A69"/>
                </a:solidFill>
                <a:latin typeface="Calibri" pitchFamily="34" charset="0"/>
                <a:ea typeface="Calibri" pitchFamily="34" charset="-122"/>
                <a:cs typeface="Calibri" pitchFamily="34" charset="-120"/>
              </a:rPr>
              <a:t>Each problem was run twice per version, to see whether answers stayed stable.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RESULT</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How often did each version pick correctly?</a:t>
            </a:r>
            <a:endParaRPr lang="en-US" sz="3200" dirty="0"/>
          </a:p>
        </p:txBody>
      </p:sp>
      <p:graphicFrame>
        <p:nvGraphicFramePr>
          <p:cNvPr id="4" name="Chart 0" descr=""/>
          <p:cNvGraphicFramePr/>
          <p:nvPr/>
        </p:nvGraphicFramePr>
        <p:xfrm>
          <a:off x="640080" y="1600200"/>
          <a:ext cx="6858000" cy="38862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600200"/>
            <a:ext cx="3657600" cy="3886200"/>
          </a:xfrm>
          <a:prstGeom prst="roundRect">
            <a:avLst>
              <a:gd name="adj" fmla="val 1500"/>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6" name="Text 3"/>
          <p:cNvSpPr txBox="1"/>
          <p:nvPr/>
        </p:nvSpPr>
        <p:spPr>
          <a:xfrm>
            <a:off x="8183880" y="1847088"/>
            <a:ext cx="3017520" cy="347472"/>
          </a:xfrm>
          <a:prstGeom prst="rect">
            <a:avLst/>
          </a:prstGeom>
          <a:noFill/>
          <a:ln/>
        </p:spPr>
        <p:txBody>
          <a:bodyPr wrap="square" lIns="0" tIns="0" rIns="0" bIns="0" rtlCol="0" anchor="ctr"/>
          <a:lstStyle/>
          <a:p>
            <a:pPr indent="0" marL="0">
              <a:buNone/>
            </a:pPr>
            <a:r>
              <a:rPr lang="en-US" sz="1300" b="1" spc="100" kern="0" dirty="0">
                <a:solidFill>
                  <a:srgbClr val="8496A6"/>
                </a:solidFill>
                <a:latin typeface="Calibri" pitchFamily="34" charset="0"/>
                <a:ea typeface="Calibri" pitchFamily="34" charset="-122"/>
                <a:cs typeface="Calibri" pitchFamily="34" charset="-120"/>
              </a:rPr>
              <a:t>What this says</a:t>
            </a:r>
            <a:endParaRPr lang="en-US" sz="1300" dirty="0"/>
          </a:p>
        </p:txBody>
      </p:sp>
      <p:sp>
        <p:nvSpPr>
          <p:cNvPr id="7" name="Text 4"/>
          <p:cNvSpPr txBox="1"/>
          <p:nvPr/>
        </p:nvSpPr>
        <p:spPr>
          <a:xfrm>
            <a:off x="8183880" y="2240280"/>
            <a:ext cx="3017520" cy="731520"/>
          </a:xfrm>
          <a:prstGeom prst="rect">
            <a:avLst/>
          </a:prstGeom>
          <a:noFill/>
          <a:ln/>
        </p:spPr>
        <p:txBody>
          <a:bodyPr wrap="square" lIns="0" tIns="0" rIns="0" bIns="0" rtlCol="0" anchor="ctr"/>
          <a:lstStyle/>
          <a:p>
            <a:pPr indent="0" marL="0">
              <a:buNone/>
            </a:pPr>
            <a:r>
              <a:rPr lang="en-US" sz="4800" b="1" dirty="0">
                <a:solidFill>
                  <a:srgbClr val="129B68"/>
                </a:solidFill>
                <a:latin typeface="Cambria" pitchFamily="34" charset="0"/>
                <a:ea typeface="Cambria" pitchFamily="34" charset="-122"/>
                <a:cs typeface="Cambria" pitchFamily="34" charset="-120"/>
              </a:rPr>
              <a:t>+25</a:t>
            </a:r>
            <a:endParaRPr lang="en-US" sz="4800" dirty="0"/>
          </a:p>
        </p:txBody>
      </p:sp>
      <p:sp>
        <p:nvSpPr>
          <p:cNvPr id="8" name="Text 5"/>
          <p:cNvSpPr txBox="1"/>
          <p:nvPr/>
        </p:nvSpPr>
        <p:spPr>
          <a:xfrm>
            <a:off x="8183880" y="2971800"/>
            <a:ext cx="3017520" cy="548640"/>
          </a:xfrm>
          <a:prstGeom prst="rect">
            <a:avLst/>
          </a:prstGeom>
          <a:noFill/>
          <a:ln/>
        </p:spPr>
        <p:txBody>
          <a:bodyPr wrap="square" lIns="0" tIns="0" rIns="0" bIns="0" rtlCol="0" anchor="ctr"/>
          <a:lstStyle/>
          <a:p>
            <a:pPr indent="0" marL="0">
              <a:lnSpc>
                <a:spcPts val="1900"/>
              </a:lnSpc>
              <a:buNone/>
            </a:pPr>
            <a:r>
              <a:rPr lang="en-US" sz="1400" dirty="0">
                <a:solidFill>
                  <a:srgbClr val="4A5A69"/>
                </a:solidFill>
                <a:latin typeface="Calibri" pitchFamily="34" charset="0"/>
                <a:ea typeface="Calibri" pitchFamily="34" charset="-122"/>
                <a:cs typeface="Calibri" pitchFamily="34" charset="-120"/>
              </a:rPr>
              <a:t>percentage points better than tools alone</a:t>
            </a:r>
            <a:endParaRPr lang="en-US" sz="1400" dirty="0"/>
          </a:p>
        </p:txBody>
      </p:sp>
      <p:sp>
        <p:nvSpPr>
          <p:cNvPr id="9" name="Text 6"/>
          <p:cNvSpPr txBox="1"/>
          <p:nvPr/>
        </p:nvSpPr>
        <p:spPr>
          <a:xfrm>
            <a:off x="8183880" y="3657600"/>
            <a:ext cx="3017520" cy="914400"/>
          </a:xfrm>
          <a:prstGeom prst="rect">
            <a:avLst/>
          </a:prstGeom>
          <a:noFill/>
          <a:ln/>
        </p:spPr>
        <p:txBody>
          <a:bodyPr wrap="square" lIns="0" tIns="0" rIns="0" bIns="0" rtlCol="0" anchor="ctr"/>
          <a:lstStyle/>
          <a:p>
            <a:pPr indent="0" marL="0">
              <a:lnSpc>
                <a:spcPts val="1900"/>
              </a:lnSpc>
              <a:buNone/>
            </a:pPr>
            <a:r>
              <a:rPr lang="en-US" sz="1350" dirty="0">
                <a:solidFill>
                  <a:srgbClr val="4A5A69"/>
                </a:solidFill>
                <a:latin typeface="Calibri" pitchFamily="34" charset="0"/>
                <a:ea typeface="Calibri" pitchFamily="34" charset="-122"/>
                <a:cs typeface="Calibri" pitchFamily="34" charset="-120"/>
              </a:rPr>
              <a:t>The target set at the start of the project was 10 points. This is a genuine result, not a rounding difference.</a:t>
            </a:r>
            <a:endParaRPr lang="en-US" sz="1350" dirty="0"/>
          </a:p>
        </p:txBody>
      </p:sp>
      <p:sp>
        <p:nvSpPr>
          <p:cNvPr id="10" name="Text 7"/>
          <p:cNvSpPr txBox="1"/>
          <p:nvPr/>
        </p:nvSpPr>
        <p:spPr>
          <a:xfrm>
            <a:off x="8183880" y="4617720"/>
            <a:ext cx="3017520" cy="685800"/>
          </a:xfrm>
          <a:prstGeom prst="rect">
            <a:avLst/>
          </a:prstGeom>
          <a:noFill/>
          <a:ln/>
        </p:spPr>
        <p:txBody>
          <a:bodyPr wrap="square" lIns="0" tIns="0" rIns="0" bIns="0" rtlCol="0" anchor="ctr"/>
          <a:lstStyle/>
          <a:p>
            <a:pPr indent="0" marL="0">
              <a:lnSpc>
                <a:spcPts val="1900"/>
              </a:lnSpc>
              <a:buNone/>
            </a:pPr>
            <a:r>
              <a:rPr lang="en-US" sz="1350" i="1" dirty="0">
                <a:solidFill>
                  <a:srgbClr val="DD6027"/>
                </a:solidFill>
                <a:latin typeface="Calibri" pitchFamily="34" charset="0"/>
                <a:ea typeface="Calibri" pitchFamily="34" charset="-122"/>
                <a:cs typeface="Calibri" pitchFamily="34" charset="-120"/>
              </a:rPr>
              <a:t>Giving tools without a procedure did not help at all.</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BEING HONEST</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What the evidence does and does not support</a:t>
            </a:r>
            <a:endParaRPr lang="en-US" sz="3200" dirty="0"/>
          </a:p>
        </p:txBody>
      </p:sp>
      <p:sp>
        <p:nvSpPr>
          <p:cNvPr id="4" name="Shape 2"/>
          <p:cNvSpPr/>
          <p:nvPr/>
        </p:nvSpPr>
        <p:spPr>
          <a:xfrm>
            <a:off x="640080" y="1572768"/>
            <a:ext cx="5257800" cy="2788920"/>
          </a:xfrm>
          <a:prstGeom prst="roundRect">
            <a:avLst>
              <a:gd name="adj" fmla="val 19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5" name="Shape 3"/>
          <p:cNvSpPr/>
          <p:nvPr/>
        </p:nvSpPr>
        <p:spPr>
          <a:xfrm>
            <a:off x="1005840" y="1874520"/>
            <a:ext cx="310896" cy="310896"/>
          </a:xfrm>
          <a:prstGeom prst="ellipse">
            <a:avLst/>
          </a:prstGeom>
          <a:solidFill>
            <a:srgbClr val="129B68"/>
          </a:solidFill>
          <a:ln w="12700">
            <a:solidFill>
              <a:srgbClr val="129B68"/>
            </a:solidFill>
            <a:prstDash val="solid"/>
          </a:ln>
        </p:spPr>
      </p:sp>
      <p:sp>
        <p:nvSpPr>
          <p:cNvPr id="6" name="Text 4"/>
          <p:cNvSpPr txBox="1"/>
          <p:nvPr/>
        </p:nvSpPr>
        <p:spPr>
          <a:xfrm>
            <a:off x="1005840" y="18745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7" name="Text 5"/>
          <p:cNvSpPr txBox="1"/>
          <p:nvPr/>
        </p:nvSpPr>
        <p:spPr>
          <a:xfrm>
            <a:off x="1463040" y="1828800"/>
            <a:ext cx="4023360" cy="384048"/>
          </a:xfrm>
          <a:prstGeom prst="rect">
            <a:avLst/>
          </a:prstGeom>
          <a:noFill/>
          <a:ln/>
        </p:spPr>
        <p:txBody>
          <a:bodyPr wrap="square" lIns="0" tIns="0" rIns="0" bIns="0" rtlCol="0" anchor="ctr"/>
          <a:lstStyle/>
          <a:p>
            <a:pPr indent="0" marL="0">
              <a:buNone/>
            </a:pPr>
            <a:r>
              <a:rPr lang="en-US" sz="2000" b="1" dirty="0">
                <a:solidFill>
                  <a:srgbClr val="16222E"/>
                </a:solidFill>
                <a:latin typeface="Cambria" pitchFamily="34" charset="0"/>
                <a:ea typeface="Cambria" pitchFamily="34" charset="-122"/>
                <a:cs typeface="Cambria" pitchFamily="34" charset="-120"/>
              </a:rPr>
              <a:t>Established</a:t>
            </a:r>
            <a:endParaRPr lang="en-US" sz="2000" dirty="0"/>
          </a:p>
        </p:txBody>
      </p:sp>
      <p:sp>
        <p:nvSpPr>
          <p:cNvPr id="8" name="Text 6"/>
          <p:cNvSpPr txBox="1"/>
          <p:nvPr/>
        </p:nvSpPr>
        <p:spPr>
          <a:xfrm>
            <a:off x="1005840" y="2377440"/>
            <a:ext cx="4572000" cy="914400"/>
          </a:xfrm>
          <a:prstGeom prst="rect">
            <a:avLst/>
          </a:prstGeom>
          <a:noFill/>
          <a:ln/>
        </p:spPr>
        <p:txBody>
          <a:bodyPr wrap="square" lIns="0" tIns="0" rIns="0" bIns="0" rtlCol="0" anchor="ctr"/>
          <a:lstStyle/>
          <a:p>
            <a:pPr indent="0" marL="0">
              <a:lnSpc>
                <a:spcPts val="2200"/>
              </a:lnSpc>
              <a:buNone/>
            </a:pPr>
            <a:r>
              <a:rPr lang="en-US" sz="1500" dirty="0">
                <a:solidFill>
                  <a:srgbClr val="4A5A69"/>
                </a:solidFill>
                <a:latin typeface="Calibri" pitchFamily="34" charset="0"/>
                <a:ea typeface="Calibri" pitchFamily="34" charset="-122"/>
                <a:cs typeface="Calibri" pitchFamily="34" charset="-120"/>
              </a:rPr>
              <a:t>The procedure beats tools alone by 25 points. The odds of seeing a gap this large by chance are under 2 in 1,000.</a:t>
            </a:r>
            <a:endParaRPr lang="en-US" sz="1500" dirty="0"/>
          </a:p>
        </p:txBody>
      </p:sp>
      <p:sp>
        <p:nvSpPr>
          <p:cNvPr id="9" name="Text 7"/>
          <p:cNvSpPr txBox="1"/>
          <p:nvPr/>
        </p:nvSpPr>
        <p:spPr>
          <a:xfrm>
            <a:off x="1005840" y="3310128"/>
            <a:ext cx="4572000" cy="914400"/>
          </a:xfrm>
          <a:prstGeom prst="rect">
            <a:avLst/>
          </a:prstGeom>
          <a:noFill/>
          <a:ln/>
        </p:spPr>
        <p:txBody>
          <a:bodyPr wrap="square" lIns="0" tIns="0" rIns="0" bIns="0" rtlCol="0" anchor="ctr"/>
          <a:lstStyle/>
          <a:p>
            <a:pPr indent="0" marL="0">
              <a:lnSpc>
                <a:spcPts val="2200"/>
              </a:lnSpc>
              <a:buNone/>
            </a:pPr>
            <a:r>
              <a:rPr lang="en-US" sz="1500" dirty="0">
                <a:solidFill>
                  <a:srgbClr val="4A5A69"/>
                </a:solidFill>
                <a:latin typeface="Calibri" pitchFamily="34" charset="0"/>
                <a:ea typeface="Calibri" pitchFamily="34" charset="-122"/>
                <a:cs typeface="Calibri" pitchFamily="34" charset="-120"/>
              </a:rPr>
              <a:t>It also declined correctly 78% of the time on the dangerous problems, where the tools-only version never did.</a:t>
            </a:r>
            <a:endParaRPr lang="en-US" sz="1500" dirty="0"/>
          </a:p>
        </p:txBody>
      </p:sp>
      <p:sp>
        <p:nvSpPr>
          <p:cNvPr id="10" name="Shape 8"/>
          <p:cNvSpPr/>
          <p:nvPr/>
        </p:nvSpPr>
        <p:spPr>
          <a:xfrm>
            <a:off x="6263640" y="1572768"/>
            <a:ext cx="5257800" cy="2788920"/>
          </a:xfrm>
          <a:prstGeom prst="roundRect">
            <a:avLst>
              <a:gd name="adj" fmla="val 19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1" name="Shape 9"/>
          <p:cNvSpPr/>
          <p:nvPr/>
        </p:nvSpPr>
        <p:spPr>
          <a:xfrm>
            <a:off x="6629400" y="1874520"/>
            <a:ext cx="310896" cy="310896"/>
          </a:xfrm>
          <a:prstGeom prst="ellipse">
            <a:avLst/>
          </a:prstGeom>
          <a:solidFill>
            <a:srgbClr val="C8891B"/>
          </a:solidFill>
          <a:ln w="12700">
            <a:solidFill>
              <a:srgbClr val="C8891B"/>
            </a:solidFill>
            <a:prstDash val="solid"/>
          </a:ln>
        </p:spPr>
      </p:sp>
      <p:sp>
        <p:nvSpPr>
          <p:cNvPr id="12" name="Text 10"/>
          <p:cNvSpPr txBox="1"/>
          <p:nvPr/>
        </p:nvSpPr>
        <p:spPr>
          <a:xfrm>
            <a:off x="6629400" y="18745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7086600" y="1828800"/>
            <a:ext cx="4023360" cy="384048"/>
          </a:xfrm>
          <a:prstGeom prst="rect">
            <a:avLst/>
          </a:prstGeom>
          <a:noFill/>
          <a:ln/>
        </p:spPr>
        <p:txBody>
          <a:bodyPr wrap="square" lIns="0" tIns="0" rIns="0" bIns="0" rtlCol="0" anchor="ctr"/>
          <a:lstStyle/>
          <a:p>
            <a:pPr indent="0" marL="0">
              <a:buNone/>
            </a:pPr>
            <a:r>
              <a:rPr lang="en-US" sz="2000" b="1" dirty="0">
                <a:solidFill>
                  <a:srgbClr val="16222E"/>
                </a:solidFill>
                <a:latin typeface="Cambria" pitchFamily="34" charset="0"/>
                <a:ea typeface="Cambria" pitchFamily="34" charset="-122"/>
                <a:cs typeface="Cambria" pitchFamily="34" charset="-120"/>
              </a:rPr>
              <a:t>Not established</a:t>
            </a:r>
            <a:endParaRPr lang="en-US" sz="2000" dirty="0"/>
          </a:p>
        </p:txBody>
      </p:sp>
      <p:sp>
        <p:nvSpPr>
          <p:cNvPr id="14" name="Text 12"/>
          <p:cNvSpPr txBox="1"/>
          <p:nvPr/>
        </p:nvSpPr>
        <p:spPr>
          <a:xfrm>
            <a:off x="6629400" y="2377440"/>
            <a:ext cx="4572000" cy="1051560"/>
          </a:xfrm>
          <a:prstGeom prst="rect">
            <a:avLst/>
          </a:prstGeom>
          <a:noFill/>
          <a:ln/>
        </p:spPr>
        <p:txBody>
          <a:bodyPr wrap="square" lIns="0" tIns="0" rIns="0" bIns="0" rtlCol="0" anchor="ctr"/>
          <a:lstStyle/>
          <a:p>
            <a:pPr indent="0" marL="0">
              <a:lnSpc>
                <a:spcPts val="2200"/>
              </a:lnSpc>
              <a:buNone/>
            </a:pPr>
            <a:r>
              <a:rPr lang="en-US" sz="1500" dirty="0">
                <a:solidFill>
                  <a:srgbClr val="4A5A69"/>
                </a:solidFill>
                <a:latin typeface="Calibri" pitchFamily="34" charset="0"/>
                <a:ea typeface="Calibri" pitchFamily="34" charset="-122"/>
                <a:cs typeface="Calibri" pitchFamily="34" charset="-120"/>
              </a:rPr>
              <a:t>Against the no-tools version the procedure leads by 12.5 points — but on 48 problems that gap is not large enough to rule out chance.</a:t>
            </a:r>
            <a:endParaRPr lang="en-US" sz="1500" dirty="0"/>
          </a:p>
        </p:txBody>
      </p:sp>
      <p:sp>
        <p:nvSpPr>
          <p:cNvPr id="15" name="Text 13"/>
          <p:cNvSpPr txBox="1"/>
          <p:nvPr/>
        </p:nvSpPr>
        <p:spPr>
          <a:xfrm>
            <a:off x="6629400" y="3456432"/>
            <a:ext cx="4572000" cy="731520"/>
          </a:xfrm>
          <a:prstGeom prst="rect">
            <a:avLst/>
          </a:prstGeom>
          <a:noFill/>
          <a:ln/>
        </p:spPr>
        <p:txBody>
          <a:bodyPr wrap="square" lIns="0" tIns="0" rIns="0" bIns="0" rtlCol="0" anchor="ctr"/>
          <a:lstStyle/>
          <a:p>
            <a:pPr indent="0" marL="0">
              <a:lnSpc>
                <a:spcPts val="2200"/>
              </a:lnSpc>
              <a:buNone/>
            </a:pPr>
            <a:r>
              <a:rPr lang="en-US" sz="1500" i="1" dirty="0">
                <a:solidFill>
                  <a:srgbClr val="4A5A69"/>
                </a:solidFill>
                <a:latin typeface="Calibri" pitchFamily="34" charset="0"/>
                <a:ea typeface="Calibri" pitchFamily="34" charset="-122"/>
                <a:cs typeface="Calibri" pitchFamily="34" charset="-120"/>
              </a:rPr>
              <a:t>I report it as unresolved rather than as a win. A bigger test would settle it.</a:t>
            </a:r>
            <a:endParaRPr lang="en-US" sz="1500" dirty="0"/>
          </a:p>
        </p:txBody>
      </p:sp>
      <p:sp>
        <p:nvSpPr>
          <p:cNvPr id="16" name="Text 14"/>
          <p:cNvSpPr txBox="1"/>
          <p:nvPr/>
        </p:nvSpPr>
        <p:spPr>
          <a:xfrm>
            <a:off x="640080" y="4709160"/>
            <a:ext cx="10424160" cy="548640"/>
          </a:xfrm>
          <a:prstGeom prst="rect">
            <a:avLst/>
          </a:prstGeom>
          <a:noFill/>
          <a:ln/>
        </p:spPr>
        <p:txBody>
          <a:bodyPr wrap="square" lIns="0" tIns="0" rIns="0" bIns="0" rtlCol="0" anchor="ctr"/>
          <a:lstStyle/>
          <a:p>
            <a:pPr indent="0" marL="0">
              <a:buNone/>
            </a:pPr>
            <a:r>
              <a:rPr lang="en-US" sz="1800" b="1" dirty="0">
                <a:solidFill>
                  <a:srgbClr val="16222E"/>
                </a:solidFill>
                <a:latin typeface="Cambria" pitchFamily="34" charset="0"/>
                <a:ea typeface="Cambria" pitchFamily="34" charset="-122"/>
                <a:cs typeface="Cambria" pitchFamily="34" charset="-120"/>
              </a:rPr>
              <a:t>Reporting the second box is the point. A result you only believe when it agrees with you is not a result.</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THE SECOND TEST</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Could each version explain itself honestly?</a:t>
            </a:r>
            <a:endParaRPr lang="en-US" sz="3200" dirty="0"/>
          </a:p>
        </p:txBody>
      </p:sp>
      <p:sp>
        <p:nvSpPr>
          <p:cNvPr id="4" name="Text 2"/>
          <p:cNvSpPr txBox="1"/>
          <p:nvPr/>
        </p:nvSpPr>
        <p:spPr>
          <a:xfrm>
            <a:off x="640080" y="1572768"/>
            <a:ext cx="10424160" cy="658368"/>
          </a:xfrm>
          <a:prstGeom prst="rect">
            <a:avLst/>
          </a:prstGeom>
          <a:noFill/>
          <a:ln/>
        </p:spPr>
        <p:txBody>
          <a:bodyPr wrap="square" lIns="0" tIns="0" rIns="0" bIns="0" rtlCol="0" anchor="ctr"/>
          <a:lstStyle/>
          <a:p>
            <a:pPr indent="0" marL="0">
              <a:lnSpc>
                <a:spcPts val="2400"/>
              </a:lnSpc>
              <a:buNone/>
            </a:pPr>
            <a:r>
              <a:rPr lang="en-US" sz="1600" dirty="0">
                <a:solidFill>
                  <a:srgbClr val="4A5A69"/>
                </a:solidFill>
                <a:latin typeface="Calibri" pitchFamily="34" charset="0"/>
                <a:ea typeface="Calibri" pitchFamily="34" charset="-122"/>
                <a:cs typeface="Calibri" pitchFamily="34" charset="-120"/>
              </a:rPr>
              <a:t>Choosing the right method is only half the job. The other half is describing what was found without inventing any part of it.</a:t>
            </a:r>
            <a:endParaRPr lang="en-US" sz="1600" dirty="0"/>
          </a:p>
        </p:txBody>
      </p:sp>
      <p:sp>
        <p:nvSpPr>
          <p:cNvPr id="5" name="Shape 3"/>
          <p:cNvSpPr/>
          <p:nvPr/>
        </p:nvSpPr>
        <p:spPr>
          <a:xfrm>
            <a:off x="640080" y="2286000"/>
            <a:ext cx="10881360" cy="914400"/>
          </a:xfrm>
          <a:prstGeom prst="roundRect">
            <a:avLst>
              <a:gd name="adj" fmla="val 6000"/>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6" name="Shape 4"/>
          <p:cNvSpPr/>
          <p:nvPr/>
        </p:nvSpPr>
        <p:spPr>
          <a:xfrm>
            <a:off x="960120" y="2505456"/>
            <a:ext cx="457200" cy="457200"/>
          </a:xfrm>
          <a:prstGeom prst="ellipse">
            <a:avLst/>
          </a:prstGeom>
          <a:solidFill>
            <a:srgbClr val="2F6FD0"/>
          </a:solidFill>
          <a:ln w="12700">
            <a:solidFill>
              <a:srgbClr val="2F6FD0"/>
            </a:solidFill>
            <a:prstDash val="solid"/>
          </a:ln>
        </p:spPr>
      </p:sp>
      <p:sp>
        <p:nvSpPr>
          <p:cNvPr id="7" name="Text 5"/>
          <p:cNvSpPr txBox="1"/>
          <p:nvPr/>
        </p:nvSpPr>
        <p:spPr>
          <a:xfrm>
            <a:off x="960120" y="250545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a:t>
            </a:r>
            <a:endParaRPr lang="en-US" sz="1600" dirty="0"/>
          </a:p>
        </p:txBody>
      </p:sp>
      <p:sp>
        <p:nvSpPr>
          <p:cNvPr id="8" name="Text 6"/>
          <p:cNvSpPr txBox="1"/>
          <p:nvPr/>
        </p:nvSpPr>
        <p:spPr>
          <a:xfrm>
            <a:off x="1600200" y="2560320"/>
            <a:ext cx="2286000" cy="365760"/>
          </a:xfrm>
          <a:prstGeom prst="rect">
            <a:avLst/>
          </a:prstGeom>
          <a:noFill/>
          <a:ln/>
        </p:spPr>
        <p:txBody>
          <a:bodyPr wrap="square" lIns="0" tIns="0" rIns="0" bIns="0"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Just ask</a:t>
            </a:r>
            <a:endParaRPr lang="en-US" sz="1600" dirty="0"/>
          </a:p>
        </p:txBody>
      </p:sp>
      <p:sp>
        <p:nvSpPr>
          <p:cNvPr id="9" name="Text 7"/>
          <p:cNvSpPr txBox="1"/>
          <p:nvPr/>
        </p:nvSpPr>
        <p:spPr>
          <a:xfrm>
            <a:off x="3931920" y="2523744"/>
            <a:ext cx="1371600" cy="420624"/>
          </a:xfrm>
          <a:prstGeom prst="rect">
            <a:avLst/>
          </a:prstGeom>
          <a:noFill/>
          <a:ln/>
        </p:spPr>
        <p:txBody>
          <a:bodyPr wrap="square" lIns="0" tIns="0" rIns="0" bIns="0" rtlCol="0" anchor="ctr"/>
          <a:lstStyle/>
          <a:p>
            <a:pPr indent="0" marL="0">
              <a:buNone/>
            </a:pPr>
            <a:r>
              <a:rPr lang="en-US" sz="2200" b="1" dirty="0">
                <a:solidFill>
                  <a:srgbClr val="DD6027"/>
                </a:solidFill>
                <a:latin typeface="Cambria" pitchFamily="34" charset="0"/>
                <a:ea typeface="Cambria" pitchFamily="34" charset="-122"/>
                <a:cs typeface="Cambria" pitchFamily="34" charset="-120"/>
              </a:rPr>
              <a:t>43 of 96</a:t>
            </a:r>
            <a:endParaRPr lang="en-US" sz="2200" dirty="0"/>
          </a:p>
        </p:txBody>
      </p:sp>
      <p:sp>
        <p:nvSpPr>
          <p:cNvPr id="10" name="Text 8"/>
          <p:cNvSpPr txBox="1"/>
          <p:nvPr/>
        </p:nvSpPr>
        <p:spPr>
          <a:xfrm>
            <a:off x="5394960" y="2560320"/>
            <a:ext cx="5760720" cy="457200"/>
          </a:xfrm>
          <a:prstGeom prst="rect">
            <a:avLst/>
          </a:prstGeom>
          <a:noFill/>
          <a:ln/>
        </p:spPr>
        <p:txBody>
          <a:bodyPr wrap="square" lIns="0" tIns="0" rIns="0" bIns="0" rtlCol="0" anchor="ctr"/>
          <a:lstStyle/>
          <a:p>
            <a:pPr indent="0" marL="0">
              <a:buNone/>
            </a:pPr>
            <a:r>
              <a:rPr lang="en-US" sz="1400" dirty="0">
                <a:solidFill>
                  <a:srgbClr val="4A5A69"/>
                </a:solidFill>
                <a:latin typeface="Calibri" pitchFamily="34" charset="0"/>
                <a:ea typeface="Calibri" pitchFamily="34" charset="-122"/>
                <a:cs typeface="Calibri" pitchFamily="34" charset="-120"/>
              </a:rPr>
              <a:t>wrote a number that no calculation produced, or cited a check it never ran</a:t>
            </a:r>
            <a:endParaRPr lang="en-US" sz="1400" dirty="0"/>
          </a:p>
        </p:txBody>
      </p:sp>
      <p:sp>
        <p:nvSpPr>
          <p:cNvPr id="11" name="Shape 9"/>
          <p:cNvSpPr/>
          <p:nvPr/>
        </p:nvSpPr>
        <p:spPr>
          <a:xfrm>
            <a:off x="640080" y="3364992"/>
            <a:ext cx="10881360" cy="914400"/>
          </a:xfrm>
          <a:prstGeom prst="roundRect">
            <a:avLst>
              <a:gd name="adj" fmla="val 6000"/>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2" name="Shape 10"/>
          <p:cNvSpPr/>
          <p:nvPr/>
        </p:nvSpPr>
        <p:spPr>
          <a:xfrm>
            <a:off x="960120" y="3584448"/>
            <a:ext cx="457200" cy="457200"/>
          </a:xfrm>
          <a:prstGeom prst="ellipse">
            <a:avLst/>
          </a:prstGeom>
          <a:solidFill>
            <a:srgbClr val="DD6027"/>
          </a:solidFill>
          <a:ln w="12700">
            <a:solidFill>
              <a:srgbClr val="DD6027"/>
            </a:solidFill>
            <a:prstDash val="solid"/>
          </a:ln>
        </p:spPr>
      </p:sp>
      <p:sp>
        <p:nvSpPr>
          <p:cNvPr id="13" name="Text 11"/>
          <p:cNvSpPr txBox="1"/>
          <p:nvPr/>
        </p:nvSpPr>
        <p:spPr>
          <a:xfrm>
            <a:off x="960120" y="35844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a:t>
            </a:r>
            <a:endParaRPr lang="en-US" sz="1600" dirty="0"/>
          </a:p>
        </p:txBody>
      </p:sp>
      <p:sp>
        <p:nvSpPr>
          <p:cNvPr id="14" name="Text 12"/>
          <p:cNvSpPr txBox="1"/>
          <p:nvPr/>
        </p:nvSpPr>
        <p:spPr>
          <a:xfrm>
            <a:off x="1600200" y="3639312"/>
            <a:ext cx="2286000" cy="365760"/>
          </a:xfrm>
          <a:prstGeom prst="rect">
            <a:avLst/>
          </a:prstGeom>
          <a:noFill/>
          <a:ln/>
        </p:spPr>
        <p:txBody>
          <a:bodyPr wrap="square" lIns="0" tIns="0" rIns="0" bIns="0"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Tools only</a:t>
            </a:r>
            <a:endParaRPr lang="en-US" sz="1600" dirty="0"/>
          </a:p>
        </p:txBody>
      </p:sp>
      <p:sp>
        <p:nvSpPr>
          <p:cNvPr id="15" name="Text 13"/>
          <p:cNvSpPr txBox="1"/>
          <p:nvPr/>
        </p:nvSpPr>
        <p:spPr>
          <a:xfrm>
            <a:off x="3931920" y="3602736"/>
            <a:ext cx="1371600" cy="420624"/>
          </a:xfrm>
          <a:prstGeom prst="rect">
            <a:avLst/>
          </a:prstGeom>
          <a:noFill/>
          <a:ln/>
        </p:spPr>
        <p:txBody>
          <a:bodyPr wrap="square" lIns="0" tIns="0" rIns="0" bIns="0" rtlCol="0" anchor="ctr"/>
          <a:lstStyle/>
          <a:p>
            <a:pPr indent="0" marL="0">
              <a:buNone/>
            </a:pPr>
            <a:r>
              <a:rPr lang="en-US" sz="2200" b="1" dirty="0">
                <a:solidFill>
                  <a:srgbClr val="129B68"/>
                </a:solidFill>
                <a:latin typeface="Cambria" pitchFamily="34" charset="0"/>
                <a:ea typeface="Cambria" pitchFamily="34" charset="-122"/>
                <a:cs typeface="Cambria" pitchFamily="34" charset="-120"/>
              </a:rPr>
              <a:t>0 of 96</a:t>
            </a:r>
            <a:endParaRPr lang="en-US" sz="2200" dirty="0"/>
          </a:p>
        </p:txBody>
      </p:sp>
      <p:sp>
        <p:nvSpPr>
          <p:cNvPr id="16" name="Text 14"/>
          <p:cNvSpPr txBox="1"/>
          <p:nvPr/>
        </p:nvSpPr>
        <p:spPr>
          <a:xfrm>
            <a:off x="5394960" y="3639312"/>
            <a:ext cx="5760720" cy="457200"/>
          </a:xfrm>
          <a:prstGeom prst="rect">
            <a:avLst/>
          </a:prstGeom>
          <a:noFill/>
          <a:ln/>
        </p:spPr>
        <p:txBody>
          <a:bodyPr wrap="square" lIns="0" tIns="0" rIns="0" bIns="0" rtlCol="0" anchor="ctr"/>
          <a:lstStyle/>
          <a:p>
            <a:pPr indent="0" marL="0">
              <a:buNone/>
            </a:pPr>
            <a:r>
              <a:rPr lang="en-US" sz="1400" dirty="0">
                <a:solidFill>
                  <a:srgbClr val="4A5A69"/>
                </a:solidFill>
                <a:latin typeface="Calibri" pitchFamily="34" charset="0"/>
                <a:ea typeface="Calibri" pitchFamily="34" charset="-122"/>
                <a:cs typeface="Calibri" pitchFamily="34" charset="-120"/>
              </a:rPr>
              <a:t>never did — it had tools and used them</a:t>
            </a:r>
            <a:endParaRPr lang="en-US" sz="1400" dirty="0"/>
          </a:p>
        </p:txBody>
      </p:sp>
      <p:sp>
        <p:nvSpPr>
          <p:cNvPr id="17" name="Shape 15"/>
          <p:cNvSpPr/>
          <p:nvPr/>
        </p:nvSpPr>
        <p:spPr>
          <a:xfrm>
            <a:off x="640080" y="4443984"/>
            <a:ext cx="10881360" cy="914400"/>
          </a:xfrm>
          <a:prstGeom prst="roundRect">
            <a:avLst>
              <a:gd name="adj" fmla="val 6000"/>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18" name="Shape 16"/>
          <p:cNvSpPr/>
          <p:nvPr/>
        </p:nvSpPr>
        <p:spPr>
          <a:xfrm>
            <a:off x="960120" y="4663440"/>
            <a:ext cx="457200" cy="457200"/>
          </a:xfrm>
          <a:prstGeom prst="ellipse">
            <a:avLst/>
          </a:prstGeom>
          <a:solidFill>
            <a:srgbClr val="129B68"/>
          </a:solidFill>
          <a:ln w="12700">
            <a:solidFill>
              <a:srgbClr val="129B68"/>
            </a:solidFill>
            <a:prstDash val="solid"/>
          </a:ln>
        </p:spPr>
      </p:sp>
      <p:sp>
        <p:nvSpPr>
          <p:cNvPr id="19" name="Text 17"/>
          <p:cNvSpPr txBox="1"/>
          <p:nvPr/>
        </p:nvSpPr>
        <p:spPr>
          <a:xfrm>
            <a:off x="960120" y="46634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t>
            </a:r>
            <a:endParaRPr lang="en-US" sz="1600" dirty="0"/>
          </a:p>
        </p:txBody>
      </p:sp>
      <p:sp>
        <p:nvSpPr>
          <p:cNvPr id="20" name="Text 18"/>
          <p:cNvSpPr txBox="1"/>
          <p:nvPr/>
        </p:nvSpPr>
        <p:spPr>
          <a:xfrm>
            <a:off x="1600200" y="4718304"/>
            <a:ext cx="2286000" cy="365760"/>
          </a:xfrm>
          <a:prstGeom prst="rect">
            <a:avLst/>
          </a:prstGeom>
          <a:noFill/>
          <a:ln/>
        </p:spPr>
        <p:txBody>
          <a:bodyPr wrap="square" lIns="0" tIns="0" rIns="0" bIns="0" rtlCol="0" anchor="ctr"/>
          <a:lstStyle/>
          <a:p>
            <a:pPr indent="0" marL="0">
              <a:buNone/>
            </a:pPr>
            <a:r>
              <a:rPr lang="en-US" sz="1600" b="1" dirty="0">
                <a:solidFill>
                  <a:srgbClr val="16222E"/>
                </a:solidFill>
                <a:latin typeface="Calibri" pitchFamily="34" charset="0"/>
                <a:ea typeface="Calibri" pitchFamily="34" charset="-122"/>
                <a:cs typeface="Calibri" pitchFamily="34" charset="-120"/>
              </a:rPr>
              <a:t>Tools + procedure</a:t>
            </a:r>
            <a:endParaRPr lang="en-US" sz="1600" dirty="0"/>
          </a:p>
        </p:txBody>
      </p:sp>
      <p:sp>
        <p:nvSpPr>
          <p:cNvPr id="21" name="Text 19"/>
          <p:cNvSpPr txBox="1"/>
          <p:nvPr/>
        </p:nvSpPr>
        <p:spPr>
          <a:xfrm>
            <a:off x="3931920" y="4681728"/>
            <a:ext cx="1371600" cy="420624"/>
          </a:xfrm>
          <a:prstGeom prst="rect">
            <a:avLst/>
          </a:prstGeom>
          <a:noFill/>
          <a:ln/>
        </p:spPr>
        <p:txBody>
          <a:bodyPr wrap="square" lIns="0" tIns="0" rIns="0" bIns="0" rtlCol="0" anchor="ctr"/>
          <a:lstStyle/>
          <a:p>
            <a:pPr indent="0" marL="0">
              <a:buNone/>
            </a:pPr>
            <a:r>
              <a:rPr lang="en-US" sz="2200" b="1" dirty="0">
                <a:solidFill>
                  <a:srgbClr val="C8891B"/>
                </a:solidFill>
                <a:latin typeface="Cambria" pitchFamily="34" charset="0"/>
                <a:ea typeface="Cambria" pitchFamily="34" charset="-122"/>
                <a:cs typeface="Cambria" pitchFamily="34" charset="-120"/>
              </a:rPr>
              <a:t>8 of 96</a:t>
            </a:r>
            <a:endParaRPr lang="en-US" sz="2200" dirty="0"/>
          </a:p>
        </p:txBody>
      </p:sp>
      <p:sp>
        <p:nvSpPr>
          <p:cNvPr id="22" name="Text 20"/>
          <p:cNvSpPr txBox="1"/>
          <p:nvPr/>
        </p:nvSpPr>
        <p:spPr>
          <a:xfrm>
            <a:off x="5394960" y="4718304"/>
            <a:ext cx="5760720" cy="457200"/>
          </a:xfrm>
          <a:prstGeom prst="rect">
            <a:avLst/>
          </a:prstGeom>
          <a:noFill/>
          <a:ln/>
        </p:spPr>
        <p:txBody>
          <a:bodyPr wrap="square" lIns="0" tIns="0" rIns="0" bIns="0" rtlCol="0" anchor="ctr"/>
          <a:lstStyle/>
          <a:p>
            <a:pPr indent="0" marL="0">
              <a:buNone/>
            </a:pPr>
            <a:r>
              <a:rPr lang="en-US" sz="1400" dirty="0">
                <a:solidFill>
                  <a:srgbClr val="4A5A69"/>
                </a:solidFill>
                <a:latin typeface="Calibri" pitchFamily="34" charset="0"/>
                <a:ea typeface="Calibri" pitchFamily="34" charset="-122"/>
                <a:cs typeface="Calibri" pitchFamily="34" charset="-120"/>
              </a:rPr>
              <a:t>occasionally reached for a result it had not computed</a:t>
            </a:r>
            <a:endParaRPr lang="en-US" sz="1400" dirty="0"/>
          </a:p>
        </p:txBody>
      </p:sp>
      <p:sp>
        <p:nvSpPr>
          <p:cNvPr id="23" name="Text 21"/>
          <p:cNvSpPr txBox="1"/>
          <p:nvPr/>
        </p:nvSpPr>
        <p:spPr>
          <a:xfrm>
            <a:off x="640080" y="5577840"/>
            <a:ext cx="10424160" cy="548640"/>
          </a:xfrm>
          <a:prstGeom prst="rect">
            <a:avLst/>
          </a:prstGeom>
          <a:noFill/>
          <a:ln/>
        </p:spPr>
        <p:txBody>
          <a:bodyPr wrap="square" lIns="0" tIns="0" rIns="0" bIns="0" rtlCol="0" anchor="ctr"/>
          <a:lstStyle/>
          <a:p>
            <a:pPr indent="0" marL="0">
              <a:buNone/>
            </a:pPr>
            <a:r>
              <a:rPr lang="en-US" sz="1500" i="1" dirty="0">
                <a:solidFill>
                  <a:srgbClr val="4A5A69"/>
                </a:solidFill>
                <a:latin typeface="Calibri" pitchFamily="34" charset="0"/>
                <a:ea typeface="Calibri" pitchFamily="34" charset="-122"/>
                <a:cs typeface="Calibri" pitchFamily="34" charset="-120"/>
              </a:rPr>
              <a:t>Nearly half of the plain AI's analyses could not be grounded. Every one was caught automatically rather than reaching a reader.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A"/>
        </a:solidFill>
      </p:bgPr>
    </p:bg>
    <p:spTree>
      <p:nvGrpSpPr>
        <p:cNvPr id="1" name=""/>
        <p:cNvGrpSpPr/>
        <p:nvPr/>
      </p:nvGrpSpPr>
      <p:grpSpPr>
        <a:xfrm>
          <a:off x="0" y="0"/>
          <a:ext cx="0" cy="0"/>
          <a:chOff x="0" y="0"/>
          <a:chExt cx="0" cy="0"/>
        </a:xfrm>
      </p:grpSpPr>
      <p:sp>
        <p:nvSpPr>
          <p:cNvPr id="2" name="Text 0"/>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00" kern="0" dirty="0">
                <a:solidFill>
                  <a:srgbClr val="8496A6"/>
                </a:solidFill>
                <a:latin typeface="Calibri" pitchFamily="34" charset="0"/>
                <a:ea typeface="Calibri" pitchFamily="34" charset="-122"/>
                <a:cs typeface="Calibri" pitchFamily="34" charset="-120"/>
              </a:rPr>
              <a:t>CHECKING THE CHECKER</a:t>
            </a:r>
            <a:endParaRPr lang="en-US" sz="1100" dirty="0"/>
          </a:p>
        </p:txBody>
      </p:sp>
      <p:sp>
        <p:nvSpPr>
          <p:cNvPr id="3" name="Text 1"/>
          <p:cNvSpPr txBox="1"/>
          <p:nvPr/>
        </p:nvSpPr>
        <p:spPr>
          <a:xfrm>
            <a:off x="640080" y="768096"/>
            <a:ext cx="10881360" cy="658368"/>
          </a:xfrm>
          <a:prstGeom prst="rect">
            <a:avLst/>
          </a:prstGeom>
          <a:noFill/>
          <a:ln/>
        </p:spPr>
        <p:txBody>
          <a:bodyPr wrap="square" lIns="0" tIns="0" rIns="0" bIns="0" rtlCol="0" anchor="ctr"/>
          <a:lstStyle/>
          <a:p>
            <a:pPr indent="0" marL="0">
              <a:buNone/>
            </a:pPr>
            <a:r>
              <a:rPr lang="en-US" sz="3200" b="1" dirty="0">
                <a:solidFill>
                  <a:srgbClr val="16222E"/>
                </a:solidFill>
                <a:latin typeface="Cambria" pitchFamily="34" charset="0"/>
                <a:ea typeface="Cambria" pitchFamily="34" charset="-122"/>
                <a:cs typeface="Cambria" pitchFamily="34" charset="-120"/>
              </a:rPr>
              <a:t>Two mistakes I found in my own measurements</a:t>
            </a:r>
            <a:endParaRPr lang="en-US" sz="3200" dirty="0"/>
          </a:p>
        </p:txBody>
      </p:sp>
      <p:sp>
        <p:nvSpPr>
          <p:cNvPr id="4" name="Shape 2"/>
          <p:cNvSpPr/>
          <p:nvPr/>
        </p:nvSpPr>
        <p:spPr>
          <a:xfrm>
            <a:off x="640080" y="1572768"/>
            <a:ext cx="5257800" cy="3291840"/>
          </a:xfrm>
          <a:prstGeom prst="roundRect">
            <a:avLst>
              <a:gd name="adj" fmla="val 16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5" name="Text 3"/>
          <p:cNvSpPr txBox="1"/>
          <p:nvPr/>
        </p:nvSpPr>
        <p:spPr>
          <a:xfrm>
            <a:off x="1005840" y="1810512"/>
            <a:ext cx="548640" cy="548640"/>
          </a:xfrm>
          <a:prstGeom prst="rect">
            <a:avLst/>
          </a:prstGeom>
          <a:noFill/>
          <a:ln/>
        </p:spPr>
        <p:txBody>
          <a:bodyPr wrap="square" lIns="0" tIns="0" rIns="0" bIns="0" rtlCol="0" anchor="ctr"/>
          <a:lstStyle/>
          <a:p>
            <a:pPr indent="0" marL="0">
              <a:buNone/>
            </a:pPr>
            <a:r>
              <a:rPr lang="en-US" sz="3200" b="1" dirty="0">
                <a:solidFill>
                  <a:srgbClr val="C8891B"/>
                </a:solidFill>
                <a:latin typeface="Cambria" pitchFamily="34" charset="0"/>
                <a:ea typeface="Cambria" pitchFamily="34" charset="-122"/>
                <a:cs typeface="Cambria" pitchFamily="34" charset="-120"/>
              </a:rPr>
              <a:t>1</a:t>
            </a:r>
            <a:endParaRPr lang="en-US" sz="3200" dirty="0"/>
          </a:p>
        </p:txBody>
      </p:sp>
      <p:sp>
        <p:nvSpPr>
          <p:cNvPr id="6" name="Text 4"/>
          <p:cNvSpPr txBox="1"/>
          <p:nvPr/>
        </p:nvSpPr>
        <p:spPr>
          <a:xfrm>
            <a:off x="1005840" y="2395728"/>
            <a:ext cx="4572000" cy="384048"/>
          </a:xfrm>
          <a:prstGeom prst="rect">
            <a:avLst/>
          </a:prstGeom>
          <a:noFill/>
          <a:ln/>
        </p:spPr>
        <p:txBody>
          <a:bodyPr wrap="square" lIns="0" tIns="0" rIns="0" bIns="0" rtlCol="0" anchor="ctr"/>
          <a:lstStyle/>
          <a:p>
            <a:pPr indent="0" marL="0">
              <a:buNone/>
            </a:pPr>
            <a:r>
              <a:rPr lang="en-US" sz="1800" b="1" dirty="0">
                <a:solidFill>
                  <a:srgbClr val="16222E"/>
                </a:solidFill>
                <a:latin typeface="Cambria" pitchFamily="34" charset="0"/>
                <a:ea typeface="Cambria" pitchFamily="34" charset="-122"/>
                <a:cs typeface="Cambria" pitchFamily="34" charset="-120"/>
              </a:rPr>
              <a:t>Throwing away the wrong failures</a:t>
            </a:r>
            <a:endParaRPr lang="en-US" sz="1800" dirty="0"/>
          </a:p>
        </p:txBody>
      </p:sp>
      <p:sp>
        <p:nvSpPr>
          <p:cNvPr id="7" name="Text 5"/>
          <p:cNvSpPr txBox="1"/>
          <p:nvPr/>
        </p:nvSpPr>
        <p:spPr>
          <a:xfrm>
            <a:off x="1005840" y="2852928"/>
            <a:ext cx="4572000" cy="1737360"/>
          </a:xfrm>
          <a:prstGeom prst="rect">
            <a:avLst/>
          </a:prstGeom>
          <a:noFill/>
          <a:ln/>
        </p:spPr>
        <p:txBody>
          <a:bodyPr wrap="square" lIns="0" tIns="0" rIns="0" bIns="0" rtlCol="0" anchor="ctr"/>
          <a:lstStyle/>
          <a:p>
            <a:pPr indent="0" marL="0">
              <a:lnSpc>
                <a:spcPts val="2100"/>
              </a:lnSpc>
              <a:buNone/>
            </a:pPr>
            <a:r>
              <a:rPr lang="en-US" sz="1400" dirty="0">
                <a:solidFill>
                  <a:srgbClr val="4A5A69"/>
                </a:solidFill>
                <a:latin typeface="Calibri" pitchFamily="34" charset="0"/>
                <a:ea typeface="Calibri" pitchFamily="34" charset="-122"/>
                <a:cs typeface="Calibri" pitchFamily="34" charset="-120"/>
              </a:rPr>
              <a:t>51 runs ended in an error. The obvious move is to discard them. But those runs had already chosen a method — and 37 had chosen correctly. Discarding them would have made the weakest version look 6 points better than it is.</a:t>
            </a:r>
            <a:endParaRPr lang="en-US" sz="1400" dirty="0"/>
          </a:p>
        </p:txBody>
      </p:sp>
      <p:sp>
        <p:nvSpPr>
          <p:cNvPr id="8" name="Shape 6"/>
          <p:cNvSpPr/>
          <p:nvPr/>
        </p:nvSpPr>
        <p:spPr>
          <a:xfrm>
            <a:off x="6263640" y="1572768"/>
            <a:ext cx="5257800" cy="3291840"/>
          </a:xfrm>
          <a:prstGeom prst="roundRect">
            <a:avLst>
              <a:gd name="adj" fmla="val 1667"/>
            </a:avLst>
          </a:prstGeom>
          <a:solidFill>
            <a:srgbClr val="FFFFFF"/>
          </a:solidFill>
          <a:ln w="12700">
            <a:solidFill>
              <a:srgbClr val="E2E9F0"/>
            </a:solidFill>
            <a:prstDash val="solid"/>
          </a:ln>
          <a:effectLst>
            <a:outerShdw sx="100000" sy="100000" kx="0" ky="0" algn="bl" rotWithShape="0" blurRad="127000" dist="25400" dir="5400000">
              <a:srgbClr val="9FB0C0">
                <a:alpha val="22000"/>
              </a:srgbClr>
            </a:outerShdw>
          </a:effectLst>
        </p:spPr>
      </p:sp>
      <p:sp>
        <p:nvSpPr>
          <p:cNvPr id="9" name="Text 7"/>
          <p:cNvSpPr txBox="1"/>
          <p:nvPr/>
        </p:nvSpPr>
        <p:spPr>
          <a:xfrm>
            <a:off x="6629400" y="1810512"/>
            <a:ext cx="548640" cy="548640"/>
          </a:xfrm>
          <a:prstGeom prst="rect">
            <a:avLst/>
          </a:prstGeom>
          <a:noFill/>
          <a:ln/>
        </p:spPr>
        <p:txBody>
          <a:bodyPr wrap="square" lIns="0" tIns="0" rIns="0" bIns="0" rtlCol="0" anchor="ctr"/>
          <a:lstStyle/>
          <a:p>
            <a:pPr indent="0" marL="0">
              <a:buNone/>
            </a:pPr>
            <a:r>
              <a:rPr lang="en-US" sz="3200" b="1" dirty="0">
                <a:solidFill>
                  <a:srgbClr val="C8891B"/>
                </a:solidFill>
                <a:latin typeface="Cambria" pitchFamily="34" charset="0"/>
                <a:ea typeface="Cambria" pitchFamily="34" charset="-122"/>
                <a:cs typeface="Cambria" pitchFamily="34" charset="-120"/>
              </a:rPr>
              <a:t>2</a:t>
            </a:r>
            <a:endParaRPr lang="en-US" sz="3200" dirty="0"/>
          </a:p>
        </p:txBody>
      </p:sp>
      <p:sp>
        <p:nvSpPr>
          <p:cNvPr id="10" name="Text 8"/>
          <p:cNvSpPr txBox="1"/>
          <p:nvPr/>
        </p:nvSpPr>
        <p:spPr>
          <a:xfrm>
            <a:off x="6629400" y="2395728"/>
            <a:ext cx="4572000" cy="384048"/>
          </a:xfrm>
          <a:prstGeom prst="rect">
            <a:avLst/>
          </a:prstGeom>
          <a:noFill/>
          <a:ln/>
        </p:spPr>
        <p:txBody>
          <a:bodyPr wrap="square" lIns="0" tIns="0" rIns="0" bIns="0" rtlCol="0" anchor="ctr"/>
          <a:lstStyle/>
          <a:p>
            <a:pPr indent="0" marL="0">
              <a:buNone/>
            </a:pPr>
            <a:r>
              <a:rPr lang="en-US" sz="1800" b="1" dirty="0">
                <a:solidFill>
                  <a:srgbClr val="16222E"/>
                </a:solidFill>
                <a:latin typeface="Cambria" pitchFamily="34" charset="0"/>
                <a:ea typeface="Cambria" pitchFamily="34" charset="-122"/>
                <a:cs typeface="Cambria" pitchFamily="34" charset="-120"/>
              </a:rPr>
              <a:t>A result that changed each time I ran it</a:t>
            </a:r>
            <a:endParaRPr lang="en-US" sz="1800" dirty="0"/>
          </a:p>
        </p:txBody>
      </p:sp>
      <p:sp>
        <p:nvSpPr>
          <p:cNvPr id="11" name="Text 9"/>
          <p:cNvSpPr txBox="1"/>
          <p:nvPr/>
        </p:nvSpPr>
        <p:spPr>
          <a:xfrm>
            <a:off x="6629400" y="2852928"/>
            <a:ext cx="4572000" cy="1737360"/>
          </a:xfrm>
          <a:prstGeom prst="rect">
            <a:avLst/>
          </a:prstGeom>
          <a:noFill/>
          <a:ln/>
        </p:spPr>
        <p:txBody>
          <a:bodyPr wrap="square" lIns="0" tIns="0" rIns="0" bIns="0" rtlCol="0" anchor="ctr"/>
          <a:lstStyle/>
          <a:p>
            <a:pPr indent="0" marL="0">
              <a:lnSpc>
                <a:spcPts val="2100"/>
              </a:lnSpc>
              <a:buNone/>
            </a:pPr>
            <a:r>
              <a:rPr lang="en-US" sz="1400" dirty="0">
                <a:solidFill>
                  <a:srgbClr val="4A5A69"/>
                </a:solidFill>
                <a:latin typeface="Calibri" pitchFamily="34" charset="0"/>
                <a:ea typeface="Calibri" pitchFamily="34" charset="-122"/>
                <a:cs typeface="Calibri" pitchFamily="34" charset="-120"/>
              </a:rPr>
              <a:t>When the two runs of a problem disagreed, the tie was broken in a way that varied between sessions. The same data gave different verdicts on repeat analysis. Ties now break the same way every time, and a test enforces it.</a:t>
            </a:r>
            <a:endParaRPr lang="en-US" sz="1400" dirty="0"/>
          </a:p>
        </p:txBody>
      </p:sp>
      <p:sp>
        <p:nvSpPr>
          <p:cNvPr id="12" name="Text 10"/>
          <p:cNvSpPr txBox="1"/>
          <p:nvPr/>
        </p:nvSpPr>
        <p:spPr>
          <a:xfrm>
            <a:off x="640080" y="5138928"/>
            <a:ext cx="10424160" cy="548640"/>
          </a:xfrm>
          <a:prstGeom prst="rect">
            <a:avLst/>
          </a:prstGeom>
          <a:noFill/>
          <a:ln/>
        </p:spPr>
        <p:txBody>
          <a:bodyPr wrap="square" lIns="0" tIns="0" rIns="0" bIns="0" rtlCol="0" anchor="ctr"/>
          <a:lstStyle/>
          <a:p>
            <a:pPr indent="0" marL="0">
              <a:buNone/>
            </a:pPr>
            <a:r>
              <a:rPr lang="en-US" sz="1500" i="1" dirty="0">
                <a:solidFill>
                  <a:srgbClr val="4A5A69"/>
                </a:solidFill>
                <a:latin typeface="Calibri" pitchFamily="34" charset="0"/>
                <a:ea typeface="Calibri" pitchFamily="34" charset="-122"/>
                <a:cs typeface="Calibri" pitchFamily="34" charset="-120"/>
              </a:rPr>
              <a:t>Neither raised an error. Both were found by looking at the runs before building any table — and both are written up in the report.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02B"/>
        </a:solidFill>
      </p:bgPr>
    </p:bg>
    <p:spTree>
      <p:nvGrpSpPr>
        <p:cNvPr id="1" name=""/>
        <p:cNvGrpSpPr/>
        <p:nvPr/>
      </p:nvGrpSpPr>
      <p:grpSpPr>
        <a:xfrm>
          <a:off x="0" y="0"/>
          <a:ext cx="0" cy="0"/>
          <a:chOff x="0" y="0"/>
          <a:chExt cx="0" cy="0"/>
        </a:xfrm>
      </p:grpSpPr>
      <p:sp>
        <p:nvSpPr>
          <p:cNvPr id="2" name="Text 0"/>
          <p:cNvSpPr txBox="1"/>
          <p:nvPr/>
        </p:nvSpPr>
        <p:spPr>
          <a:xfrm>
            <a:off x="640080" y="1234440"/>
            <a:ext cx="731520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See it running</a:t>
            </a:r>
            <a:endParaRPr lang="en-US" sz="3600" dirty="0"/>
          </a:p>
        </p:txBody>
      </p:sp>
      <p:sp>
        <p:nvSpPr>
          <p:cNvPr id="3" name="Text 1"/>
          <p:cNvSpPr txBox="1"/>
          <p:nvPr/>
        </p:nvSpPr>
        <p:spPr>
          <a:xfrm>
            <a:off x="640080" y="2011680"/>
            <a:ext cx="8686800" cy="548640"/>
          </a:xfrm>
          <a:prstGeom prst="rect">
            <a:avLst/>
          </a:prstGeom>
          <a:noFill/>
          <a:ln/>
        </p:spPr>
        <p:txBody>
          <a:bodyPr wrap="square" lIns="0" tIns="0" rIns="0" bIns="0" rtlCol="0" anchor="ctr"/>
          <a:lstStyle/>
          <a:p>
            <a:pPr indent="0" marL="0">
              <a:buNone/>
            </a:pPr>
            <a:r>
              <a:rPr lang="en-US" sz="1600" dirty="0">
                <a:solidFill>
                  <a:srgbClr val="CFE0F2"/>
                </a:solidFill>
                <a:latin typeface="Calibri" pitchFamily="34" charset="0"/>
                <a:ea typeface="Calibri" pitchFamily="34" charset="-122"/>
                <a:cs typeface="Calibri" pitchFamily="34" charset="-120"/>
              </a:rPr>
              <a:t>Every problem, every answer the AI gave, and every step it took to get there — nothing to install.</a:t>
            </a:r>
            <a:endParaRPr lang="en-US" sz="1600" dirty="0"/>
          </a:p>
        </p:txBody>
      </p:sp>
      <p:sp>
        <p:nvSpPr>
          <p:cNvPr id="4" name="Shape 2"/>
          <p:cNvSpPr/>
          <p:nvPr/>
        </p:nvSpPr>
        <p:spPr>
          <a:xfrm>
            <a:off x="640080" y="2834640"/>
            <a:ext cx="5120640" cy="1417320"/>
          </a:xfrm>
          <a:prstGeom prst="roundRect">
            <a:avLst>
              <a:gd name="adj" fmla="val 3871"/>
            </a:avLst>
          </a:prstGeom>
          <a:solidFill>
            <a:srgbClr val="22303D"/>
          </a:solidFill>
          <a:ln w="12700">
            <a:solidFill>
              <a:srgbClr val="35485A"/>
            </a:solidFill>
            <a:prstDash val="solid"/>
          </a:ln>
        </p:spPr>
      </p:sp>
      <p:sp>
        <p:nvSpPr>
          <p:cNvPr id="5" name="Text 3"/>
          <p:cNvSpPr txBox="1"/>
          <p:nvPr/>
        </p:nvSpPr>
        <p:spPr>
          <a:xfrm>
            <a:off x="1005840" y="3090672"/>
            <a:ext cx="4389120" cy="256032"/>
          </a:xfrm>
          <a:prstGeom prst="rect">
            <a:avLst/>
          </a:prstGeom>
          <a:noFill/>
          <a:ln/>
        </p:spPr>
        <p:txBody>
          <a:bodyPr wrap="square" lIns="0" tIns="0" rIns="0" bIns="0" rtlCol="0" anchor="ctr"/>
          <a:lstStyle/>
          <a:p>
            <a:pPr indent="0" marL="0">
              <a:buNone/>
            </a:pPr>
            <a:r>
              <a:rPr lang="en-US" sz="1050" b="1" spc="200" kern="0" dirty="0">
                <a:solidFill>
                  <a:srgbClr val="8496A6"/>
                </a:solidFill>
                <a:latin typeface="Calibri" pitchFamily="34" charset="0"/>
                <a:ea typeface="Calibri" pitchFamily="34" charset="-122"/>
                <a:cs typeface="Calibri" pitchFamily="34" charset="-120"/>
              </a:rPr>
              <a:t>EXPLORE THE RESULTS</a:t>
            </a:r>
            <a:endParaRPr lang="en-US" sz="1050" dirty="0"/>
          </a:p>
        </p:txBody>
      </p:sp>
      <p:sp>
        <p:nvSpPr>
          <p:cNvPr id="6" name="Text 4">
            <a:hlinkClick r:id="rId1" tooltip=""/>
          </p:cNvPr>
          <p:cNvSpPr txBox="1"/>
          <p:nvPr/>
        </p:nvSpPr>
        <p:spPr>
          <a:xfrm>
            <a:off x="1005840" y="3401568"/>
            <a:ext cx="4480560" cy="457200"/>
          </a:xfrm>
          <a:prstGeom prst="rect">
            <a:avLst/>
          </a:prstGeom>
          <a:noFill/>
          <a:ln/>
        </p:spPr>
        <p:txBody>
          <a:bodyPr wrap="square" lIns="0" tIns="0" rIns="0" bIns="0" rtlCol="0" anchor="ctr"/>
          <a:lstStyle/>
          <a:p>
            <a:pPr indent="0" marL="0">
              <a:buNone/>
            </a:pPr>
            <a:r>
              <a:rPr lang="en-US" sz="1800" b="1" u="sng" dirty="0">
                <a:solidFill>
                  <a:srgbClr val="129B6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ai-statistician.netlify.app</a:t>
            </a:r>
            <a:endParaRPr lang="en-US" sz="1800" dirty="0"/>
          </a:p>
        </p:txBody>
      </p:sp>
      <p:sp>
        <p:nvSpPr>
          <p:cNvPr id="7" name="Shape 5"/>
          <p:cNvSpPr/>
          <p:nvPr/>
        </p:nvSpPr>
        <p:spPr>
          <a:xfrm>
            <a:off x="6309360" y="2834640"/>
            <a:ext cx="5212080" cy="1417320"/>
          </a:xfrm>
          <a:prstGeom prst="roundRect">
            <a:avLst>
              <a:gd name="adj" fmla="val 3871"/>
            </a:avLst>
          </a:prstGeom>
          <a:solidFill>
            <a:srgbClr val="22303D"/>
          </a:solidFill>
          <a:ln w="12700">
            <a:solidFill>
              <a:srgbClr val="35485A"/>
            </a:solidFill>
            <a:prstDash val="solid"/>
          </a:ln>
        </p:spPr>
      </p:sp>
      <p:sp>
        <p:nvSpPr>
          <p:cNvPr id="8" name="Text 6"/>
          <p:cNvSpPr txBox="1"/>
          <p:nvPr/>
        </p:nvSpPr>
        <p:spPr>
          <a:xfrm>
            <a:off x="6675120" y="3090672"/>
            <a:ext cx="4480560" cy="256032"/>
          </a:xfrm>
          <a:prstGeom prst="rect">
            <a:avLst/>
          </a:prstGeom>
          <a:noFill/>
          <a:ln/>
        </p:spPr>
        <p:txBody>
          <a:bodyPr wrap="square" lIns="0" tIns="0" rIns="0" bIns="0" rtlCol="0" anchor="ctr"/>
          <a:lstStyle/>
          <a:p>
            <a:pPr indent="0" marL="0">
              <a:buNone/>
            </a:pPr>
            <a:r>
              <a:rPr lang="en-US" sz="1050" b="1" spc="200" kern="0" dirty="0">
                <a:solidFill>
                  <a:srgbClr val="8496A6"/>
                </a:solidFill>
                <a:latin typeface="Calibri" pitchFamily="34" charset="0"/>
                <a:ea typeface="Calibri" pitchFamily="34" charset="-122"/>
                <a:cs typeface="Calibri" pitchFamily="34" charset="-120"/>
              </a:rPr>
              <a:t>READ THE CODE</a:t>
            </a:r>
            <a:endParaRPr lang="en-US" sz="1050" dirty="0"/>
          </a:p>
        </p:txBody>
      </p:sp>
      <p:sp>
        <p:nvSpPr>
          <p:cNvPr id="9" name="Text 7">
            <a:hlinkClick r:id="rId2" tooltip=""/>
          </p:cNvPr>
          <p:cNvSpPr txBox="1"/>
          <p:nvPr/>
        </p:nvSpPr>
        <p:spPr>
          <a:xfrm>
            <a:off x="6675120" y="3401568"/>
            <a:ext cx="4572000" cy="457200"/>
          </a:xfrm>
          <a:prstGeom prst="rect">
            <a:avLst/>
          </a:prstGeom>
          <a:noFill/>
          <a:ln/>
        </p:spPr>
        <p:txBody>
          <a:bodyPr wrap="square" lIns="0" tIns="0" rIns="0" bIns="0" rtlCol="0" anchor="ctr"/>
          <a:lstStyle/>
          <a:p>
            <a:pPr indent="0" marL="0">
              <a:buNone/>
            </a:pPr>
            <a:r>
              <a:rPr lang="en-US" sz="1600" b="1" u="sng" dirty="0">
                <a:solidFill>
                  <a:srgbClr val="CFE0F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github.com/Vishal4507/AI_statistician</a:t>
            </a:r>
            <a:endParaRPr lang="en-US" sz="1600" dirty="0"/>
          </a:p>
        </p:txBody>
      </p:sp>
      <p:sp>
        <p:nvSpPr>
          <p:cNvPr id="10" name="Text 8"/>
          <p:cNvSpPr txBox="1"/>
          <p:nvPr/>
        </p:nvSpPr>
        <p:spPr>
          <a:xfrm>
            <a:off x="640080" y="5029200"/>
            <a:ext cx="82296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Thank you — questions welcome.</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Statistician</dc:title>
  <dc:subject>PptxGenJS Presentation</dc:subject>
  <dc:creator>Vishal Dhinesh Kumar</dc:creator>
  <cp:lastModifiedBy>Vishal Dhinesh Kumar</cp:lastModifiedBy>
  <cp:revision>1</cp:revision>
  <dcterms:created xsi:type="dcterms:W3CDTF">2026-09-16T06:38:27Z</dcterms:created>
  <dcterms:modified xsi:type="dcterms:W3CDTF">2026-09-16T06:38:27Z</dcterms:modified>
</cp:coreProperties>
</file>